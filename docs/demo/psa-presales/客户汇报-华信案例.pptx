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开场：贵司给的是一张 40 步、9 个环节的流程表，表里自己就分了两个系统——CRM 和项管平台。今天演示的是这 40 步在同一个平台、同一套数据里跑通的样子。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先给结论再看细节：40 步里 39 步今天能点给你看；对象、审批流、拦截的数量说明这是真的系统，不是原型。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这页把贵司的表画成图。两种颜色对应表里"系统路径"的两个前缀。强调：26 步在项管侧，靠商机编码挂回 CRM。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三层：平台自带的能力一分钱不用开发；CRM 对象是标准产品加字段；项目对象是本次为贵司流程新建的。都在同一套元数据里。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总览表：逐环节说清做到了什么。两处"待定 / 一级"是刻意留给贵司决策的：状态变更是否单独审批、售前审批走几级。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数据不是四条样例，而是一家软件公司一年的业务面：所有列表、仪表板、报表都有数。演示时可以随手点开任何一条。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两张图都是平台原生数据集 + 组件；数据一多，仪表板自然就成型。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打开华信科技：分类、简称、信用代码在基本信息；业务信息分组里有 EAR 四态。招标代理客户后面会被拦下。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线索是"需求形"的：金额和需求类型是贵司要的。商机上的编码是后面售前立项要选的那个"CRM 商机编码"。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现场演示：新建商机选中招国际 → 被拒。再把东方联合银行 EAR 改成人工确认 → 被拒；改回机器疑似 → 放行。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演示里七条请求一起批。生产形态：售前立项五级链按组织层级路由，同一个机制。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贵司反馈"审批的发起应该是一个按钮"——已改：按钮 + 只读状态。九个对象同一个机制。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北辰 MES 二期是已成交商机，赢单原因"客户关系"。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改任一项成本，总成本和毛利率当场变——这是公式字段，不是报表。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顶部四个数字：基线、实际成本、预算消耗，都是平台汇总，不用人算。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费率卡是主数据：岗位级别 × 小时费率，工时表和成本计划都从这里取价。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贵司步骤 33 写的"请假、加班申请同步后自动更新"，就是这条：请假审批过了，工时表自己变。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两处拦截的截图在下一页；这里先看数字：132%。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现场演示：工时表新建选试点项目 → 被拒；差旅成本关联草稿出差单 → 被拒。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一期：合同 140 万，已开票 98 万，已收款 42 万，应收 56 万，毛利率 61.8%。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两个仪表板都是平台原生的数据集 + 组件，改指标不用写代码。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贵司步骤 18 / 28 的"岗位级别、费率标准"就是费率卡；步骤 9 的"软通签约主体"就是签约主体。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把简化说在前面：审批级数、铁三角共享、三个外部系统对接，都是明确的后续项，不是做不到。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排期与贵司确认范围后给出。阶段一的前提是五个待答事项。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收尾一句话，留下三个动作。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项目型销售与项目管理一体化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14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基于贵司 40 步业务流程的落地演示 · 华信案例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平台 · 2026 年 9 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5120640"/>
            <a:ext cx="1115568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客户管理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38528" y="5120640"/>
            <a:ext cx="1115568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38528" y="5120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线索管理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45536" y="5120640"/>
            <a:ext cx="1115568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45536" y="5120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商机立项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52544" y="5120640"/>
            <a:ext cx="1115568" cy="457200"/>
          </a:xfrm>
          <a:prstGeom prst="roundRect">
            <a:avLst>
              <a:gd name="adj" fmla="val 16000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52544" y="5120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商机跟进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59552" y="5120640"/>
            <a:ext cx="1115568" cy="457200"/>
          </a:xfrm>
          <a:prstGeom prst="roundRect">
            <a:avLst>
              <a:gd name="adj" fmla="val 16000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59552" y="5120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售前立项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5120640"/>
            <a:ext cx="1115568" cy="457200"/>
          </a:xfrm>
          <a:prstGeom prst="roundRect">
            <a:avLst>
              <a:gd name="adj" fmla="val 16000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5120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交付立项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73568" y="5120640"/>
            <a:ext cx="1115568" cy="457200"/>
          </a:xfrm>
          <a:prstGeom prst="roundRect">
            <a:avLst>
              <a:gd name="adj" fmla="val 16000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73568" y="5120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成本计划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80576" y="5120640"/>
            <a:ext cx="1115568" cy="457200"/>
          </a:xfrm>
          <a:prstGeom prst="roundRect">
            <a:avLst>
              <a:gd name="adj" fmla="val 16000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0576" y="5120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成本执行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387584" y="5120640"/>
            <a:ext cx="1115568" cy="457200"/>
          </a:xfrm>
          <a:prstGeom prst="roundRect">
            <a:avLst>
              <a:gd name="adj" fmla="val 16000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87584" y="5120640"/>
            <a:ext cx="111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项目报表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669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  ←  贵司需求表步骤 1–14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559552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9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项管平台  ←  步骤 15–40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贵司的 40 步流程，在一个平台、一套数据里跑通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066544" cy="1920240"/>
          </a:xfrm>
          <a:prstGeom prst="roundRect">
            <a:avLst>
              <a:gd name="adj" fmla="val 571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需求表步骤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85292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个业务环节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98064" y="1463040"/>
            <a:ext cx="2066544" cy="1920240"/>
          </a:xfrm>
          <a:prstGeom prst="roundRect">
            <a:avLst>
              <a:gd name="adj" fmla="val 571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98064" y="160020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2798064" y="25146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可演示步骤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889504" y="285292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仅"商机状态变更审批"待定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47488" y="1463040"/>
            <a:ext cx="2066544" cy="1920240"/>
          </a:xfrm>
          <a:prstGeom prst="roundRect">
            <a:avLst>
              <a:gd name="adj" fmla="val 571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47488" y="160020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5047488" y="25146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业务对象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285292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 CRM 扩展 + 9 个项目对象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296912" y="1463040"/>
            <a:ext cx="2066544" cy="1920240"/>
          </a:xfrm>
          <a:prstGeom prst="roundRect">
            <a:avLst>
              <a:gd name="adj" fmla="val 571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96912" y="160020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4800" dirty="0"/>
          </a:p>
        </p:txBody>
      </p:sp>
      <p:sp>
        <p:nvSpPr>
          <p:cNvPr id="19" name="Text 17"/>
          <p:cNvSpPr txBox="1"/>
          <p:nvPr/>
        </p:nvSpPr>
        <p:spPr>
          <a:xfrm>
            <a:off x="7296912" y="25146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条审批流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88352" y="285292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同一个审批中心处理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546336" y="1463040"/>
            <a:ext cx="2066544" cy="1920240"/>
          </a:xfrm>
          <a:prstGeom prst="roundRect">
            <a:avLst>
              <a:gd name="adj" fmla="val 571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46336" y="1600200"/>
            <a:ext cx="2066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423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23" name="Text 21"/>
          <p:cNvSpPr txBox="1"/>
          <p:nvPr/>
        </p:nvSpPr>
        <p:spPr>
          <a:xfrm>
            <a:off x="9546336" y="25146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处系统拦截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637776" y="285292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招标代理 · EAR · 超预算 · 出差未批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怎么做到的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2519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不做两套系统做接口：CRM 与项目管理是同一个平台上的一组对象，商机编码是两侧的唯一锚点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业务规则落在系统里而不是制度里：四处拦截由系统在保存时执行，存量数据不受影响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汇总与公式实时计算：总成本、毛利率、计划总额、实际成本、预算消耗、应收余额都不用人算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一个审批中心：客户、线索、商机立项、售前、交付、工时、预算调整、出差、请假九条流程在同一个收件箱处理；发起审批是记录页上的一个按钮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演示数据是一家软件公司的一年：14 家客户、13 个商机（5 赢 1 丢）、6 份合同、8 个售前项目、7 个交付项目及其成本、工时、开票、收款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贵司的流程：9 个环节、40 个步骤、两个系统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来自需求表「系统路径」列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0240" y="1508760"/>
            <a:ext cx="1938528" cy="502920"/>
          </a:xfrm>
          <a:prstGeom prst="chevron">
            <a:avLst/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76272" y="1508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客户管理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20574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1–5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233172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录入 · 联系人 · 业务信息 · 附件 · 审批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31920" y="1508760"/>
            <a:ext cx="1938528" cy="502920"/>
          </a:xfrm>
          <a:prstGeom prst="chevron">
            <a:avLst/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87952" y="1508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线索管理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20574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6–7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233172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录入 · 审批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1508760"/>
            <a:ext cx="1938528" cy="502920"/>
          </a:xfrm>
          <a:prstGeom prst="chevron">
            <a:avLst/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99632" y="1508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商机立项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0574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8–11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233172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跟单 · 主体 · 背景 · 立项审批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955280" y="1508760"/>
            <a:ext cx="1938528" cy="502920"/>
          </a:xfrm>
          <a:prstGeom prst="chevron">
            <a:avLst/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11312" y="1508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商机跟进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955280" y="20574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12–14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233172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 · 状态变更 · 变更审批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520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项管平台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920240" y="3520440"/>
            <a:ext cx="1938528" cy="502920"/>
          </a:xfrm>
          <a:prstGeom prst="chevron">
            <a:avLst/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76272" y="3520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售前立项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40690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15–20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920240" y="434340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关联商机 · 角色 · 成本测算 · 信息安全 · 逐级审批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931920" y="3520440"/>
            <a:ext cx="1938528" cy="502920"/>
          </a:xfrm>
          <a:prstGeom prst="chevron">
            <a:avLst/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87952" y="3520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交付立项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931920" y="40690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21–26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931920" y="434340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关联售前 · 成本中心 · 角色 · 附件 · 审批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0" y="3520440"/>
            <a:ext cx="1938528" cy="502920"/>
          </a:xfrm>
          <a:prstGeom prst="chevron">
            <a:avLst/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99632" y="3520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成本计划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943600" y="40690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27–32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943600" y="434340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基线导入 · 四类成本计划 · 调整审批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955280" y="3520440"/>
            <a:ext cx="1938528" cy="502920"/>
          </a:xfrm>
          <a:prstGeom prst="chevron">
            <a:avLst/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11312" y="3520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成本执行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955280" y="40690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33–36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7955280" y="434340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工时 · 工时审批 · 差旅 · 超支管控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966960" y="3520440"/>
            <a:ext cx="1938528" cy="502920"/>
          </a:xfrm>
          <a:prstGeom prst="chevron">
            <a:avLst/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222992" y="3520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项目报表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966960" y="40690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37–40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9966960" y="4343400"/>
            <a:ext cx="1938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综合查询 · 财务 · 成本跟踪 · 合同订单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7240" y="54406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关键发现：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步在项管平台侧，它需要读 CRM 的商机；14 步在 CRM 侧，其中三条规则是跨对象的门禁而不是字段。所以方案不是"两个系统对接"，而是同一个平台上的一组对象。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方案：一个平台，一套数据，三层能力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2704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平台能力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（现成，零开发）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34640" y="158191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34640" y="158191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审批中心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94760" y="158191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4760" y="158191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58191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158191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活动时间线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15000" y="158191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15000" y="158191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汇总字段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158191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158191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公式字段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35240" y="158191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35240" y="158191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权限集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595360" y="158191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0" y="158191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仪表板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555480" y="158191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55480" y="158191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导入导出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515600" y="158191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15600" y="158191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记录锁定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292608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E2E8F2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303580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 对象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（标准 + 扩展）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834640" y="309067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34640" y="309067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794760" y="309067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94760" y="309067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联系人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09067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54880" y="309067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15000" y="309067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715000" y="309067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商机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75120" y="309067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75120" y="309067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销售合同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635240" y="309067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35240" y="309067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签约主体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595360" y="309067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595360" y="309067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/ 活动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555480" y="309067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555480" y="309067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515600" y="309067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2E4468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515600" y="309067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费率卡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443484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7240" y="4544568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项目对象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（本次新增）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834640" y="459943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834640" y="459943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售前项目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794760" y="459943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794760" y="459943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交付项目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54880" y="459943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754880" y="459943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成本计划行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715000" y="459943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715000" y="459943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工时表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675120" y="459943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675120" y="459943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差旅成本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635240" y="459943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635240" y="459943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出差申请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595360" y="459943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595360" y="459943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请假申请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555480" y="459943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555480" y="459943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预算调整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10515600" y="4599432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0515600" y="4599432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开票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834640" y="5111496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2834640" y="5111496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收款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794760" y="5111496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3794760" y="5111496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采购合同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754880" y="5111496"/>
            <a:ext cx="896112" cy="402336"/>
          </a:xfrm>
          <a:prstGeom prst="roundRect">
            <a:avLst>
              <a:gd name="adj" fmla="val 18182"/>
            </a:avLst>
          </a:prstGeom>
          <a:solidFill>
            <a:srgbClr val="C8842E"/>
          </a:solidFill>
          <a:ln w="12700">
            <a:solidFill>
              <a:srgbClr val="C8842E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754880" y="5111496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销售订单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商机编码 OPP-xxxx 是 CRM 与项目侧唯一的关联锚点：售前项目必须挂在已立项的商机上，交付项目必须挂在已审批的售前项目上，成本、工时、差旅、开票、收款都挂在交付项目上。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覆盖总览：每个环节做到了什么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步 · 39 步可演示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749808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系统里的实现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1–5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客户分类 / 简称 / 信用代码 / 业务信息（服务商、IT 预算、付款周期、EAR、战略伙伴）；联系人角色与态度；附件；客户审批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7D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已实现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线索管理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6–7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预计金额、需求类型；线索审批（通过后再转商机）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7D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已实现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商机立项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8–11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商机编码、是否投标、级别、优先级、可控性、立项 / 招标时间、分包；签约主体、业务分类、收入确认；背景说明；立项审批；招标代理与 EAR 拦截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7D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已实现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商机跟进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12–14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阶段、任务、活动时间线；铁三角三角色；赢单 / 丢单原因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84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状态变更审批待定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售前立项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15–20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关联商机、项目信息、五个角色、四项成本 → 总成本与毛利率自动算、信息安全、审批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884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审批为一级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交付立项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21–26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关联售前项目、成本中心与部门、五个角色、信息安全与附件、审批；预算基线自动导入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7D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已实现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成本计划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27–32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四类成本按月编制、费率卡带出单价、计划总额自动汇总；预算调整对象 + 审批，只有批准的调整计入当前预算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7D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已实现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成本执行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33–36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工时 × 费率自动算成本；请假审批后自动同步工时；出差申请与差旅关联；实际成本与预算消耗实时汇总；超预算禁填工时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7D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已实现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项目报表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37–40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项目综合查询（进度、预算、成本、收入、开票、收款）；项目成本与项目财务两个仪表板；开票、收款、采购合同、销售订单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7D4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已实现（手工录入）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演示数据：一家软件公司的一年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以软件企业为目标客户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华软信息技术股份有限公司 —— 卖定制开发、实施、运维与咨询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737360" cy="1417320"/>
          </a:xfrm>
          <a:prstGeom prst="roundRect">
            <a:avLst>
              <a:gd name="adj" fmla="val 6452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8470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8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3957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6974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 · 金融 · 医药 · 物流 · 能源 · 教育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23160" y="1783080"/>
            <a:ext cx="1737360" cy="1417320"/>
          </a:xfrm>
          <a:prstGeom prst="roundRect">
            <a:avLst>
              <a:gd name="adj" fmla="val 6452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23160" y="18470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23957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496312" y="26974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 → 已联系 → 已确认 → 未通过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1783080"/>
            <a:ext cx="1737360" cy="1417320"/>
          </a:xfrm>
          <a:prstGeom prst="roundRect">
            <a:avLst>
              <a:gd name="adj" fmla="val 6452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18470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8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23957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商机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370832" y="26974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每个阶段都有，5 赢 1 丢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72200" y="1783080"/>
            <a:ext cx="1737360" cy="1417320"/>
          </a:xfrm>
          <a:prstGeom prst="roundRect">
            <a:avLst>
              <a:gd name="adj" fmla="val 6452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2200" y="18470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23957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销售合同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45352" y="26974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 · 3-4-3 · 按月结算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046720" y="1783080"/>
            <a:ext cx="1737360" cy="1417320"/>
          </a:xfrm>
          <a:prstGeom prst="roundRect">
            <a:avLst>
              <a:gd name="adj" fmla="val 6452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0" y="18470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8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7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23957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售前 / 交付项目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119872" y="26974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启动、进行中、已关闭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921240" y="1783080"/>
            <a:ext cx="1737360" cy="1417320"/>
          </a:xfrm>
          <a:prstGeom prst="roundRect">
            <a:avLst>
              <a:gd name="adj" fmla="val 6452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21240" y="18470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9921240" y="23957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工时表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994392" y="26974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出差 · 5 请假 · 10 发票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" y="3383280"/>
            <a:ext cx="4202582" cy="2660904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33" name="Image 0" descr="/home/user/hotcrm/docs/demo/psa-presales/R3-01-客户列表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429000"/>
            <a:ext cx="4111142" cy="2569464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548640" y="6071616"/>
            <a:ext cx="4111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客户：14 家，行业与类型各不相同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7456018" y="3383280"/>
            <a:ext cx="4202582" cy="2660904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36" name="Image 1" descr="/home/user/hotcrm/docs/demo/psa-presales/R3-03-商机列表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01738" y="3429000"/>
            <a:ext cx="4111142" cy="2569464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7501738" y="6071616"/>
            <a:ext cx="41111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进行中商机：谈判、提案、需求分析、资格审查、寻找客户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数据到了仪表板：销售业绩与项目财务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37–39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销售业绩：管道总额、本季度已成交 7,150,000、赢率 83%（5 赢 1 丢）、阶段管道分布、月度收入趋势——标准仪表板，数据一到就有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项目财务：合同额合计 10,650,000、已开票 5,120,000、已收款 4,035,000、采购合同 990,000；七个交付项目的合同额 vs 开票 vs 收款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交付项目列表一眼看出健康度：北辰二期 47%、长江 DMS 17%、天启 TMS 已关闭 87%、华信数据中台 132%（超支）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5124298" cy="323697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9" name="Image 0" descr="/home/user/hotcrm/docs/demo/psa-presales/R3-09-销售仪表板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697480"/>
            <a:ext cx="5032858" cy="314553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5916168"/>
            <a:ext cx="5032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销售业绩仪表板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34302" y="2651760"/>
            <a:ext cx="5124298" cy="323697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2" name="Image 1" descr="/home/user/hotcrm/docs/demo/psa-presales/R3-06-交付项目列表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0022" y="2697480"/>
            <a:ext cx="5032858" cy="31455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80022" y="5916168"/>
            <a:ext cx="5032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交付项目：预算基线、实际成本、预算消耗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客户管理：分类、业务信息、附件、审批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1–5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录入即分类，分类即规则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8308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客户编码自动分配；客户分类（常规销售客户 / 招标代理公司 / 其他）、客户简称、统一社会信用代码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业务信息：当前主要服务商、本年度 IT 采购预算、付款周期、美国 EAR 管制清单、战略合作伙伴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联系人：性别、角色（决策者 / 影响者 / 采购…）、对我司态度、与销售关系强度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附件页签直接上传资质与合作背景资料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客户信息提交审批 → 记录锁定 → 通过后正式生效，可关联商机与项目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83480" y="1325880"/>
            <a:ext cx="6675120" cy="420624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0" name="Image 0" descr="/home/user/hotcrm/docs/demo/psa-presales/S01b-客户详情-基本信息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71600"/>
            <a:ext cx="6583680" cy="41148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029200" y="555955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客户详情：客户分类、简称、统一社会信用代码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线索到商机：需求形线索、跟单信息、立项审批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6–11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线索：预计金额、需求类型（软件开发 / 实施 / 运维 / 咨询），审批通过后才转商机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商机编码 OPP-xxxx 自动编号，是项管平台关联的锚点；是否投标、级别、优先级、可控性、客户立项时间、预计招标时间、分包信息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签约主体（独立主数据）、业务分类、收入确认类型；客户简介 / 项目背景 / 风险 / 付款条款写在背景说明里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立项审批独立于标准产品的金额分档审批；立项通过后才允许更新阶段、投标、赢丢单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5007254" cy="3163824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9" name="Image 0" descr="/home/user/hotcrm/docs/demo/psa-presales/S06c-线索-预计金额与需求类型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926080"/>
            <a:ext cx="4915814" cy="30723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071616"/>
            <a:ext cx="49158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线索：需求类型、预计金额、审批状态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51346" y="2880360"/>
            <a:ext cx="5007254" cy="3163824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2" name="Image 1" descr="/home/user/hotcrm/docs/demo/psa-presales/R2-06-商机-招投标与签约主体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97066" y="2926080"/>
            <a:ext cx="4915814" cy="30723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7066" y="6071616"/>
            <a:ext cx="49158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商机：跟单信息与签约主体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系统拦截：招标代理与 EAR 客户不能发起商机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1 备注 · 步骤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招标代理及其他类客户仅可用于付款回款——新建商机时系统读取客户分类，直接拒绝并说明原因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EAR 管制清单：机器比对命中记为"疑似"，只提示不阻断；人工确认在列后，商机被拦截——机器不拦人，人拍板才拦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两条规则都是跨对象的门禁：读的是客户上的数据，作用在商机上；存量数据不受影响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5124298" cy="323697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9" name="Image 0" descr="/home/user/hotcrm/docs/demo/psa-presales/S01d-拦截-招标代理不可发起商机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697480"/>
            <a:ext cx="5032858" cy="314553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5916168"/>
            <a:ext cx="5032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 ①：招标代理客户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34302" y="2651760"/>
            <a:ext cx="5124298" cy="323697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2" name="Image 1" descr="/home/user/hotcrm/docs/demo/psa-presales/R2-23-拦截-EAR确认在列不能发起商机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0022" y="2697480"/>
            <a:ext cx="5032858" cy="31455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80022" y="5916168"/>
            <a:ext cx="5032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 ③：EAR 人工确认在列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一个审批中心：九条流程，一个收件箱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5 · 7 · 11 · 20 · 26 · 32 · 34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64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发起的手势统一：记录页顶部「发起审批」按钮 → 确认；审批状态字段只读，不能手改；记录随即锁定并显示"审批中"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处理的手势统一：待我审批 → 勾选 → 通过 N 条 → 确认；通过后回写状态与审批时间，并通知负责人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转签、退回修改、退回补充、催办、撤回都在同一个面板；快捷键 x 选择 · a 通过 · r 拒绝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· 线索 · 商机立项 · 售前立项 · 交付立项 · 工时 · 预算调整 · 出差 · 请假，共九条，可按贵司组织层级扩为多级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5007254" cy="3163824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9" name="Image 0" descr="/home/user/hotcrm/docs/demo/psa-presales/S05-07-11-审批中心-待我审批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926080"/>
            <a:ext cx="4915814" cy="30723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071616"/>
            <a:ext cx="49158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待我审批：七条流程的请求在同一个收件箱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51346" y="2880360"/>
            <a:ext cx="5007254" cy="3163824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2" name="Image 1" descr="/home/user/hotcrm/docs/demo/psa-presales/S05-07-11c-勾选后批量通过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97066" y="2926080"/>
            <a:ext cx="4915814" cy="30723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7066" y="6071616"/>
            <a:ext cx="49158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勾选后批量通过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发起审批是一个按钮，不是一次编辑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5 · 7 · 11 · 20 · 26 · 32 · 34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每个可审批对象的记录页都有「发起审批」（商机是「发起立项审批」）；只在草稿或已驳回时出现，点击后确认即提交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审批状态、审批通过时间是只读字段：表单里看得到、改不了，状态只由按钮和审批流写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提交后记录锁定、显示"审批中"，审批人在同一条记录上通过 / 拒绝 / 退回；驳回后按钮重新出现，修改后再发起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3611880" cy="2291715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9" name="Image 0" descr="/home/user/hotcrm/docs/demo/psa-presales/S05-客户-发起审批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697480"/>
            <a:ext cx="3520440" cy="220027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4970907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记录页顶部的「发起审批」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74820" y="2651760"/>
            <a:ext cx="3611880" cy="2291715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2" name="Image 1" descr="/home/user/hotcrm/docs/demo/psa-presales/S05-客户-发起审批-确认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20540" y="2697480"/>
            <a:ext cx="3520440" cy="220027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20540" y="4970907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确认后提交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2651760"/>
            <a:ext cx="3611880" cy="2291715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5" name="Image 2" descr="/home/user/hotcrm/docs/demo/psa-presales/S05-客户提交审批-审批中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92440" y="2697480"/>
            <a:ext cx="3520440" cy="220027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092440" y="4970907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审批中已锁定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编辑表单里的审批状态是灰色只读——想改状态，只有这个按钮一条路。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商机跟进：阶段、任务、活动时间线与铁三角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12–13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跟进不靠记忆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8308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阶段条直接推进阶段，赢单概率、预计金额随时改；每次变更自动写入活动时间线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待办任务与活动（现场调研、方案汇报、投标答疑）挂在商机上，右侧任务卡常驻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铁三角：客户经理（AR）、解决方案经理（SR）、交付经理（FR）三个角色就地调整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赢单 / 丢单必须填原因：赢单原因、丢单原因、赢丢单详情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生产形态：铁三角做成商机团队对象 + 记录级共享，团队成员自动获得可见性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83480" y="1325880"/>
            <a:ext cx="6675120" cy="420624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0" name="Image 0" descr="/home/user/hotcrm/docs/demo/psa-presales/S13-铁三角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71600"/>
            <a:ext cx="6583680" cy="41148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029200" y="555955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商机详情：铁三角与赢单 / 输单分组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售前立项：关联商机、角色、成本测算、审批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15–20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64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售前项目必须挂在已立项的商机上（选 CRM 商机编码），客户随之带出；编号 PSP-xxxx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五个角色：客户经理、项目经理、项目总监、项目 QA、资源报价负责人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四项成本（人工 / 第三方服务 / 软硬件采购 / 项目费用）→ 总成本自动算；报价 → 毛利率自动算：100 万成本、140 万报价、28.57%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信息安全类别（公开 / 内部 / 秘密 / 机密）与安全备注；审批通过后才能立交付项目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5007254" cy="3163824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9" name="Image 0" descr="/home/user/hotcrm/docs/demo/psa-presales/S15b-售前项目-关联商机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926080"/>
            <a:ext cx="4915814" cy="30723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071616"/>
            <a:ext cx="49158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售前项目：关联商机、报价、毛利率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51346" y="2880360"/>
            <a:ext cx="5007254" cy="3163824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2" name="Image 1" descr="/home/user/hotcrm/docs/demo/psa-presales/S18-成本测算与报价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97066" y="2926080"/>
            <a:ext cx="4915814" cy="30723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7066" y="6071616"/>
            <a:ext cx="49158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成本测算与报价：总成本自动汇总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交付立项：关联售前、成本中心、角色、附件、审批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21–26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64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交付项目必须选一个已审批的售前项目；预算基线自动取售前 Bizcase 总成本；关联销售合同后合同额自动带出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实施成本中心、核算成本中心、对应部门可以不同（试点项目：实施华东、核算华北）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角色：项目经理、项目总监、资源报价负责人、分包 TS 填写人、QA 负责人；信息安全类别；附件上传开工确认单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交付立项审批通过后项目正式启动，成本计划、工时、差旅、开票、收款都挂在它下面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5007254" cy="3163824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9" name="Image 0" descr="/home/user/hotcrm/docs/demo/psa-presales/S21b-交付项目-关联售前项目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926080"/>
            <a:ext cx="4915814" cy="30723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071616"/>
            <a:ext cx="49158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交付项目：关联售前项目、预算基线、实际成本、预算消耗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51346" y="2880360"/>
            <a:ext cx="5007254" cy="3163824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2" name="Image 1" descr="/home/user/hotcrm/docs/demo/psa-presales/S23-成本中心与部门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97066" y="2926080"/>
            <a:ext cx="4915814" cy="30723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7066" y="6071616"/>
            <a:ext cx="49158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成本中心与部门、项目角色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成本计划：四类成本按月编制，预算调整走审批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27–32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64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成本计划行：人工服务 / 第三方服务 / 软硬件采购 / 项目费用 × 月份；数量 × 单价 = 计划金额；人工行选费率卡自动带出单价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计划总额自动汇总到交付项目；预算基线来自售前 Bizcase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预算调整：调整金额、原因（范围变更 / 工期延长 / 费率变化…）、差异分析，提交审批；只有已批准的调整计入"当前预算"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演示：追加 15 万通过后，当前预算 100 万 → 115 万，预算消耗 53.4% → 46.5%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5007254" cy="3163824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9" name="Image 0" descr="/home/user/hotcrm/docs/demo/psa-presales/S28-31b-成本计划行列表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926080"/>
            <a:ext cx="4915814" cy="30723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071616"/>
            <a:ext cx="49158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成本计划行：类别 × 月份 × 计划金额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51346" y="2880360"/>
            <a:ext cx="5007254" cy="3163824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2" name="Image 1" descr="/home/user/hotcrm/docs/demo/psa-presales/R2-10-交付项目-当前预算-调整后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97066" y="2926080"/>
            <a:ext cx="4915814" cy="30723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7066" y="6071616"/>
            <a:ext cx="49158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预算调整通过后：当前预算 1,150,000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成本执行：工时、请假、出差与差旅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33–35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64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工时表：选费率卡自动带出费率，工时 × 费率 = 人工成本；标准工时 / 请假工时 / 加班工时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请假申请审批通过后，自动同步到申请人当月工时表：请假 16 小时 → 工时 176 变 160，成本重算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出差申请：目的地、起止日期（天数自动算）、事由、预计费用、审批；差旅成本关联出差单后自动带出项目、出差人、日期，实际费用汇总回出差单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人工实际成本只计已审批的工时表；工时经项目经理审批后才计入项目成本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5007254" cy="3163824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9" name="Image 0" descr="/home/user/hotcrm/docs/demo/psa-presales/R2-21-工时表-请假同步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926080"/>
            <a:ext cx="4915814" cy="30723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071616"/>
            <a:ext cx="49158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工时表：请假工时 16、工时 160、成本 144,000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51346" y="2880360"/>
            <a:ext cx="5007254" cy="3163824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2" name="Image 1" descr="/home/user/hotcrm/docs/demo/psa-presales/R2-18-出差申请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97066" y="2926080"/>
            <a:ext cx="4915814" cy="30723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7066" y="6071616"/>
            <a:ext cx="49158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出差申请：天数、预计费用、实际费用汇总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成本管控：实时汇总，超预算即拦截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36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系统盯着预算，而不是月底对账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8308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交付项目实时汇总人工实际、差旅实际 → 实际成本、预算消耗 %、预算差异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试点项目：基线 20 万，实际 26.4 万，预算消耗 132%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 ②：实际成本 ≥ 当前预算的项目，系统拒绝新的工时填报，并说明数字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 ④：出差申请未审批通过，不能登记差旅成本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预算追加走预算调整审批，批准后当前预算上调，填报自动放开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83480" y="1325880"/>
            <a:ext cx="6675120" cy="4206240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0" name="Image 0" descr="/home/user/hotcrm/docs/demo/psa-presales/S36-试点项目-超预算13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71600"/>
            <a:ext cx="6583680" cy="41148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029200" y="555955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超预算项目：132%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两处成本侧拦截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35 · 36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5124298" cy="323697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8" name="Image 0" descr="/home/user/hotcrm/docs/demo/psa-presales/S36b-拦截-超预算禁填工时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5032858" cy="314553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4681728"/>
            <a:ext cx="5032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 ②：项目成本已超预算，工时填报已限制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534302" y="1417320"/>
            <a:ext cx="5124298" cy="323697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1" name="Image 1" descr="/home/user/hotcrm/docs/demo/psa-presales/R2-22-拦截-出差未审批不能报差旅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0022" y="1463040"/>
            <a:ext cx="5032858" cy="31455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80022" y="4681728"/>
            <a:ext cx="5032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 ④：出差申请尚未审批通过，不能登记差旅成本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两条提示都是系统在保存那一刻给出的，写明项目、实际与基线的数字或未审批的出差单；换一个健康项目或已审批的出差单即可保存。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合同与财务：开票、收款、采购合同、销售订单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37 · 38 · 40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64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交付项目"合同与财务"分组：销售合同、合同额、项目进度 → 已确认收入；已开票、已收款、应收余额；采购合同总额、销售订单总额；项目毛利率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开票：发票类型、号码、金额、税率、状态；收款汇总到发票，未收余额自动算。收款：方式、流水号、关联发票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采购合同：供应商、类别（分包 / 软件 / 硬件）、已付 / 未付；销售订单：交付状态、验收日期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本阶段手工录入；财务、费控、考勤系统对接放在后续阶段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5007254" cy="3163824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9" name="Image 0" descr="/home/user/hotcrm/docs/demo/psa-presales/R2-11-交付项目-合同与财务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926080"/>
            <a:ext cx="4915814" cy="30723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071616"/>
            <a:ext cx="49158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交付项目：合同与财务分组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51346" y="2880360"/>
            <a:ext cx="5007254" cy="3163824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2" name="Image 1" descr="/home/user/hotcrm/docs/demo/psa-presales/R2-13-开票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97066" y="2926080"/>
            <a:ext cx="4915814" cy="30723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697066" y="6071616"/>
            <a:ext cx="49158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开票列表：收款汇总与未收余额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项目报表：综合查询与两个仪表板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37–39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交付项目列表的"项目综合查询"视图：进度、当前预算、实际成本、预算消耗、合同额、已确认收入、已开票、已收款、应收余额、毛利率一行看全，可筛选、分组、导出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项目成本仪表板：总预算 / 人工实际 / 差旅实际 / 进行中项目，各项目基线 vs 计划 vs 实际，预算消耗表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项目财务仪表板：合同额 / 已开票 / 已收款 / 采购合同，各项目合同额 vs 开票 vs 收款，开票率与回款率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5124298" cy="323697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9" name="Image 0" descr="/home/user/hotcrm/docs/demo/psa-presales/R3-10-项目成本仪表板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697480"/>
            <a:ext cx="5032858" cy="314553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5916168"/>
            <a:ext cx="5032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项目成本仪表板：七个交付项目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34302" y="2651760"/>
            <a:ext cx="5124298" cy="323697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2" name="Image 1" descr="/home/user/hotcrm/docs/demo/psa-presales/R3-11-项目财务仪表板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0022" y="2697480"/>
            <a:ext cx="5032858" cy="31455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80022" y="5916168"/>
            <a:ext cx="5032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项目财务仪表板：合同额、开票、收款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主数据：费率卡与签约主体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46920" y="5029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 9 · 18 · 28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费率卡：岗位级别 × 小时费率 / 日费率，带生效日期与启用开关；工时表、人工成本计划行选了费率卡就自动取价，费率变更集中管理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签约主体：我方法人公司主数据（名称、信用代码、法定代表人、开户行），商机与合同上选择，不是租户维度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两者都在导航"主数据"组，管理员维护，业务人员只选不填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5124298" cy="323697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9" name="Image 0" descr="/home/user/hotcrm/docs/demo/psa-presales/R2-02-费率卡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697480"/>
            <a:ext cx="5032858" cy="314553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5916168"/>
            <a:ext cx="5032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费率卡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534302" y="2651760"/>
            <a:ext cx="5124298" cy="3236976"/>
          </a:xfrm>
          <a:prstGeom prst="rect">
            <a:avLst/>
          </a:prstGeom>
          <a:solidFill>
            <a:srgbClr val="DDE3EA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12" name="Image 1" descr="/home/user/hotcrm/docs/demo/psa-presales/R2-03-签约主体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0022" y="2697480"/>
            <a:ext cx="5032858" cy="31455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80022" y="5916168"/>
            <a:ext cx="5032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签约主体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本次演示的简化与后续形态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1148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本次演示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后续形态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五级售前审批（20）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一级审批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五个审批节点串联，按组织层级自动路由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商机状态变更审批（14）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未单独审批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赢单 / 弃单 / 铁三角调整走审批流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铁三角（13）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商机上三个人员字段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商机团队对象 + 记录级共享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请假 / 加班同步（33）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请假按工作日 × 8 小时自动同步；加班手填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对接考勤系统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报销单据（35）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差旅成本记单据号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对接费控系统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开票 / 收款（37 / 38）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系统内对象，手工录入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对接财务系统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售前工时（33）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按已审批口径汇总到售前项目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审批发起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记录页「发起审批」按钮，审批状态只读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同一机制，按对象配置审批人与层级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演示数据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一家软件公司：14 客户 / 13 商机 / 7 交付项目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导入贵司真实客户、项目与费率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建议的推进路线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HotCRM · 项目型销售与项目管理一体化 · 华信案例演示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6EAD8"/>
          </a:solidFill>
          <a:ln w="12700">
            <a:solidFill>
              <a:srgbClr val="F6EA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84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 · 试点上线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本次演示范围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1460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贵司确认五个待答事项：跟进记录形态、开票 / 回款归属、线索形态、EAR 判定方式、立项审批与金额审批的关系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按贵司组织与岗位配置审批人、权限、费率卡、签约主体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一个事业部、一批真实项目试运行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 · 深化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规则与协同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51460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五级售前审批按组织层级路由；商机状态变更审批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铁三角商机团队与记录级共享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预算多级审批、费率卡版本、售前工时口径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 · 集成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057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5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打通外部系统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51460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考勤：请假 / 加班自动同步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费控：报销单据回写差旅成本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财务：开票、收款自动进系统；合同额、收入口径统一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贵司 40 步流程里，客户、线索、商机、审批中心、附件、跟进、赢丢单是现成的 CRM 能力；售前立项、交付立项、成本计划、工时与差旅、财务与报表这 26 步，是在同一个平台、同一套元数据里长出来的。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C9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这也是它能成为软件行业项目型销售标准模板的原因。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下一步：确认五个待答事项 → 划定试点范围 → 给出排期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项目型销售与项目管理一体化 — 华信案例演示汇报</dc:title>
  <dc:subject>PptxGenJS Presentation</dc:subject>
  <dc:creator>HotCRM 售前团队</dc:creator>
  <cp:lastModifiedBy>HotCRM 售前团队</cp:lastModifiedBy>
  <cp:revision>1</cp:revision>
  <dcterms:created xsi:type="dcterms:W3CDTF">2026-09-15T06:24:52Z</dcterms:created>
  <dcterms:modified xsi:type="dcterms:W3CDTF">2026-09-15T06:24:52Z</dcterms:modified>
</cp:coreProperties>
</file>