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7" r:id="rId6"/>
    <p:sldId id="259" r:id="rId7"/>
    <p:sldId id="260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62" r:id="rId30"/>
    <p:sldId id="283" r:id="rId31"/>
    <p:sldId id="284" r:id="rId32"/>
    <p:sldId id="287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5F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各位好，感谢大家抽时间。今天我不打算念产品功能清单，只想带大家看一件事：贵司交给我们的那张 40 步、9 个环节的业务流程表，怎样在一个系统、一套数据里从头跑到尾。表里把它分成了 CRM 和项管平台两个系统，一会儿大家会看到，这两个系统在我们这里其实是同一个平台上的两组业务对象。下面大概 40 分钟，我按贵司流程表的顺序走，每一页右上角都标着对应的步骤号，大家随时可以对照自己的表打断我。先说结论——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拿到项目要求后我们进行了需求分析，</a:t>
            </a:r>
            <a:r>
              <a:rPr lang="en-US" dirty="0"/>
              <a:t>需求本身分成两个系统：14 步在 CRM，26 步在项管平台，但我们读表的时候发现，</a:t>
            </a:r>
            <a:r>
              <a:rPr lang="zh-CN" altLang="en-US" dirty="0"/>
              <a:t>整个业务层层递进，数据前后关联，</a:t>
            </a:r>
            <a:r>
              <a:rPr lang="en-US" dirty="0"/>
              <a:t>所以我们没有做两个系统再对接，而是做成同一个平台上的一组业务对象，这张泳道图就是它的样子。五条泳道是五种</a:t>
            </a:r>
            <a:r>
              <a:rPr lang="zh-CN" altLang="en-US" dirty="0"/>
              <a:t>工作岗位，</a:t>
            </a:r>
            <a:r>
              <a:rPr lang="en-US" dirty="0"/>
              <a:t>销售这条是 CRM：线索、客户、商机立项、商机跟进；商机立项那里有个红标，拦截①③，招标代理客户和 EAR 确认在列的客户，商机根本发不起来。往下，售前只做两件事：售前项目和它的 Bizcase 成本计划，四类明细、报价、毛利率都在计划上。再往下是交付：点一下「导入 Bizcase 预算」，交付成本计划第 1 版就出来了，基线同时冻结；</a:t>
            </a:r>
            <a:r>
              <a:rPr lang="zh-CN" altLang="en-US" dirty="0"/>
              <a:t>成本计划</a:t>
            </a:r>
            <a:r>
              <a:rPr lang="en-US" dirty="0"/>
              <a:t>明细按月分解；工时和差旅是实际成本——拦截②④在这儿：超了预算填不了工时，出差没批登记不了差旅；预算要变，就做新版本、走预算调整审批。财务这条从赢单后的销售合同起步，合同额乘进度得到已确认收入，开票收款算出应收余额，采购和订单进毛利率，最后都落到项目报表。最底下是审批中心，十条流程一个收件箱。这张图上每一个箭头都是字段关联，不是接口。那这一套是用什么搭起来的？下一页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经过一天半的开发，</a:t>
            </a:r>
            <a:r>
              <a:rPr lang="en-US" dirty="0"/>
              <a:t>40 步都在同一个平台、同一套数据里跑起来了：31 步基本实现，细节还</a:t>
            </a:r>
            <a:r>
              <a:rPr lang="zh-CN" altLang="en-US" dirty="0"/>
              <a:t>需</a:t>
            </a:r>
            <a:r>
              <a:rPr lang="en-US" dirty="0"/>
              <a:t>打磨，欢迎大家边看边提；9步是部分实现，商机状态变更还不单独审批，售前审批今天只有一级、生产上要走五级，成本计划新版本的预算调整通过之后「当前预算」这一个数的联动还没完成，加班工时还是手填。为了这 40 步，我们新建了 20 个业务对象、10 条审批流、4 处系统拦截加 2 处冻结。</a:t>
            </a:r>
            <a:r>
              <a:rPr lang="zh-CN" altLang="en-US" dirty="0"/>
              <a:t>我们直接把</a:t>
            </a:r>
            <a:r>
              <a:rPr lang="en-US" dirty="0"/>
              <a:t>项目管理直接长在 CRM 的对象上，商机编码是两边唯一的锚点；</a:t>
            </a:r>
            <a:r>
              <a:rPr lang="zh-CN" altLang="en-US" dirty="0"/>
              <a:t>用</a:t>
            </a:r>
            <a:r>
              <a:rPr lang="en-US" dirty="0"/>
              <a:t>业务规则</a:t>
            </a:r>
            <a:r>
              <a:rPr lang="zh-CN" altLang="en-US" dirty="0"/>
              <a:t>实现</a:t>
            </a:r>
            <a:r>
              <a:rPr lang="en-US" dirty="0"/>
              <a:t>制度里，保存那一刻系统自己拦；汇总和公式都是实时算的，没有一个数要人手算；十条审批流在同一个收件箱里处理。</a:t>
            </a:r>
            <a:r>
              <a:rPr lang="zh-CN" altLang="en-US" dirty="0"/>
              <a:t>这套系统是实现主要是通过</a:t>
            </a:r>
            <a:r>
              <a:rPr lang="en-US" altLang="zh-CN" dirty="0"/>
              <a:t>objectOS</a:t>
            </a:r>
            <a:r>
              <a:rPr lang="zh-CN" altLang="en-US" dirty="0"/>
              <a:t>和</a:t>
            </a:r>
            <a:r>
              <a:rPr lang="en-US" altLang="zh-CN" dirty="0"/>
              <a:t>AI</a:t>
            </a:r>
            <a:r>
              <a:rPr lang="zh-CN" altLang="en-US" dirty="0"/>
              <a:t>助力</a:t>
            </a:r>
            <a:r>
              <a:rPr lang="zh-CN" altLang="en-US" dirty="0"/>
              <a:t>开发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最上面是平台自带的能力：审批中心、附件、活动时间线、汇总字段、公式字段、权限、仪表板、导入导出、记录锁定——这一层我们一行都没开发，拿来就用。中间是 CRM 的标准对象加</a:t>
            </a:r>
            <a:r>
              <a:rPr lang="zh-CN" altLang="en-US" dirty="0"/>
              <a:t>上需求</a:t>
            </a:r>
            <a:r>
              <a:rPr lang="en-US" dirty="0"/>
              <a:t>要的字段：客户、联系人、线索、商机、销售合同这些。最下面才是这次为贵司流程新建的 17 个项目对象——售前项目、交付项目、成本计划、四类成本明细行、月度分解行，一直到开票、收款、采购合同、销售订单——再加费率卡、差旅标准、签约主体三项主数据。三层怎么串起来？靠商机编码：售前项目必须挂在已立项的商机上，交付项目必须挂在已审批的售前项目上，成本、工时、差旅、开票、收款都挂在交付项目底下。</a:t>
            </a:r>
            <a:r>
              <a:rPr lang="zh-CN" altLang="en-US" dirty="0"/>
              <a:t>落实到实际分解需求</a:t>
            </a:r>
            <a:r>
              <a:rPr lang="zh-CN" altLang="en-US" dirty="0"/>
              <a:t>上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这种图就比较明确了，</a:t>
            </a:r>
            <a:r>
              <a:rPr lang="en-US" dirty="0"/>
              <a:t>绿色是基本实现</a:t>
            </a:r>
            <a:r>
              <a:rPr lang="zh-CN" altLang="en-US" dirty="0"/>
              <a:t>，</a:t>
            </a:r>
            <a:r>
              <a:rPr lang="en-US" dirty="0"/>
              <a:t>橙色是部分实现，四处，我一个个说清楚：商机状态变更目前不单独审批；售前审批今天是一级，生产上按贵司组织层级走五级；成本计划新版本的预算调整审批通过后，新版本已经生效、计划总额也跟着变了，但交付项目上「当前预算」这一个数的联动还没有完成；成本执行里请假同步做了，加班同步还是手填。另外项目报表环节的开票、收款是手工录入的，对接财务系统放在后面阶段。表看完了，光看表没感觉，我们看数据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 </a:t>
            </a:r>
            <a:r>
              <a:rPr lang="zh-CN" altLang="en-US" dirty="0"/>
              <a:t>我们模拟了一个软件公司的数据进行项目</a:t>
            </a:r>
            <a:r>
              <a:rPr lang="zh-CN" altLang="en-US" dirty="0"/>
              <a:t>设计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第一部分是 CRM 侧的 14 步：客户管理、线索管理、商机立项、商机跟进。这部分大多是标准 CRM 能力加上需求里要的字段和审批，重点看三处系统拦截和审批的手势。先看客户。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1 到 5。打开华信科技这家客户：客户编码自动分配；基本信息里有需求要的客户分类、客户简称、统一社会信用代码，客户分类后面会变成一条拦截规则。业务信息分组是当前主要服务商、本年度 IT 采购预算、付款周期、美国 EAR 管制清单、战略合作伙伴。联系人加了性别、角色、对我司态度、与销售关系强度四个字段。附件页签直接上传资料。客户填完点「发起审批」，记录锁定，审批通过才生效，才能关联商机和项目。接下来是线索和商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6 到 11。线索做成需求形：预计金额、需求类型，线索审批通过后才能转商机。商机上最关键的是商机编码，OPP 打头自动编号，项管平台就靠它关联。跟单信息：是否投标、商机级别、优先级、可控性、客户立项时间、预计招标时间、分包信息；签约主体是独立主数据，业务分类、收入确认类型也都有；客户简介、项目背景、风险、付款条款按结构写在背景说明里。「发起立项审批」是单独一条流程，和标准产品按金额分档的审批互不干扰，立项通过后才允许推进阶段、投标和赢丢单。下一页看客户分类那条规则怎么起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两条规则由系统执行，现场可以试。新建商机，所属客户选中招国际——招标代理公司——点创建，系统直接拒绝，提示写明仅可用于付款回款，无法发起商机。第二条是 EAR：机器比对命中只记为疑似，只提示不阻断；改成人工确认在列再建商机，就被拦下。机器不拦人，人拍板才拦。两条规则读的都是客户上的数据，作用在商机上，历史数据不受影响。接下来看审批。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审批做成一套统一的动作。发起：记录页顶部点「发起审批」，商机上是「发起立项审批」，确认后记录锁定、显示审批中，左图和中图就是这两步；按钮只在草稿或已驳回时出现。审批状态和审批通过时间是只读字段，表单改不了，接口也写不进，只有按钮和审批流能写它，所以状态始终等于审批结果。处理：待我审批，勾选，通过 N 条，确认；系统回写状态和时间、通知负责人；转签、退回、催办、撤回在同一个面板。右图是收件箱：客户、线索、商机立项、售前立项、交付立项、成本计划、预算调整、工时、出差、请假十条流程都在这一个收件箱里，每行都写着记录和金额。生产上按组织层级扩成多级，手势不变。审批说完，回到商机的跟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12 到 14。左图：阶段条直接推进阶段，金额、成交概率随时改，每次变更自动写进活动时间线；右上角的任务卡是常驻的，待办和活动都挂在商机上，打开商机就知道还有什么没做。右图：铁三角——客户经理、解决方案经理、交付经理——三个角色就地调整；赢单、丢单必须填原因，北辰 MES 二期是已成交的商机，赢单原因是客户关系。步骤 14 的状态变更审批目前没有做，赢单、弃单、调整铁三角还不单独走审批，标的是未实现；生产形态下铁三角会做成商机团队对象加记录级共享。CRM 这一段到此，接下来进项管平台。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第二部分是项管平台侧的 26 步，也是这次新做的部分：售前立项、交付立项、成本计划、成本执行、项目报表。每一步都要读 CRM 里的商机，这是它们和 CRM 放在同一个平台上的原因。重点是成本计划：带版本、四类明细、按月分解。先看售前立项。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15 到 20。售前项目必须挂在已立项的商机上，选商机编码，客户跟着带出来，编号 PSP 打头。五个角色：客户经理、项目经理、项目总监、项目 QA、资源报价负责人。成本测算不是手填的：人工服务、第三方服务、软硬件采购、项目费用四个数是这个售前项目下 Bizcase 成本计划的汇总，华信这单是 65.6 万、25 万、10 万、4.8 万，总成本 105.4 万；报价 140 万，毛利率 24.69% 自动算。改 Bizcase 里任何一条明细，回到售前项目这几个数都跟着变。信息安全类别和安全备注在下面。审批通过后才能立交付项目；今天是一级审批，五级路由留到生产配置，所以算部分实现。售前批了，接着立交付项目。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21 到 26。交付项目必须选一个已审批的售前项目，商机和客户自动带出，编号 DLV 打头。预算基线默认取售前 Bizcase 总额；页头的「导入 Bizcase 预算」按钮把已审批的 Bizcase 整套克隆成交付成本计划第 1 版，基线同时冻结，之后改不了，已有计划的项目再点会被拒绝。实施成本中心、核算成本中心、对应部门可以不同，试点项目是实施华东、核算华北。角色、信息安全、附件都在；页头的基线、实际成本、预算消耗是平台汇总的。下一页看成本计划第 1 版长什么样。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27 到 31，成本计划分三层。最上面是成本计划本身，一个版本：挂在售前项目上叫 Bizcase，挂在交付项目上是交付计划；有版本号、当前版本、冻结基线；计划总额和人工、第三方、采购、费用四类合计都是汇总，没有手填的。中间是四类明细行，需求表里四个配置界面对应四个对象，算法和单价来源各不相同，下一页展开。最下面是月度分解行：保存一条明细行，系统按起止月份自动生成一行一个月的台账，右图就是华信一期交付计划的台账，成本类别、月份、金额逐行可查；改过的月份标成手工调整，重新分解不覆盖。所有合计、售前项目的四项成本、交付项目的计划总额、项目成本仪表板，读的都是这张台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类成本各自的算法。人工服务：填岗位级别、人数、每人每月工时和起止月份，费率标准从费率卡自动带出、不能手填，每个月按当月生效的费率解析，中途调了费率卡，后面的月份自动按新价算。第三方服务：供应商报价手填，计价方式人月、人天或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类报销直接填预算金额。右边是一个算例：高级工程师两人、每人每月 160 小时、费率 800，每月 25.6 万，8、9 两个月 51.2 万；改人数或月份，各月金额和计划总额当场重算。计划编好了，预算要变怎么办，下一页。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27 和 32 是同一件事的两头。27 是起点：「导入 Bizcase 预算」把已审批的 Bizcase 克隆成交付计划第 1 版，基线冻结，考核有了尺子。32 是变动：已审批的计划不能改，要变就在成本计划上点「新建计划版本」得到 v2 草稿，左图是确认框；在 v2 上增减明细，华信一期追加了高级工程师一人两个月和两次现场差旅，共 27 万。再建一条预算调整挂在 v2 上：右图，调整金额 270,160 由系统按新版本总额减当前版本总额写入，填原因和差异分析，发起审批。通过后 v2 成为当前版本、v1 作废，交付项目的计划总额变成 132.4 万。要说明的是，交付项目上「当前预算」的自动上调还没完成，所以这一步是部分实现；手填金额的预算调整审批通过后当前预算是正常上调的。下一页看审批人看到的是什么。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审批一份成本计划，看的是这一版和正在执行的那一版差在哪。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。差异从这一对金额算出来，不会和上面的数对不上；快照取在提交那一刻，也是明细行和月份被冻结的那一刻。右图是「待审批的成本计划」视图，在审的版本一行一个，差异都在行上。项目的第一份计划没有可比对象，差异就是全额新增。下一页把成本闭环合起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三段。计划：Bizcase 成本计划通过「导入 Bizcase 预算」成为交付计划第 1 版，基线冻结；明细按月分解，计划总额自动汇总。执行：工时表用工时乘费率算人工成本，只计审批通过的；差旅成本必须挂在审批通过的出差申请上；两者相加是实际成本，除以当前预算是预算消耗。控制：每次填报工时时系统比较实际和当前预算，超了就拒绝，这就是步骤 36 的那条提示；出路是新建计划版本、走预算调整审批，通过后新版本生效、旧版作废，填报自动放开。没有一步是月底对账，都是保存时算的。当前预算那一个数的联动还没完成，上一页说过。执行这一段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33 到 35。工时表选岗位级别，费率标准从费率卡带出，不能手填；工时乘费率是人工成本，另有标准工时、请假工时、加班工时三个数。需求里的「请假、加班申请同步后自动更新」，请假做了：王强 3 天年假审批通过后，当月工时表的请假工时自动变 24，工时 176 变 152，成本重算成 136,800；加班目前手填，所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下一页看系统怎么盯预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36。交付项目实时汇总人工实际和差旅实际，得出实际成本、预算消耗、预算差异。试点项目基线 20 万，实际 26.4 万，消耗 132%。对这样的项目，拦截②：新填工时被拒，提示里写明数字；拦截④：出差没审批通过，差旅成本登记不了。预算追加走新建计划版本加预算调整审批，通过后填报自动放开。两条拦截的提示在下一页。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左边：新建工时表选试点项目，系统提示实际 264,000 大于等于预算 200,000，工时填报已限制。右边：差旅成本关联一张草稿出差单，提示尚未审批通过，不能登记差旅成本。两条都是保存那一刻系统给出的，换一个健康项目或已审批的出差单就能保存。成本管住了，再看合同和财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37、38、40。交付项目的「合同与财务」分组：销售合同、合同额、项目进度推出已确认收入；已开票、已收款、应收余额；采购合同总额、销售订单总额；项目毛利率。华信一期：合同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62.29%。开票、收款、采购合同、销售订单都是独立对象，收款关联到销售合同；本阶段手工录入，对接财务、费控、考勤放在后续阶段。这些数怎么串起来，下一页一张图。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行。销售合同的合同额乘项目进度得到已确认收入，进度由项目经理维护。开票汇总成已开票金额，作废的不算；收款对着发票核销，汇总成已收款金额；差额是应收余额。采购合同和销售订单各自汇总，终止的采购合同不算。实际成本和合同额算出项目毛利率。右边是这些数汇到哪里：交付项目的「合同与财务」分组、项目综合查询视图、项目财务仪表板和项目成本仪表板。财务单据今天是手工录入，生产环境接财务系统。接下来看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37 到 39。交付项目列表切到「项目综合查询」视图：进度、当前预算、实际成本、预算消耗、合同额、已确认收入、开票、收款、应收、毛利率一行看全，可以筛选、分组、导出。项目成本仪表板看基线、计划、实际和消耗率，总预算 754 万、人工实际 344 万；项目财务仪表板看合同额、开票、收款和采购，合同额 1065 万、已开票 512 万、已收款 403.5 万。两个仪表板都是平台原生的数据集加组件，改指标不用写代码。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销售业绩仪表板是标准的：本季度已成交 715 万、赢率 83%、各阶段管道分布、月度收入趋势，数据一进来就有。右边交付项目列表看健康度：北辰二期消耗 47.65%，长江 DMS 16.85%，天启 TMS 已关闭、77.21%，华信数据中台 132%，就是前面成本管控里超支的那个。最后看支撑这一切的主数据。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步骤 18、28 说的岗位级别和费率标准就是费率卡：岗位级别乘费率标准乘生效区间一行，带小时费率、日费率和启用开关；工时表和人工服务成本行选了它就自动取价，费率变更集中管理、按月生效。步骤 31 的差旅预算靠差旅标准：按城市级别给出住宿、餐补、市内交通日标准和往返交通估算。步骤 9 的签约主体是我方法人公司的主数据，商机和合同上选。三者都在「主数据」组，管理员维护，业务人员只选不填。到这里 40 步就全部过了一遍，最后收个尾。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小结一下。40 步里客户、线索、商机、审批中心、附件、跟进、赢丢单是现成的 CRM 能力；售前立项、交付立项、成本计划、工时与差旅、财务与报表这 26 步，是在同一个平台、同一套数据里做出来的。部分实现的四处——状态变更审批、五级审批、当前预算联动、加班同步——以及开票、收款、报销的手工录入，后面分阶段补：先试点上线，再深化规则，最后打通考勤、费控、财务。需要和贵司确认五个口径：跟进记录形态、开票回款归属、线索形态、EAR 判定方式、立项审批与金额审批的关系。确认之后我们划定试点范围、给出排期。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谢谢大家。接下来欢迎提问，也欢迎上手点一点，系统里的数据都是活的。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C9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售前项目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Bizcase 成本计划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成本计划版本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 · 差旅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预算调整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销售合同（赢单后）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开票 → 收款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采购合同 · 销售订单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贵司的 40 步流程：36 步基本实现、4 步部分实现，细节仍在打磨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3593592" cy="754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3410712" cy="28620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17320"/>
            <a:ext cx="3593592" cy="754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F7D4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00961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11857"/>
            <a:ext cx="3410712" cy="28620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主体功能可现场演示，细节持续打磨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17320"/>
            <a:ext cx="3593592" cy="754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A5F16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00961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11857"/>
            <a:ext cx="3410712" cy="286207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状态变更审批（14）· 五级审批（20）· 版本调整的预算联动（32）· 加班同步（33）···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B4232C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 + 2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平台能力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CRM 对象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项目对象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主数据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步 · 31基本实现 · 9 部分实现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325880"/>
          <a:ext cx="11094415" cy="475488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环节</a:t>
                      </a:r>
                      <a:endParaRPr lang="en-US" sz="10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步骤</a:t>
                      </a:r>
                      <a:endParaRPr lang="en-US" sz="10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系统里做到了什么</a:t>
                      </a:r>
                      <a:endParaRPr lang="en-US" sz="10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状态</a:t>
                      </a:r>
                      <a:endParaRPr lang="en-US" sz="10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客户管理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1–5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基本实现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线索管理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6–7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基本实现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商机立项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8–11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基本实现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商机跟进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12–14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阶段、任务、活动时间线；铁三角三个角色；赢单 / 丢单原因。状态变更目前不单独审批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部分实现（14 未实现）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售前立项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15–20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交付立项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21–26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基本实现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成本计划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27–32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部分实现（32 当前预算联动未完成）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成本执行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33–36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部分实现（33 </a:t>
                      </a:r>
                      <a:r>
                        <a:rPr lang="zh-CN" alt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请假、</a:t>
                      </a: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加班同步未实现34</a:t>
                      </a:r>
                      <a:r>
                        <a:rPr lang="zh-CN" alt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、差异分析</a:t>
                      </a: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）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项目报表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37–40</a:t>
                      </a:r>
                      <a:endParaRPr lang="en-US" sz="10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  <a:sym typeface="+mn-ea"/>
                        </a:rPr>
                        <a:t>部分实现</a:t>
                      </a:r>
                      <a:r>
                        <a:rPr lang="zh-CN" altLang="en-US" sz="1000" b="1" dirty="0">
                          <a:solidFill>
                            <a:srgbClr val="9A5F1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（部分报表）</a:t>
                      </a:r>
                      <a:endParaRPr lang="zh-CN" altLang="en-US" sz="1000" b="1" dirty="0">
                        <a:solidFill>
                          <a:srgbClr val="9A5F16"/>
                        </a:solidFill>
                        <a:latin typeface="微软雅黑" pitchFamily="34" charset="0"/>
                        <a:ea typeface="微软雅黑" pitchFamily="34" charset="-122"/>
                        <a:cs typeface="微软雅黑" pitchFamily="34" charset="-12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A5F16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A5F16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A5F16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0" b="1" dirty="0">
                <a:solidFill>
                  <a:srgbClr val="243559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C9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发起：每个可审批对象的记录页顶部都有「发起审批」（商机是「发起立项审批」），只在草稿或已驳回时出现；点击确认后记录锁定、显示"审批中"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处理：待我审批 → 勾选 → 通过 N 条 → 确认；通过后自动回写审批状态与审批通过时间并通知负责人；转签、退回、催办、撤回在同一个面板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十条流程一个收件箱：客户 · 线索 · 商机立项 · 售前立项 · 交付立项 · 成本计划 · 预算调整 · 工时 · 出差 · 请假——每一行都写着记录和金额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审批状态、审批通过时间是只读字段：表单改不了，接口也写不进，只有按钮和审批流能写它，所以状态始终等于审批结果；驳回后按钮重新出现，修改后再发起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7889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08063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提交审批-审批中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34256" y="27889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508063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确认后：记录锁定，审批中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5-待我审批-成本计划与预算调整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119872" y="27889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508063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待我审批：十条流程在同一个收件箱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39496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04688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生产上按贵司组织层级把审批人扩成多级，手势不变：发起 = 按钮 + 确认；处理 = 待我审批 → 勾选 → 通过。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阶段条直接推进阶段，赢单概率、预计金额随时改；每次变更自动写入活动时间线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右侧任务卡常驻：待办任务与活动（现场调研、方案汇报、投标答疑）挂在商机上，打开商机就能看到还有什么没做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铁三角：客户经理（AR）、解决方案经理（SR）、交付经理（FR）三个角色就地调整；赢单 / 丢单必须填原因（北辰 MES 二期：赢单原因 = 客户关系）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14 商机状态变更审批：未实现——赢单 / 弃单 / 铁三角调整目前不单独走审批；生产形态下铁三角做成商机团队对象 + 记录级共享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6-商机详情-阶段条与右侧任务卡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商机详情：阶段条、金额与成交概率，右侧任务卡常驻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47-商机详情-铁三角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0" b="1" dirty="0">
                <a:solidFill>
                  <a:srgbClr val="243559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C9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548640" y="1325880"/>
          <a:ext cx="6720840" cy="448056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明细行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填什么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单价从哪里来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每个月怎么算</a:t>
                      </a:r>
                      <a:endParaRPr lang="en-US" sz="10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人工服务成本行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人数 × 工时 × 当月费率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第三方服务成本行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软硬件采购成本行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项目费用成本行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现场算一遍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每月 2 × 160 × 800 = 256,000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月、9 月两行 → 计划金额 512,000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预算变动做成「新版本 + 审批」，基线始终冻结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审批通过后 v2 成为当前版本、v1 标为已作废，交付项目的计划总额跟着变成 1,324,480；交付项目上「当前预算」的自动上调尚未完成——部分实现（手填金额的预算调整已正常联动）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差异由这一对金额算出，不会和上面的数字对不上；快照取在提交那一刻，记录就是"当时摆在审批人面前的是什么"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Bizcase 成本计划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 Bizcase 预算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月度分解行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计划总额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工时表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差旅成本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实际成本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预算消耗 %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23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 ≥ 当前预算？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B423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②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新建计划版本 → 预算调整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1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F7D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版本化调整通过后「当前预算」的自动上调尚未完成；手填金额的预算调整已联动。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销售合同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项目进度 %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已确认收入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开票（作废不计）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收款（对着发票核销）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应收余额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采购合同（终止不计）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销售订单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实际成本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项目毛利率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13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项目报表</a:t>
            </a: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A5F1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8A2B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8A2B3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blurRad="76200" dist="25400" dir="5400000" algn="bl" rotWithShape="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0" b="1" dirty="0">
                <a:solidFill>
                  <a:srgbClr val="243559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C9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第三部分 · 小结与下一步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 · 下一步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今天看到了什么，接下来怎么走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谢谢大家，欢迎提问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C9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也欢迎上手点一点——今天看到的每一张列表、每一个仪表板都是有数的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HotCRM · 项目型销售与项目管理一体化 · 华信案例演示 · 2026 年 9 月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11294</Words>
  <Application>WPS 表格</Application>
  <PresentationFormat>On-screen Show (16:9)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9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Arial</vt:lpstr>
      <vt:lpstr>Arial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creator>HotCRM 售前团队</dc:creator>
  <dc:subject>PptxGenJS Presentation</dc:subject>
  <cp:lastModifiedBy>黄怡</cp:lastModifiedBy>
  <cp:revision>3</cp:revision>
  <dcterms:created xsi:type="dcterms:W3CDTF">2026-09-16T17:18:40Z</dcterms:created>
  <dcterms:modified xsi:type="dcterms:W3CDTF">2026-09-16T17:18:40Z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FA02CF30DB3E4AB987CDAA6A1EBAD90B_42</vt:lpwstr>
  </property>
  <property fmtid="{D5CDD505-2E9C-101B-9397-08002B2CF9AE}" pid="3" name="KSOProductBuildVer">
    <vt:lpwstr>2052-6.4.0.8550</vt:lpwstr>
  </property>
</Properties>
</file>