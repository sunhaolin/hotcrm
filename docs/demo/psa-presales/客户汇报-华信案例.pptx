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各位好。今天这场演示不讲产品功能清单，只讲一件事：贵司给我们的那张 40 步、9 个环节的业务流程表，怎样在一个平台、一套数据里从头跑到尾。表里自己就分成了 CRM 和项管平台两个系统，今天大家会看到，它们是同一个系统里的两组对象。下面 40 分钟，我按贵司的流程顺序走，每一步都对应表里的一行。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先给结论。40 步里 39 步今天能现场点给各位看，只有「商机状态变更审批」这一步留给贵司决策要不要单独审批。为此新建了 14 个业务对象、9 条审批流、4 处系统拦截，全部跑在同一个审批中心里。怎么做到的：不做两套系统再做接口，而是把项目管理长在 CRM 的对象上，商机编码是两侧唯一的锚点；业务规则落在系统里而不是制度里；汇总和公式都是实时算的。演示数据不是四条样例，而是一家软件公司一年的业务面。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这页是把贵司的表画成图：深蓝是 CRM 的 4 个环节 14 步，橙色是项管平台的 5 个环节 26 步。我们读表时发现一件事：26 步在项管侧，但每一步都要读 CRM 里的商机；而 CRM 侧有三条规则其实是跨对象的门禁，不是字段。所以方案不是「两个系统对接」，而是同一个平台上的一组对象——这决定了后面所有设计。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三层。最上面是平台自带的能力：审批中心、附件、活动时间线、汇总字段、公式字段、权限、仪表板、导入导出、记录锁定——这一层零开发。中间是 CRM 的标准对象加字段：客户、联系人、线索、商机、销售合同，加上签约主体、费率卡两个主数据。底下是本次为贵司流程新建的 12 个项目对象。串起三层的是商机编码：售前项目必须挂在已立项的商机上，交付项目必须挂在已审批的售前项目上，成本、工时、差旅、开票、收款都挂在交付项目下。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表逐环节说清做到了什么，各位可以对照自己那张表看。绿色是已实现；两处橙色是刻意留给贵司决策的：商机状态变更要不要单独走审批，售前审批今天演示的是一级、生产上走五级。项目报表环节的开票、收款目前是手工录入，对接财务系统放在后续阶段。接下来按环节一个个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演示环境里是一家叫华软股份的软件公司一年的业务：14 家客户横跨制造、金融、医药、物流、能源、教育；14 条线索从新建到未通过都有；13 个商机每个阶段都有，5 赢 1 丢；6 份合同、8 个售前 Bizcase、7 个交付项目，以及它们的成本计划、工时、出差、请假、开票、收款。意思是各位待会儿看到的每张列表、每个仪表板都有数，讲到哪里都可以随手点开。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数据一多，仪表板自然就成型。左边是标准的销售业绩仪表板：本季度已成交 715 万、赢率 83%、阶段分布、月度收入趋势——这些都是平台原生的，数据一到就有。右边是交付项目列表，健康度一眼看出：北辰二期消耗 47%、长江 DMS 刚开始 17%、天启 TMS 已关闭 87%，华信数据中台 132% 是超支的那个，后面成本管控环节会用到它。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进入第一个环节，步骤 1 到 5。此时切到系统，打开华信科技这家客户。客户编码自动分配；基本信息里有贵司要的客户分类、客户简称、统一社会信用代码。往下是业务信息分组：当前主要服务商、本年度 IT 采购预算、付款周期、美国 EAR 管制清单、战略合作伙伴。联系人多了性别、角色、态度、关系强度四个字段。附件页签直接拖资料进来。客户提交审批后记录锁定，通过后才正式生效——审批怎么发起，第 12 页专门讲。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6 到 11。线索是「需求形」的：预计金额、需求类型是贵司要的，审批通过后才转商机。商机上最重要的是 OPP 编码——它是项管平台关联的锚点。跟单信息里有是否投标、级别、优先级、可控性、客户立项时间、预计招标时间、分包信息；签约主体是独立主数据，业务分类、收入确认类型都在。客户简介、项目背景、风险、付款条款按结构写在背景说明里。立项审批独立于标准产品按金额分档的审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这页是两条规则由系统执行的样子。现场演示：新建商机，所属客户选中招国际——招标代理公司——点创建，系统直接拒绝，提示写明「仅可用于付款回款，无法发起商机」。第二条是 EAR：机器比对命中只记为「疑似」，只提示不阻断；把东方联合银行改成「人工确认在列」再建商机，就被拦下。一句话：机器不拦人，人拍板才拦。两条规则读的是客户上的数据，作用在商机上，存量数据不受影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所有审批的手势都一样。发起：记录页顶部点「发起审批」、确认。处理：我的工作 → 待我审批，勾选，通过 N 条，确认；通过后系统回写状态和审批时间，并通知负责人。转签、退回修改、退回补充、催办、撤回都在同一个面板。今天九条流程——客户、线索、商机立项、售前立项、交付立项、工时、预算调整、出差、请假——全在这一个收件箱里，生产上按贵司组织层级扩成多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应贵司上次的反馈：审批的发起应该是一个按钮，而不是编辑记录去改状态。现在每个可审批对象的记录页顶部都有「发起审批」，商机上叫「发起立项审批」；按钮只在草稿或已驳回时出现，点了弹确认框，确认后记录立刻锁定、显示审批中。审批状态和审批通过时间是只读字段——表单里看得到、改不了，只由按钮和审批流来写。驳回后按钮重新出现，改完再发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12 到 13。跟进不靠记忆：阶段条直接推进阶段，每次变更自动写进活动时间线；待办任务和活动挂在商机上，右侧任务卡常驻。铁三角——客户经理、解决方案经理、交付经理——三个角色就地调整。赢单、丢单必须填原因。北辰 MES 二期是已成交商机，赢单原因是客户关系。生产形态下铁三角会做成商机团队对象加记录级共享，团队成员自动获得可见性。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进入项管平台，步骤 15 到 20。售前项目必须挂在已立项的商机上，选 CRM 商机编码，客户随之带出，编号 PSP。五个角色齐全。四项成本——人工、第三方服务、软硬件采购、项目费用——填完总成本自动算，报价一填毛利率自动算：华信这单 100 万成本、140 万报价、28.57%。现场可以改任一项成本，总成本和毛利率当场变，这是公式字段不是报表。信息安全类别和安全备注在下面。审批通过后才能立交付项目。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21 到 26。交付项目必须选一个已审批的售前项目；预算基线自动取售前 Bizcase 的总成本，同一份 Bizcase 的四项成本还各带一条成本计划行；关联销售合同后合同额自动带出。实施成本中心、核算成本中心、对应部门可以不同——试点项目就是实施华东、核算华北。角色、信息安全、附件都在。顶部的基线、实际成本、预算消耗三个数字是平台汇总的，不用人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27 到 32。成本计划行按四类成本、按月编制，数量乘单价等于计划金额；人工行选费率卡，单价自动带出。计划总额汇总到交付项目。预算调整是单独的对象：调整金额、原因、差异分析，发起审批；只有已批准的调整才计入「当前预算」。现场演示：追加 15 万通过后，当前预算 100 万变 115 万，预算消耗从 53.4% 降到 46.5%。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33 到 35。工时表选费率卡自动带费率，工时乘费率就是人工成本，还有标准工时、请假工时、加班工时三个数。贵司写的「请假、加班申请同步后自动更新」就是这条：请假审批通过后，申请人当月工时表的请假工时自动变 16，工时 176 变 160，成本重算。出差申请有目的地、起止日期、事由、预计费用，差旅成本关联出差单后自动带出项目、出差人、日期，实际费用汇总回出差单。人工实际成本只计已审批的工时表。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36。系统盯着预算，而不是月底对账：交付项目实时汇总人工实际和差旅实际，得出实际成本、预算消耗、预算差异。试点项目基线 20 万，实际 26.4 万，消耗 132%。对这样的项目，拦截②：新填工时被拒，并把数字写在提示里；拦截④：出差没审批通过，差旅成本登记不了。预算追加走预算调整审批，批准后当前预算上调，填报自动放开。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两张截图就是现场会看到的提示。左边：新建工时表选试点项目，系统写明「实际 264,000 大于等于基线 200,000，工时填报已限制」。右边：差旅成本关联一张草稿出差单，系统提示「尚未审批通过，不能登记差旅成本」。两条提示都是保存那一刻由系统给出的，换一个健康项目或已审批的出差单即可保存。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37、38、40。交付项目的「合同与财务」分组一页看全：销售合同、合同额、项目进度推出已确认收入；已开票、已收款、应收余额；采购合同总额、销售订单总额；项目毛利率。华信一期：合同 140 万，已开票 98 万，已收款 42 万，应收 56 万，毛利率 61.8%。开票、收款、采购合同、销售订单都是独立对象，本阶段手工录入，对接财务、费控、考勤放在后续阶段。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37 到 39。交付项目列表切到「项目综合查询」视图：进度、当前预算、实际成本、预算消耗、合同额、已确认收入、开票、收款、应收、毛利率一行看全，可筛选、分组、导出。项目成本仪表板看基线、计划、实际和消耗率；项目财务仪表板看合同额、开票、收款和采购。两个仪表板都是平台原生的数据集加组件，改指标不用写代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贵司步骤 18、28 说的岗位级别和费率标准，就是费率卡：岗位级别乘小时费率、日费率，带生效日期和启用开关，工时表和人工成本计划选了它就自动取价，费率变更集中管理。步骤 9 说的签约主体是我方法人公司的主数据——名称、信用代码、法定代表人、开户行——商机和合同上选择。两者都在导航的「主数据」组，管理员维护，业务人员只选不填。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把简化说在前面。售前审批今天一级，生产五级串联、按组织层级自动路由；商机状态变更审批待贵司确认；铁三角做成团队对象加共享；请假同步今天按工作日乘 8 小时算，加班手填，后续对接考勤；报销单据、开票收款后续对接费控和财务。审批发起已经改成按钮加只读状态。演示数据是一家软件公司的样子，上线时换成贵司真实的客户、项目和费率。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三个阶段。阶段一试点上线，就是今天演示的范围，前提是贵司确认五个待答事项：跟进记录形态、开票回款归属、线索形态、EAR 判定方式、立项审批与金额审批的关系；然后按组织和岗位配置审批人、权限、费率卡、签约主体，选一个事业部一批真实项目试运行。阶段二做规则和协同：五级审批、状态变更审批、铁三角共享、预算多级审批。阶段三打通考勤、费控、财务三个外部系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收尾一句话：贵司 40 步流程里，客户、线索、商机、审批中心、附件、跟进、赢丢单是现成的 CRM 能力；售前立项、交付立项、成本计划、工时与差旅、财务与报表这 26 步，是在同一个平台、同一套元数据里长出来的——这也是它能成为软件行业项目型销售标准模板的原因。下一步三个动作：确认五个待答事项，划定试点范围，我们给出排期。谢谢大家，欢迎提问。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项目型销售与项目管理一体化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146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基于贵司 40 步业务流程的落地演示 · 华信案例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平台 · 2026 年 9 月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512064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120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38528" y="512064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38528" y="5120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45536" y="512064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45536" y="5120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52544" y="512064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52544" y="5120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559552" y="512064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559552" y="5120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66560" y="512064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5120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512064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73568" y="5120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512064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80576" y="5120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387584" y="5120640"/>
            <a:ext cx="1115568" cy="457200"/>
          </a:xfrm>
          <a:prstGeom prst="roundRect">
            <a:avLst>
              <a:gd name="adj" fmla="val 16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87584" y="5120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56692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 ←  贵司需求表步骤 1–14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559552" y="5669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项管平台  ←  步骤 15–40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贵司的 40 步流程，在一个平台、一套数据里跑通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066544" cy="1920240"/>
          </a:xfrm>
          <a:prstGeom prst="roundRect">
            <a:avLst>
              <a:gd name="adj" fmla="val 5714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0020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14600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需求表步骤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5292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个业务环节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98064" y="1463040"/>
            <a:ext cx="2066544" cy="1920240"/>
          </a:xfrm>
          <a:prstGeom prst="roundRect">
            <a:avLst>
              <a:gd name="adj" fmla="val 5714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98064" y="160020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2798064" y="2514600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可演示步骤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889504" y="285292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仅"商机状态变更审批"待定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47488" y="1463040"/>
            <a:ext cx="2066544" cy="1920240"/>
          </a:xfrm>
          <a:prstGeom prst="roundRect">
            <a:avLst>
              <a:gd name="adj" fmla="val 5714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47488" y="160020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5047488" y="2514600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业务对象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138928" y="285292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 CRM 扩展 + 9 个项目对象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296912" y="1463040"/>
            <a:ext cx="2066544" cy="1920240"/>
          </a:xfrm>
          <a:prstGeom prst="roundRect">
            <a:avLst>
              <a:gd name="adj" fmla="val 5714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96912" y="160020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4800" dirty="0"/>
          </a:p>
        </p:txBody>
      </p:sp>
      <p:sp>
        <p:nvSpPr>
          <p:cNvPr id="19" name="Text 17"/>
          <p:cNvSpPr txBox="1"/>
          <p:nvPr/>
        </p:nvSpPr>
        <p:spPr>
          <a:xfrm>
            <a:off x="7296912" y="2514600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条审批流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88352" y="285292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同一个审批中心处理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546336" y="1463040"/>
            <a:ext cx="2066544" cy="1920240"/>
          </a:xfrm>
          <a:prstGeom prst="roundRect">
            <a:avLst>
              <a:gd name="adj" fmla="val 5714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46336" y="160020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B423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800" dirty="0"/>
          </a:p>
        </p:txBody>
      </p:sp>
      <p:sp>
        <p:nvSpPr>
          <p:cNvPr id="23" name="Text 21"/>
          <p:cNvSpPr txBox="1"/>
          <p:nvPr/>
        </p:nvSpPr>
        <p:spPr>
          <a:xfrm>
            <a:off x="9546336" y="2514600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处系统拦截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37776" y="285292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招标代理 · EAR · 超预算 · 出差未批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怎么做到的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25196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不做两套系统做接口：CRM 与项目管理是同一个平台上的一组对象，商机编码是两侧的唯一锚点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业务规则落在系统里而不是制度里：四处拦截由系统在保存时执行，存量数据不受影响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汇总与公式实时计算：总成本、毛利率、计划总额、实际成本、预算消耗、应收余额都不用人算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一个审批中心：客户、线索、商机立项、售前、交付、工时、预算调整、出差、请假九条流程在同一个收件箱处理；发起审批是记录页上的一个按钮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演示数据是一家软件公司的一年：14 家客户、13 个商机（5 赢 1 丢）、6 份合同、8 个售前项目、7 个交付项目及其成本、工时、开票、收款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贵司的流程：9 个环节、40 个步骤、两个系统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来自需求表「系统路径」列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920240" y="1508760"/>
            <a:ext cx="1938528" cy="502920"/>
          </a:xfrm>
          <a:prstGeom prst="chevron">
            <a:avLst/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76272" y="15087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20574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1–5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331720"/>
            <a:ext cx="1938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 · 联系人 · 业务信息 · 附件 · 审批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931920" y="1508760"/>
            <a:ext cx="1938528" cy="502920"/>
          </a:xfrm>
          <a:prstGeom prst="chevron">
            <a:avLst/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87952" y="15087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931920" y="20574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6–7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2331720"/>
            <a:ext cx="1938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 · 审批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943600" y="1508760"/>
            <a:ext cx="1938528" cy="502920"/>
          </a:xfrm>
          <a:prstGeom prst="chevron">
            <a:avLst/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99632" y="15087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20574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8–11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331720"/>
            <a:ext cx="1938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跟单 · 主体 · 背景 · 立项审批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955280" y="1508760"/>
            <a:ext cx="1938528" cy="502920"/>
          </a:xfrm>
          <a:prstGeom prst="chevron">
            <a:avLst/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11312" y="15087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20574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12–14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955280" y="2331720"/>
            <a:ext cx="1938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跟进 · 状态变更 · 变更审批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5204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项管平台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920240" y="3520440"/>
            <a:ext cx="1938528" cy="502920"/>
          </a:xfrm>
          <a:prstGeom prst="chevron">
            <a:avLst/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76272" y="3520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920240" y="406908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15–20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920240" y="4343400"/>
            <a:ext cx="1938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关联商机 · 角色 · 成本测算 · 信息安全 · 逐级审批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931920" y="3520440"/>
            <a:ext cx="1938528" cy="502920"/>
          </a:xfrm>
          <a:prstGeom prst="chevron">
            <a:avLst/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187952" y="3520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931920" y="406908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21–26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931920" y="4343400"/>
            <a:ext cx="1938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关联售前 · 成本中心 · 角色 · 附件 · 审批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943600" y="3520440"/>
            <a:ext cx="1938528" cy="502920"/>
          </a:xfrm>
          <a:prstGeom prst="chevron">
            <a:avLst/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99632" y="3520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0" y="406908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27–32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943600" y="4343400"/>
            <a:ext cx="1938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基线导入 · 四类成本计划 · 调整审批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955280" y="3520440"/>
            <a:ext cx="1938528" cy="502920"/>
          </a:xfrm>
          <a:prstGeom prst="chevron">
            <a:avLst/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11312" y="3520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7955280" y="406908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33–36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955280" y="4343400"/>
            <a:ext cx="1938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 · 工时审批 · 差旅 · 超支管控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966960" y="3520440"/>
            <a:ext cx="1938528" cy="502920"/>
          </a:xfrm>
          <a:prstGeom prst="chevron">
            <a:avLst/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222992" y="3520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966960" y="406908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37–40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9966960" y="4343400"/>
            <a:ext cx="1938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综合查询 · 财务 · 成本跟踪 · 合同订单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48640" y="539496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关键发现：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步在项管平台侧，它需要读 CRM 的商机；14 步在 CRM 侧，其中三条规则是跨对象的门禁而不是字段。所以方案不是"两个系统对接"，而是同一个平台上的一组对象。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方案：一个平台，一套数据，三层能力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527048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平台能力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（现成，零开发）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34640" y="158191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34640" y="158191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审批中心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94760" y="158191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94760" y="158191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58191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54880" y="158191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活动时间线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715000" y="158191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15000" y="158191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汇总字段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675120" y="158191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75120" y="158191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公式字段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635240" y="158191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35240" y="158191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权限集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595360" y="158191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95360" y="158191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仪表板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555480" y="158191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55480" y="158191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导入导出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15600" y="158191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515600" y="158191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记录锁定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292608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E2E8F2"/>
          </a:solidFill>
          <a:ln w="12700">
            <a:solidFill>
              <a:srgbClr val="E2E8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3035808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对象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（标准 + 扩展）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834640" y="309067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09067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794760" y="309067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794760" y="309067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联系人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309067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754880" y="309067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715000" y="309067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715000" y="309067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675120" y="309067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75120" y="309067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635240" y="309067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35240" y="309067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595360" y="309067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595360" y="309067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/ 活动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555480" y="309067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555480" y="309067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报价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0515600" y="309067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515600" y="309067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48640" y="443484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77240" y="4544568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项目对象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（本次新增）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59943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834640" y="459943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794760" y="459943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794760" y="459943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754880" y="459943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754880" y="459943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成本计划行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715000" y="459943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715000" y="459943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675120" y="459943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675120" y="459943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差旅成本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7635240" y="459943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635240" y="459943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8595360" y="459943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595360" y="459943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请假申请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9555480" y="459943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555480" y="459943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10515600" y="4599432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0515600" y="4599432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834640" y="5111496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834640" y="5111496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收款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794760" y="5111496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794760" y="5111496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754880" y="5111496"/>
            <a:ext cx="896112" cy="402336"/>
          </a:xfrm>
          <a:prstGeom prst="roundRect">
            <a:avLst>
              <a:gd name="adj" fmla="val 18182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4754880" y="5111496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销售订单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商机编码 OPP-xxxx 是 CRM 与项目侧唯一的关联锚点：售前项目必须挂在已立项的商机上，交付项目必须挂在已审批的售前项目上，成本、工时、差旅、开票、收款都挂在交付项目上。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覆盖总览：每个环节做到了什么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步 · 39 步可演示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31520"/>
                <a:gridCol w="7498080"/>
                <a:gridCol w="1645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系统里的实现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客户管理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客户分类 / 简称 / 信用代码 / 业务信息（服务商、IT 预算、付款周期、EAR、战略伙伴）；联系人角色与态度；附件；客户审批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线索管理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6–7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预计金额、需求类型；线索审批（通过后再转商机）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商机立项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8–11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商机编码、是否投标、级别、优先级、可控性、立项 / 招标时间、分包；签约主体、业务分类、收入确认；背景说明；立项审批；招标代理与 EAR 拦截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商机跟进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12–14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阶段、任务、活动时间线；铁三角三角色；赢单 / 丢单原因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84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状态变更审批待定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售前立项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关联商机、项目信息、五个角色、四项成本 → 总成本与毛利率自动算、信息安全、审批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84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审批为一级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交付立项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21–26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关联售前项目、成本中心与部门、五个角色、信息安全与附件、审批；预算基线自动导入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成本计划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27–32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四类成本按月编制、费率卡带出单价、计划总额自动汇总；预算调整对象 + 审批，只有批准的调整计入当前预算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成本执行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33–36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工时 × 费率自动算成本；请假审批后自动同步工时；出差申请与差旅关联；实际成本与预算消耗实时汇总；超预算禁填工时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项目报表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37–40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项目综合查询（进度、预算、成本、收入、开票、收款）；项目成本与项目财务两个仪表板；开票、收款、采购合同、销售订单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已实现（手工录入）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演示数据：一家软件公司的一年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以软件企业为目标客户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华软信息技术股份有限公司 —— 卖定制开发、实施、运维与咨询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1737360" cy="1417320"/>
          </a:xfrm>
          <a:prstGeom prst="roundRect">
            <a:avLst>
              <a:gd name="adj" fmla="val 6452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84708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84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3957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697480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 · 金融 · 医药 · 物流 · 能源 · 教育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23160" y="1783080"/>
            <a:ext cx="1737360" cy="1417320"/>
          </a:xfrm>
          <a:prstGeom prst="roundRect">
            <a:avLst>
              <a:gd name="adj" fmla="val 6452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23160" y="184708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2423160" y="23957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496312" y="2697480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 → 已联系 → 已确认 → 未通过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97680" y="1783080"/>
            <a:ext cx="1737360" cy="1417320"/>
          </a:xfrm>
          <a:prstGeom prst="roundRect">
            <a:avLst>
              <a:gd name="adj" fmla="val 6452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97680" y="184708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84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4297680" y="23957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370832" y="2697480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每个阶段都有，5 赢 1 丢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172200" y="1783080"/>
            <a:ext cx="1737360" cy="1417320"/>
          </a:xfrm>
          <a:prstGeom prst="roundRect">
            <a:avLst>
              <a:gd name="adj" fmla="val 6452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72200" y="184708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23957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245352" y="2697480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 · 3-4-3 · 按月结算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046720" y="1783080"/>
            <a:ext cx="1737360" cy="1417320"/>
          </a:xfrm>
          <a:prstGeom prst="roundRect">
            <a:avLst>
              <a:gd name="adj" fmla="val 6452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0" y="184708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84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7</a:t>
            </a:r>
            <a:endParaRPr lang="en-US" sz="28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23957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 / 交付项目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119872" y="2697480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启动、进行中、已关闭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921240" y="1783080"/>
            <a:ext cx="1737360" cy="1417320"/>
          </a:xfrm>
          <a:prstGeom prst="roundRect">
            <a:avLst>
              <a:gd name="adj" fmla="val 6452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921240" y="184708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2800" dirty="0"/>
          </a:p>
        </p:txBody>
      </p:sp>
      <p:sp>
        <p:nvSpPr>
          <p:cNvPr id="30" name="Text 28"/>
          <p:cNvSpPr txBox="1"/>
          <p:nvPr/>
        </p:nvSpPr>
        <p:spPr>
          <a:xfrm>
            <a:off x="9921240" y="23957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994392" y="2697480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出差 · 5 请假 · 10 发票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02920" y="3383280"/>
            <a:ext cx="4202582" cy="266090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33" name="Image 0" descr="/home/user/hotcrm/docs/demo/psa-presales/R3-01-客户列表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429000"/>
            <a:ext cx="4111142" cy="2569464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548640" y="6071616"/>
            <a:ext cx="4111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客户：14 家，行业与类型各不相同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7456018" y="3383280"/>
            <a:ext cx="4202582" cy="266090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36" name="Image 1" descr="/home/user/hotcrm/docs/demo/psa-presales/R3-03-商机列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501738" y="3429000"/>
            <a:ext cx="4111142" cy="2569464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7501738" y="6071616"/>
            <a:ext cx="4111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进行中商机：谈判、提案、需求分析、资格审查、寻找客户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数据到了仪表板：销售业绩与项目财务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37–39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销售业绩：管道总额、本季度已成交 7,150,000、赢率 83%（5 赢 1 丢）、阶段管道分布、月度收入趋势——标准仪表板，数据一到就有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项目财务：合同额合计 10,650,000、已开票 5,120,000、已收款 4,035,000、采购合同 990,000；七个交付项目的合同额 vs 开票 vs 收款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交付项目列表一眼看出健康度：北辰二期 47%、长江 DMS 17%、天启 TMS 已关闭 87%、华信数据中台 132%（超支）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5124298" cy="3236976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9" name="Image 0" descr="/home/user/hotcrm/docs/demo/psa-presales/R3-09-销售仪表板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97480"/>
            <a:ext cx="5032858" cy="314553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16168"/>
            <a:ext cx="5032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销售业绩仪表板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34302" y="2651760"/>
            <a:ext cx="5124298" cy="3236976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12" name="Image 1" descr="/home/user/hotcrm/docs/demo/psa-presales/R3-06-交付项目列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0022" y="2697480"/>
            <a:ext cx="5032858" cy="31455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80022" y="5916168"/>
            <a:ext cx="5032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交付项目：预算基线、实际成本、预算消耗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客户管理：分类、业务信息、附件、审批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1–5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录入即分类，分类即规则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78308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客户编码自动分配；客户分类（常规销售客户 / 招标代理公司 / 其他）、客户简称、统一社会信用代码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业务信息：当前主要服务商、本年度 IT 采购预算、付款周期、美国 EAR 管制清单、战略合作伙伴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联系人：性别、角色（决策者 / 影响者 / 采购…）、对我司态度、与销售关系强度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附件页签直接上传资质与合作背景资料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客户信息提交审批 → 记录锁定 → 通过后正式生效，可关联商机与项目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983480" y="1325880"/>
            <a:ext cx="6675120" cy="4206240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10" name="Image 0" descr="/home/user/hotcrm/docs/demo/psa-presales/S01b-客户详情-基本信息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6583680" cy="41148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595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客户详情：客户分类、简称、统一社会信用代码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线索到商机：需求形线索、跟单信息、立项审批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6–11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线索：预计金额、需求类型（软件开发 / 实施 / 运维 / 咨询），审批通过后才转商机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商机编码 OPP-xxxx 自动编号，是项管平台关联的锚点；是否投标、级别、优先级、可控性、客户立项时间、预计招标时间、分包信息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签约主体（独立主数据）、业务分类、收入确认类型；客户简介 / 项目背景 / 风险 / 付款条款写在背景说明里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立项审批独立于标准产品的金额分档审批；立项通过后才允许更新阶段、投标、赢丢单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9" name="Image 0" descr="/home/user/hotcrm/docs/demo/psa-presales/S06c-线索-预计金额与需求类型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926080"/>
            <a:ext cx="4915814" cy="30723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线索：需求类型、预计金额、审批状态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51346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12" name="Image 1" descr="/home/user/hotcrm/docs/demo/psa-presales/R2-06-商机-招投标与签约主体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97066" y="2926080"/>
            <a:ext cx="4915814" cy="30723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066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商机：跟单信息与签约主体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系统拦截：招标代理与 EAR 客户不能发起商机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 备注 · 步骤 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招标代理及其他类客户仅可用于付款回款——新建商机时系统读取客户分类，直接拒绝并说明原因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EAR 管制清单：机器比对命中记为"疑似"，只提示不阻断；人工确认在列后，商机被拦截——机器不拦人，人拍板才拦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两条规则都是跨对象的门禁：读的是客户上的数据，作用在商机上；存量数据不受影响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5124298" cy="3236976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9" name="Image 0" descr="/home/user/hotcrm/docs/demo/psa-presales/S01d-拦截-招标代理不可发起商机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97480"/>
            <a:ext cx="5032858" cy="314553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16168"/>
            <a:ext cx="5032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①：招标代理客户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34302" y="2651760"/>
            <a:ext cx="5124298" cy="3236976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12" name="Image 1" descr="/home/user/hotcrm/docs/demo/psa-presales/R2-23-拦截-EAR确认在列不能发起商机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0022" y="2697480"/>
            <a:ext cx="5032858" cy="31455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80022" y="5916168"/>
            <a:ext cx="5032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③：EAR 人工确认在列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一个审批中心：九条流程，一个收件箱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5 · 7 · 11 · 20 · 26 · 32 · 34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发起的手势统一：记录页顶部「发起审批」按钮 → 确认；审批状态字段只读，不能手改；记录随即锁定并显示"审批中"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处理的手势统一：待我审批 → 勾选 → 通过 N 条 → 确认；通过后回写状态与审批时间，并通知负责人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转签、退回修改、退回补充、催办、撤回都在同一个面板；快捷键 x 选择 · a 通过 · r 拒绝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 · 线索 · 商机立项 · 售前立项 · 交付立项 · 工时 · 预算调整 · 出差 · 请假，共九条，可按贵司组织层级扩为多级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9" name="Image 0" descr="/home/user/hotcrm/docs/demo/psa-presales/S05-07-11-审批中心-待我审批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926080"/>
            <a:ext cx="4915814" cy="30723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待我审批：七条流程的请求在同一个收件箱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51346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12" name="Image 1" descr="/home/user/hotcrm/docs/demo/psa-presales/S05-07-11c-勾选后批量通过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97066" y="2926080"/>
            <a:ext cx="4915814" cy="30723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066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勾选后批量通过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发起审批是一个按钮，不是一次编辑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5 · 7 · 11 · 20 · 26 · 32 · 34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每个可审批对象的记录页都有「发起审批」（商机是「发起立项审批」）；只在草稿或已驳回时出现，点击后确认即提交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审批状态、审批通过时间是只读字段：表单里看得到、改不了，状态只由按钮和审批流写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提交后记录锁定、显示"审批中"，审批人在同一条记录上通过 / 拒绝 / 退回；驳回后按钮重新出现，修改后再发起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3611880" cy="2291715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9" name="Image 0" descr="/home/user/hotcrm/docs/demo/psa-presales/S05-客户-发起审批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97480"/>
            <a:ext cx="3520440" cy="22002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4970907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记录页顶部的「发起审批」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74820" y="2651760"/>
            <a:ext cx="3611880" cy="2291715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12" name="Image 1" descr="/home/user/hotcrm/docs/demo/psa-presales/S05-客户-发起审批-确认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20540" y="2697480"/>
            <a:ext cx="3520440" cy="22002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20540" y="4970907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确认后提交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46720" y="2651760"/>
            <a:ext cx="3611880" cy="2291715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15" name="Image 2" descr="/home/user/hotcrm/docs/demo/psa-presales/S05-客户提交审批-审批中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2440" y="2697480"/>
            <a:ext cx="3520440" cy="22002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92440" y="4970907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审批中已锁定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编辑表单里的审批状态是灰色只读——想改状态，只有这个按钮一条路。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商机跟进：阶段、任务、活动时间线与铁三角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12–13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跟进不靠记忆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78308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阶段条直接推进阶段，赢单概率、预计金额随时改；每次变更自动写入活动时间线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待办任务与活动（现场调研、方案汇报、投标答疑）挂在商机上，右侧任务卡常驻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铁三角：客户经理（AR）、解决方案经理（SR）、交付经理（FR）三个角色就地调整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赢单 / 丢单必须填原因：赢单原因、丢单原因、赢丢单详情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生产形态：铁三角做成商机团队对象 + 记录级共享，团队成员自动获得可见性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983480" y="1325880"/>
            <a:ext cx="6675120" cy="4206240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10" name="Image 0" descr="/home/user/hotcrm/docs/demo/psa-presales/S13-铁三角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6583680" cy="41148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595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商机详情：铁三角与赢单 / 输单分组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售前立项：关联商机、角色、成本测算、审批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15–20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售前项目必须挂在已立项的商机上（选 CRM 商机编码），客户随之带出；编号 PSP-xxxx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五个角色：客户经理、项目经理、项目总监、项目 QA、资源报价负责人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四项成本（人工 / 第三方服务 / 软硬件采购 / 项目费用）→ 总成本自动算；报价 → 毛利率自动算：100 万成本、140 万报价、28.57%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信息安全类别（公开 / 内部 / 秘密 / 机密）与安全备注；审批通过后才能立交付项目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9" name="Image 0" descr="/home/user/hotcrm/docs/demo/psa-presales/S15b-售前项目-关联商机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926080"/>
            <a:ext cx="4915814" cy="30723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售前项目：关联商机、报价、毛利率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51346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12" name="Image 1" descr="/home/user/hotcrm/docs/demo/psa-presales/S18-成本测算与报价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97066" y="2926080"/>
            <a:ext cx="4915814" cy="30723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066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成本测算与报价：总成本自动汇总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交付立项：关联售前、成本中心、角色、附件、审批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21–26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交付项目必须选一个已审批的售前项目；预算基线自动取售前 Bizcase 总成本；关联销售合同后合同额自动带出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实施成本中心、核算成本中心、对应部门可以不同（试点项目：实施华东、核算华北）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角色：项目经理、项目总监、资源报价负责人、分包 TS 填写人、QA 负责人；信息安全类别；附件上传开工确认单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交付立项审批通过后项目正式启动，成本计划、工时、差旅、开票、收款都挂在它下面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9" name="Image 0" descr="/home/user/hotcrm/docs/demo/psa-presales/S21b-交付项目-关联售前项目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926080"/>
            <a:ext cx="4915814" cy="30723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交付项目：关联售前项目、预算基线、实际成本、预算消耗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51346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12" name="Image 1" descr="/home/user/hotcrm/docs/demo/psa-presales/S23-成本中心与部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97066" y="2926080"/>
            <a:ext cx="4915814" cy="30723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066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成本中心与部门、项目角色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成本计划：四类成本按月编制，预算调整走审批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27–32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成本计划行：人工服务 / 第三方服务 / 软硬件采购 / 项目费用 × 月份；数量 × 单价 = 计划金额；人工行选费率卡自动带出单价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计划总额自动汇总到交付项目；预算基线来自售前 Bizcase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预算调整：调整金额、原因（范围变更 / 工期延长 / 费率变化…）、差异分析，提交审批；只有已批准的调整计入"当前预算"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演示：追加 15 万通过后，当前预算 100 万 → 115 万，预算消耗 53.4% → 46.5%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9" name="Image 0" descr="/home/user/hotcrm/docs/demo/psa-presales/S28-31b-成本计划行列表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926080"/>
            <a:ext cx="4915814" cy="30723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成本计划行：类别 × 月份 × 计划金额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51346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12" name="Image 1" descr="/home/user/hotcrm/docs/demo/psa-presales/R2-10-交付项目-当前预算-调整后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97066" y="2926080"/>
            <a:ext cx="4915814" cy="30723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066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预算调整通过后：当前预算 1,150,000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成本执行：工时、请假、出差与差旅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33–35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工时表：选费率卡自动带出费率，工时 × 费率 = 人工成本；标准工时 / 请假工时 / 加班工时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请假申请审批通过后，自动同步到申请人当月工时表：请假 16 小时 → 工时 176 变 160，成本重算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出差申请：目的地、起止日期（天数自动算）、事由、预计费用、审批；差旅成本关联出差单后自动带出项目、出差人、日期，实际费用汇总回出差单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人工实际成本只计已审批的工时表；工时经项目经理审批后才计入项目成本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9" name="Image 0" descr="/home/user/hotcrm/docs/demo/psa-presales/R2-21-工时表-请假同步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926080"/>
            <a:ext cx="4915814" cy="30723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工时表：请假工时 16、工时 160、成本 144,000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51346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12" name="Image 1" descr="/home/user/hotcrm/docs/demo/psa-presales/R2-18-出差申请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97066" y="2926080"/>
            <a:ext cx="4915814" cy="30723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066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出差申请：天数、预计费用、实际费用汇总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成本管控：实时汇总，超预算即拦截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系统盯着预算，而不是月底对账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78308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交付项目实时汇总人工实际、差旅实际 → 实际成本、预算消耗 %、预算差异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试点项目：基线 20 万，实际 26.4 万，预算消耗 132%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②：实际成本 ≥ 当前预算的项目，系统拒绝新的工时填报，并说明数字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④：出差申请未审批通过，不能登记差旅成本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预算追加走预算调整审批，批准后当前预算上调，填报自动放开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983480" y="1325880"/>
            <a:ext cx="6675120" cy="4206240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10" name="Image 0" descr="/home/user/hotcrm/docs/demo/psa-presales/S36-试点项目-超预算13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6583680" cy="41148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595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超预算项目：132%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两处成本侧拦截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35 · 36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5124298" cy="3236976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8" name="Image 0" descr="/home/user/hotcrm/docs/demo/psa-presales/S36b-拦截-超预算禁填工时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032858" cy="31455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4681728"/>
            <a:ext cx="5032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②：项目成本已超预算，工时填报已限制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534302" y="1417320"/>
            <a:ext cx="5124298" cy="3236976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11" name="Image 1" descr="/home/user/hotcrm/docs/demo/psa-presales/R2-22-拦截-出差未审批不能报差旅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0022" y="1463040"/>
            <a:ext cx="5032858" cy="31455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80022" y="4681728"/>
            <a:ext cx="5032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④：出差申请尚未审批通过，不能登记差旅成本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303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两条提示都是系统在保存那一刻给出的，写明项目、实际与基线的数字或未审批的出差单；换一个健康项目或已审批的出差单即可保存。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合同与财务：开票、收款、采购合同、销售订单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 · 38 · 40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交付项目"合同与财务"分组：销售合同、合同额、项目进度 → 已确认收入；已开票、已收款、应收余额；采购合同总额、销售订单总额；项目毛利率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开票：发票类型、号码、金额、税率、状态；收款汇总到发票，未收余额自动算。收款：方式、流水号、关联发票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采购合同：供应商、类别（分包 / 软件 / 硬件）、已付 / 未付；销售订单：交付状态、验收日期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本阶段手工录入；财务、费控、考勤系统对接放在后续阶段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9" name="Image 0" descr="/home/user/hotcrm/docs/demo/psa-presales/R2-11-交付项目-合同与财务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926080"/>
            <a:ext cx="4915814" cy="30723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交付项目：合同与财务分组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51346" y="2880360"/>
            <a:ext cx="5007254" cy="3163824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12" name="Image 1" descr="/home/user/hotcrm/docs/demo/psa-presales/R2-13-开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97066" y="2926080"/>
            <a:ext cx="4915814" cy="30723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066" y="6071616"/>
            <a:ext cx="4915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开票列表：收款汇总与未收余额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项目报表：综合查询与两个仪表板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37–39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交付项目列表的"项目综合查询"视图：进度、当前预算、实际成本、预算消耗、合同额、已确认收入、已开票、已收款、应收余额、毛利率一行看全，可筛选、分组、导出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项目成本仪表板：总预算 / 人工实际 / 差旅实际 / 进行中项目，各项目基线 vs 计划 vs 实际，预算消耗表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项目财务仪表板：合同额 / 已开票 / 已收款 / 采购合同，各项目合同额 vs 开票 vs 收款，开票率与回款率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5124298" cy="3236976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9" name="Image 0" descr="/home/user/hotcrm/docs/demo/psa-presales/R3-10-项目成本仪表板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97480"/>
            <a:ext cx="5032858" cy="314553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16168"/>
            <a:ext cx="5032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项目成本仪表板：七个交付项目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34302" y="2651760"/>
            <a:ext cx="5124298" cy="3236976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12" name="Image 1" descr="/home/user/hotcrm/docs/demo/psa-presales/R3-11-项目财务仪表板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0022" y="2697480"/>
            <a:ext cx="5032858" cy="31455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80022" y="5916168"/>
            <a:ext cx="5032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项目财务仪表板：合同额、开票、收款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主数据：费率卡与签约主体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9 · 18 · 28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费率卡：岗位级别 × 小时费率 / 日费率，带生效日期与启用开关；工时表、人工成本计划行选了费率卡就自动取价，费率变更集中管理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签约主体：我方法人公司主数据（名称、信用代码、法定代表人、开户行），商机与合同上选择，不是租户维度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两者都在导航"主数据"组，管理员维护，业务人员只选不填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5124298" cy="3236976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9" name="Image 0" descr="/home/user/hotcrm/docs/demo/psa-presales/R2-02-费率卡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97480"/>
            <a:ext cx="5032858" cy="314553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16168"/>
            <a:ext cx="5032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34302" y="2651760"/>
            <a:ext cx="5124298" cy="3236976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</p:spPr>
      </p:sp>
      <p:pic>
        <p:nvPicPr>
          <p:cNvPr id="12" name="Image 1" descr="/home/user/hotcrm/docs/demo/psa-presales/R2-03-签约主体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0022" y="2697480"/>
            <a:ext cx="5032858" cy="31455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80022" y="5916168"/>
            <a:ext cx="5032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本次演示的简化与后续形态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148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本次演示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后续形态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五级售前审批（20）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一级审批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五个审批节点串联，按组织层级自动路由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商机状态变更审批（14）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未单独审批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赢单 / 弃单 / 铁三角调整走审批流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铁三角（13）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商机上三个人员字段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商机团队对象 + 记录级共享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请假 / 加班同步（33）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请假按工作日 × 8 小时自动同步；加班手填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对接考勤系统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报销单据（35）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差旅成本记单据号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对接费控系统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开票 / 收款（37 / 38）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系统内对象，手工录入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对接财务系统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售前工时（33）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按已审批口径汇总到售前项目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审批发起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记录页「发起审批」按钮，审批状态只读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同一机制，按对象配置审批人与层级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演示数据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一家软件公司：14 客户 / 13 商机 / 7 交付项目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导入贵司真实客户、项目与费率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建议的推进路线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阶段一 · 试点上线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57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本次演示范围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146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贵司确认五个待答事项：跟进记录形态、开票 / 回款归属、线索形态、EAR 判定方式、立项审批与金额审批的关系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按贵司组织与岗位配置审批人、权限、费率卡、签约主体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一个事业部、一批真实项目试运行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阶段二 · 深化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057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规则与协同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5146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五级售前审批按组织层级路由；商机状态变更审批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铁三角商机团队与记录级共享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预算多级审批、费率卡版本、售前工时口径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阶段三 · 集成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057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打通外部系统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5146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考勤：请假 / 加班自动同步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费控：报销单据回写差旅成本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财务：开票、收款自动进系统；合同额、收入口径统一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 40 步流程里，客户、线索、商机、审批中心、附件、跟进、赢丢单是现成的 CRM 能力；售前立项、交付立项、成本计划、工时与差旅、财务与报表这 26 步，是在同一个平台、同一套元数据里长出来的。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490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这也是它能成为软件行业项目型销售标准模板的原因。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下一步：确认五个待答事项 → 划定试点范围 → 给出排期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项目型销售与项目管理一体化 — 华信案例演示汇报</dc:title>
  <dc:subject>PptxGenJS Presentation</dc:subject>
  <dc:creator>HotCRM 售前团队</dc:creator>
  <cp:lastModifiedBy>HotCRM 售前团队</cp:lastModifiedBy>
  <cp:revision>1</cp:revision>
  <dcterms:created xsi:type="dcterms:W3CDTF">2026-09-15T06:54:33Z</dcterms:created>
  <dcterms:modified xsi:type="dcterms:W3CDTF">2026-09-15T06:54:33Z</dcterms:modified>
</cp:coreProperties>
</file>