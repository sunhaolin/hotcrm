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各位好，感谢大家抽时间。今天我不打算念产品功能清单，只想带大家看一件事：贵司交给我们的那张 40 步、9 个环节的业务流程表，怎样在一个系统、一套数据里从头跑到尾。表里把它分成了 CRM 和项管平台两个系统，一会儿大家会看到，这两个系统在我们这里其实是同一个平台上的两组业务对象。下面大概 40 分钟，我按贵司流程表的顺序走，每一页右上角都标着对应的步骤号，大家随时可以对照自己的表打断我。先说结论——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先把结论放在最前面，省得大家等。40 步都在同一个平台、同一套数据里跑起来了：36 步基本实现，主体功能今天可以现场演示，细节还在打磨，欢迎大家边看边提；4 步是部分实现，我不藏着——商机状态变更还不单独审批，售前审批今天只有一级、生产上要走五级，成本计划新版本的预算调整通过之后「当前预算」这一个数的联动还没完成，加班工时还是手填。为了这 40 步，我们新建了 20 个业务对象、10 条审批流、4 处系统拦截加 2 处冻结。怎么做到的，四句话：不做两套系统再做接口，项目管理直接长在 CRM 的对象上，商机编码是两边唯一的锚点；业务规则落在系统里而不是制度里，保存那一刻系统自己拦；汇总和公式都是实时算的，没有一个数要人手算；十条审批流在同一个收件箱里处理。这四句话，接下来一张图就能看明白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这就是那张图。贵司的需求表本身分成两个系统：14 步在 CRM，26 步在项管平台，但我们读表的时候发现，项管侧每一步都要回头读 CRM 里的商机——所以我们没有做两个系统再对接，而是做成同一个平台上的一组业务对象，这张泳道图就是它的样子。五条泳道是五种角色，大家顺着看。销售这条是 CRM：线索、客户、商机立项、商机跟进；商机立项那里有个红标，拦截①③，招标代理客户和 EAR 确认在列的客户，商机根本发不起来。往下，售前只做两件事：售前项目和它的 Bizcase 成本计划，四类明细、报价、毛利率都在计划上。再往下是交付：点一下「导入 Bizcase 预算」，交付成本计划第 1 版就出来了，基线同时冻结；明细按月分解；工时和差旅是实际成本——拦截②④在这儿：超了预算填不了工时，出差没批登记不了差旅；预算要变，就做新版本、走预算调整审批。财务这条从赢单后的销售合同起步，合同额乘进度得到已确认收入，开票收款算出应收余额，采购和订单进毛利率，最后都落到项目报表。最底下是审批中心，十条流程一个收件箱。请大家记住一句话：这张图上每一个箭头都是字段关联，不是接口。那这一套是用什么搭起来的？下一页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三层，很简单。最上面是平台自带的能力：审批中心、附件、活动时间线、汇总字段、公式字段、权限、仪表板、导入导出、记录锁定——这一层我们一行都没开发，拿来就用。中间是 CRM 的标准对象加贵司要的字段：客户、联系人、线索、商机、销售合同这些。最下面才是这次为贵司流程新建的 17 个项目对象——售前项目、交付项目、成本计划、四类成本明细行、月度分解行，一直到开票、收款、采购合同、销售订单——再加费率卡、差旅标准、签约主体三项主数据。三层怎么串起来？靠商机编码：售前项目必须挂在已立项的商机上，交付项目必须挂在已审批的售前项目上，成本、工时、差旅、开票、收款都挂在交付项目底下。结构清楚了，那每个环节到底做到了什么程度？下一页一张表说清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张表大家可以直接对着自己那张需求表看。绿色是基本实现——主体功能今天都能演示，细节还在打磨，看到哪里不顺手请随时打断我；橙色是部分实现，四处，我一个个说清楚：商机状态变更目前不单独审批；售前审批今天是一级，生产上按贵司组织层级走五级；成本计划新版本的预算调整审批通过后，新版本已经生效、计划总额也跟着变了，但交付项目上「当前预算」这一个数的联动还没有完成；成本执行里请假同步做了，加班同步还是手填。另外项目报表环节的开票、收款是手工录入的，对接财务系统放在后面阶段。表看完了，光看表没感觉，我们看数据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演示环境里不是四条样例，而是一家叫华软股份的软件公司一整年的生意：14 家客户，横跨制造、金融、医药、物流、能源、教育；14 条线索，从新建、已联系、已确认到未通过都有；13 个商机，每个阶段都有人，5 赢 1 丢；6 份合同、8 个售前 Bizcase、7 个交付项目，每个项目都带一份有版本的成本计划，再加上工时、出差、请假、开票、收款。这意味着，待会儿大家看到的每一张列表、每一个仪表板都是有数的，讲到哪里都可以随手点开看。数据一多，有意思的事就来了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数据一多，仪表板自己就成型了。左边是标准的销售业绩仪表板：本季度已成交 715 万、赢率 83%、各阶段的管道分布、月度收入趋势——这些都是平台原生的，数据一进来就有。右边是交付项目列表，项目健康度一眼看穿：北辰二期消耗了 47.65%，长江 DMS 刚起步 16.85%，天启 TMS 已关闭、77.21%，还有一个华信数据中台，132%——超支了。这个 132% 请大家记一下，后面讲成本管控的时候，它是主角。好，热身结束，我们正式进入贵司流程的第一部分——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第一部分是 CRM 侧的 14 步：客户管理、线索管理、商机立项、商机跟进。这一段大多数是标准 CRM 能力加上贵司要的字段和审批，不会讲得太细；重点请大家看三处系统拦截，以及审批到底怎么发起、怎么处理。从客户开始——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1 到 5。这时候我切到系统，打开华信科技这家客户。客户编码是自动分配的；基本信息里有贵司要的客户分类、客户简称、统一社会信用代码——注意客户分类，它不只是个标签，后面会变成一条规则。往下是业务信息分组：当前主要服务商、本年度 IT 采购预算、付款周期、美国 EAR 管制清单、战略合作伙伴。联系人多了四个字段：性别、角色、对我司态度、与销售关系强度。附件页签，资料直接拖进来。客户填完，点「发起审批」，记录锁定，审批通过才正式生效，才能关联商机和项目——这个按钮怎么用，后面专门有一页讲。客户有了，接下来是线索和商机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6 到 11。线索我们做成「需求形」的：预计金额、需求类型是贵司要的，线索审批通过后才能转成商机。到了商机，最重要的一个字段是商机编码——OPP 打头，自动编号，它就是后面项管平台关联的那根线。跟单信息里贵司要的都在：是否投标、商机级别、优先级、可控性、客户立项时间、预计招标时间、分包信息；签约主体是独立的主数据，业务分类、收入确认类型也都有；客户简介、项目背景、风险、付款条款按结构写在背景说明里。商机上的「发起立项审批」是单独的一条流程，和标准产品按金额分档的审批互不干扰，立项通过后才允许推进阶段、投标、赢丢单。说到这里，刚才客户分类那条规则该登场了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这一页就是规则由系统执行的样子，我现场做给大家看。新建商机，所属客户选中招国际——它是招标代理公司——点创建，系统直接拒绝，提示写得很清楚：仅可用于付款回款，无法发起商机。第二条是 EAR：机器比对命中只记为「疑似」，只提示不阻断；我把东方联合银行改成「人工确认在列」再建商机，就被拦下来了。一句话概括：机器不拦人，人拍板才拦。两条规则读的都是客户上的数据，作用在商机上，历史数据不受影响。拦截讲完了，再看贵司流程里反复出现的那个动作——审批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贵司的流程里审批反复出现，我们把它做成了一套动作，一页讲完。发起：记录页顶部点「发起审批」——商机上叫「发起立项审批」——确认，记录立刻锁定、显示审批中，左图和中图就是这两步。按钮只在草稿或已驳回时出现；审批状态和审批通过时间是只读字段，表单改不了、接口也写不进，只有这个按钮和审批流能写它，所以状态始终等于审批结果，不会出现"手工改成已通过"的漏洞。处理：待我审批，勾选，通过 N 条，确认；系统自动回写状态和时间、通知负责人；转签、退回修改、退回补充、催办、撤回都在同一个面板。右图是收件箱：今天十条流程——客户、线索、商机立项、售前立项、交付立项、成本计划、预算调整、工时、出差、请假——全在这一个收件箱里，成本计划审批和预算调整审批并排等着处理，每一行都写着记录和金额，审批人不用点开就知道在审什么。生产上按贵司组织层级扩成多级，手势不变。审批说完，回到商机本身，看看立项之后怎么跟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12 到 14。跟进不靠记忆。左图：阶段条直接推进阶段，金额、成交概率随时改，每次变更自动写进活动时间线；右上角那张任务卡是常驻的——提交投标文件、确认付款条款，打开商机就知道还有什么没做，待办和活动都挂在商机上。右图：铁三角——客户经理、解决方案经理、交付经理——三个角色就地调整；赢单、丢单必须填原因，北辰 MES 二期是已成交的商机，赢单原因填的是客户关系。这里要如实说一句：步骤 14 的状态变更审批目前没有做，赢单、弃单、调整铁三角还不单独走审批，我们标的是未实现。生产形态下铁三角会做成商机团队对象加记录级共享。CRM 这一段到此，商机已经立项、跟进也在走，接下来就该进项管平台了——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第二部分是项管平台侧的 26 步，也是这次为贵司新做的部分：售前立项、交付立项、成本计划、成本执行、项目报表。这 26 步每一步都要读 CRM 里的商机，这正是它们必须和 CRM 放在同一个平台上的原因。这一部分的重点是成本计划：带版本、四类明细、按月分解，请大家留意。先从售前立项开始——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15 到 20。售前项目必须挂在已立项的商机上——选商机编码，客户就跟着带出来了，编号 PSP 打头。五个角色齐全：客户经理、项目经理、项目总监、项目 QA、资源报价负责人。成本测算这里要说明一下：人工服务、第三方服务、软硬件采购、项目费用这四个数不是手填的，是这个售前项目下 Bizcase 成本计划的汇总——华信这单是 65.6 万、25 万、10 万、4.8 万，总成本 105.4 万；报价 140 万一填，毛利率 24.69% 自动出来。我现场可以打开 Bizcase 计划改任何一条明细，回到售前项目，四项成本、总成本、毛利率全跟着变——这是汇总和公式，不是报表。信息安全类别和安全备注在下面。审批通过后才能立交付项目；今天演示一级审批，五级路由留到生产配置，所以这一步算部分实现。售前批了，交付就可以立项了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21 到 26。交付项目必须选一个已审批的售前项目，商机和客户自动带出，编号 DLV 打头。预算基线默认取售前 Bizcase 的总额；真正把它定下来的是页头这个「导入 Bizcase 预算」按钮：点一下，已审批的 Bizcase 整套克隆成交付成本计划第 1 版，基线同时冻结——之后谁也改不了基线，已经有计划的项目再点会被拒绝。实施成本中心、核算成本中心、对应部门可以不同，试点项目就是实施华东、核算华北。角色、信息安全、附件都在；页头的基线、实际成本、预算消耗三个数是平台汇总的，不用人算。刚才说的成本计划第 1 版，到底长什么样？这是今天的重头戏——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27 到 31，成本计划分三层，我从上往下讲。最上面是成本计划本身，它是「一个版本」：挂在售前项目上就叫 Bizcase，挂在交付项目上就是交付计划；有版本号、当前版本、冻结基线；计划总额和人工、第三方、采购、费用四类合计全是汇总出来的，没有一个是手填的。中间是四类明细行——贵司需求表里四个配置界面对应四个对象，因为四类成本的算法和单价来源各不相同，下一页展开。最底下是月度分解行：保存一条明细行，系统按起止月份自动生成一行一个月的台账，右边截图就是华信一期交付计划的台账，成本类别、月份、金额逐行可查；改过某个月，它就标成手工调整，重新分解也不会覆盖。所有合计、售前项目的四项成本、交付项目的计划总额、项目成本仪表板，读的都是这张台账。那四类明细到底怎么算？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为什么是四个对象——因为四类成本各有各的算法和单价来源。人工服务：填岗位级别、人数、每人每月工时和起止月份，费率标准从费率卡自动带出、不能手填，而且每个月按当月生效的费率解析——项目中途调了费率卡，后面的月份自动按新价算。第三方服务：供应商报价手填，计价方式人月、人天或者包干，人月是单价乘人数逐月落，人天和包干平均摊。软硬件采购：品类、数量、单价，选了产品单价从价目带出，一次性采购落在到货月，维保或订阅填了结束月份就平均分摊。项目费用：差旅按差旅标准算——出差次数乘每次人数，乘往返交通加天数乘日标准；会议、培训这些报销类直接填预算金额。右边现场算一遍：高级工程师两人、每人每月 160 小时、费率 800，每月 25.6 万，8、9 两个月就是 51.2 万；改人数或者月份，各月金额和计划总额当场重算。计划编好了，项目做着做着预算不够了怎么办？——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27 和 32 我放在一起讲，因为它们是同一件事的两头。27 是起点：交付项目页头点「导入 Bizcase 预算」，已审批的 Bizcase 整套克隆成交付计划第 1 版，基线冻结，考核从此有了尺子。32 是变动：已审批的计划不能改，要变就在成本计划上点「新建计划版本」，得到 v2 草稿——左图就是那个确认框。在 v2 上增减明细，华信一期追加了高级工程师一人两个月、两次现场差旅，一共 27 万。然后建一条预算调整挂在 v2 上：右图，调整金额 270,160 不是人填的，是系统按新版本总额减当前版本总额写进去的；填原因和差异分析，发起审批。通过之后 v2 成为当前版本、v1 作废，交付项目的计划总额跟着变成 132.4 万。这里如实说一句：交付项目上「当前预算」这个数的自动上调还没有完成，所以这一步我们写的是部分实现；手填金额的预算调整审批通过后，当前预算是正常上调的。那领导审这个 v2 的时候，看到的是什么？——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领导审一份成本计划，真正要判断的不是一个孤立的数，而是这一版和项目当下正在执行的那一版差在哪儿。所以发起审批那一刻，系统记下同一项目正在执行的版本，把它的各项金额抄到被提交的计划上——冻结基线、计划总额、四类合计、其中差旅，每一项给出本版本、当前执行版本、差异三个数，计划总额还给差异率。左图：华信一期 v2 比 v1 多 27 万，差异率 25.62%，全部来自人工服务和差旅，第三方和采购差异为零。差异是从这一对金额算出来的，不会和上面的数对不上；快照取在提交那一刻，也正是明细行和月份被冻结的那一刻，记录就是"当时摆在审批人面前的是什么"。右图是「待审批的成本计划」视图，在审的版本一行一个，差异都在行上，领导不用逐份打开就能排轻重缓急。项目的第一份计划没有可比对象，差异就是全额新增。计划、版本、审批都讲了，我们把整个成本闭环合起来看一眼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一共三段。第一段是计划：Bizcase 成本计划在交付立项时通过「导入 Bizcase 预算」成为交付计划第 1 版，基线冻结——这把尺子之后不动；明细按月分解，计划总额自动汇总。第二段是执行：工时表用工时乘费率算人工成本，只有审批通过的才计入；差旅成本必须挂在审批通过的出差申请上；两者相加是实际成本，除以当前预算就是预算消耗。第三段是控制：系统在每次填报工时时比较实际和当前预算，超了就拒绝——这就是步骤 36 现场会看到的那条提示；出路是新建计划版本、走预算调整审批，通过后新版本生效、旧版作废，计划总额跟着新版本走，填报自动放开。整个闭环没有一步是月底对账，都是保存时算的。当前预算那一个数的联动还没完成，上一页说过了。闭环的第二段——执行——刚才只带过一句，现在展开看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33 到 35。工时表选岗位级别，费率标准自动从费率卡带出，不能手填；工时乘费率就是人工成本，另外有标准工时、请假工时、加班工时三个数。贵司写的「请假、加班申请同步后自动更新」，请假这一半做了：王强 3 天年假审批通过后，他当月工时表的请假工时自动变 24，工时 176 变 152，成本重算成 136,800；加班工时目前还是手填，所以这一步算部分实现。出差申请有目的地、起止日期、事由、预计费用，差旅成本关联出差单后自动带出项目、出差人、日期，实际费用汇总回出差单。工时表不再要求必须挂交付项目，售前工时也能填；人工实际成本只计已审批的工时表。工时和差旅一进来，实际成本就动了，系统是怎么盯着预算的？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36。系统盯着预算，而不是月底对账。交付项目实时汇总人工实际和差旅实际，得出实际成本、预算消耗、预算差异。还记得开头那个 132% 吗？试点项目基线 20 万，实际 26.4 万。对这样的项目，拦截②：新填工时被拒，并把数字写在提示里；拦截④：出差没审批通过，差旅成本登记不了。预算追加走新建计划版本加预算调整审批，通过后填报自动放开。两条拦截现场是什么样？——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就是这两张图。左边：新建工时表选试点项目，系统写明「实际 264,000 大于等于预算 200,000，工时填报已限制」。右边：差旅成本关联一张草稿出差单，系统提示「尚未审批通过，不能登记差旅成本」。两条提示都是保存那一刻由系统给出的，换一个健康项目或者已审批的出差单就能保存。成本管住了，最后看钱怎么进来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37、38、40。交付项目的「合同与财务」分组一页看全：销售合同、合同额、项目进度推出已确认收入；已开票、已收款、应收余额；采购合同总额、销售订单总额；项目毛利率。华信一期：合同 140 万，进度 55%，已确认收入 77 万；已开票 98 万，已收款 42 万，应收 56 万；毛利率 62.29%。开票、收款、采购合同、销售订单都是独立对象，收款还关联到销售合同；本阶段手工录入，对接财务、费控、考勤放在后续阶段。这些数之间怎么串的，画一张图——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行。第一行：销售合同的合同额乘项目进度得到已确认收入，进度由项目经理维护。第二行：开票汇总成已开票金额，作废的不算；收款对着发票核销，汇总成已收款金额；两者之差就是应收余额。第三行：采购合同和销售订单各自汇总，终止的采购合同不算。第四行：成本闭环里算出来的实际成本和合同额算出项目毛利率。右边是这些数汇到哪里——交付项目的「合同与财务」分组、项目综合查询视图、项目财务仪表板和项目成本仪表板。这四种财务单据今天是手工录入，生产环境接财务系统。汇到的地方，正好就是贵司流程最后一个环节——报表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步骤 37 到 39。交付项目列表切到「项目综合查询」视图：进度、当前预算、实际成本、预算消耗、合同额、已确认收入、开票、收款、应收、毛利率一行看全，可以筛选、分组、导出。项目成本仪表板看基线、计划、实际和消耗率——总预算 754 万、人工实际 344 万；项目财务仪表板看合同额、开票、收款和采购——合同额 1065 万、已开票 512 万、已收款 403.5 万。两个仪表板都是平台原生的数据集加组件，改指标不用写代码。40 步走完了，还有一页是支撑这一切的主数据——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贵司步骤 18、28 说的岗位级别和费率标准，就是费率卡：岗位级别乘费率标准乘生效区间一行，带小时费率、日费率和启用开关；工时表和人工服务成本行选了它就自动取价，费率变更集中管理、按月生效。步骤 31 的差旅预算靠差旅标准：按城市级别给出住宿、餐补、市内交通的日标准和往返交通估算。步骤 9 的签约主体是我方法人公司的主数据——名称、信用代码、法定代表人、开户行——商机和合同上选。三者都在导航的「主数据」组，管理员维护，业务人员只选不填。到这里，两个系统的 40 步就全部过了一遍。最后一部分，我们把边界说清楚——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最后一部分说边界：今天演示里哪些是刻意简化的、生产形态是什么、还需要和贵司确认哪几件事，以及我们建议的三阶段路线。先看简化——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简化说在前面，不给大家惊喜。售前审批今天一级，生产五级串联、按组织层级自动路由；商机状态变更审批未做；成本计划版本化的预算调整，审批通过后新版本已经生效、计划总额也更新了，「当前预算」这一个数的联动还没有完成；铁三角做成团队对象加共享；请假同步今天按工作日乘 8 小时算，加班手填，后续对接考勤；报销单据、开票收款后续对接费控和财务。审批发起已经是按钮加只读状态。演示数据是一家软件公司的样子，上线时换成贵司真实的客户、项目、费率卡和差旅标准。边界清楚了，路怎么走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三个阶段。阶段一试点上线，就是今天演示的范围：先和贵司确认五个口径——跟进记录形态、开票回款归属、线索形态、EAR 判定方式、立项审批与金额审批的关系；我们这边完成预算调整的当前预算联动，然后按贵司的组织和岗位配置审批人、权限、费率卡、差旅标准、签约主体，选一个事业部、一批真实项目试运行——先把 Bizcase 编进成本计划，再导入交付项目。阶段二做规则和协同：五级审批、状态变更审批、铁三角共享、预算多级审批。阶段三打通考勤、费控、财务三个外部系统。最后收个尾——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收尾一句话。贵司 40 步流程里，客户、线索、商机、审批中心、附件、跟进、赢丢单是现成的 CRM 能力；售前立项、交付立项、成本计划、工时与差旅、财务与报表这 26 步，是在同一个平台、同一套数据里长出来的；成本计划按贵司要求做成了带版本、四类明细、按月分解的形态——这也是它能成为软件行业项目型销售标准模板的原因。下一步三个动作：确认五个口径，划定试点范围，我们给出排期。谢谢大家，接下来欢迎提问，也欢迎大家上手点一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258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项目型销售与项目管理一体化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4688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基于贵司 40 步业务流程的落地演示 · 华信案例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平台 · 2026 年 9 月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192024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10896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0896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9768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9768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7512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7512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6384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5256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0241280" y="507492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241280" y="50749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6235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 ←  贵司需求表步骤 1–14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5623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项管平台  ←  步骤 15–40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贵司的 40 步流程：36 步基本实现、4 步部分实现，细节仍在打磨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3593592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17320"/>
            <a:ext cx="359359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00961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需求表步骤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511857"/>
            <a:ext cx="341071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个业务环节 · 两个系统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97680" y="1325880"/>
            <a:ext cx="3593592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297680" y="1417320"/>
            <a:ext cx="359359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F7D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4297680" y="2200961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基本实现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2511857"/>
            <a:ext cx="341071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主体功能可现场演示，细节持续打磨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46720" y="1325880"/>
            <a:ext cx="3593592" cy="1508760"/>
          </a:xfrm>
          <a:prstGeom prst="roundRect">
            <a:avLst>
              <a:gd name="adj" fmla="val 727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1417320"/>
            <a:ext cx="359359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2200961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部分实现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2511857"/>
            <a:ext cx="341071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状态变更审批（14）· 五级审批（20）· 版本调整的预算联动（32）· 加班同步（33）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3017520"/>
            <a:ext cx="3593592" cy="1298448"/>
          </a:xfrm>
          <a:prstGeom prst="roundRect">
            <a:avLst>
              <a:gd name="adj" fmla="val 8451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08960"/>
            <a:ext cx="35935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77062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新建业务对象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4081516"/>
            <a:ext cx="3410712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个项目对象 + 3 项主数据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297680" y="3017520"/>
            <a:ext cx="3593592" cy="1298448"/>
          </a:xfrm>
          <a:prstGeom prst="roundRect">
            <a:avLst>
              <a:gd name="adj" fmla="val 8451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97680" y="3108960"/>
            <a:ext cx="35935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377062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条审批流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0" y="4081516"/>
            <a:ext cx="3410712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同一个审批中心、同一套手势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046720" y="3017520"/>
            <a:ext cx="3593592" cy="1298448"/>
          </a:xfrm>
          <a:prstGeom prst="roundRect">
            <a:avLst>
              <a:gd name="adj" fmla="val 8451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46720" y="3108960"/>
            <a:ext cx="359359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423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+ 2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8046720" y="3770620"/>
            <a:ext cx="3593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处系统拦截 + 冻结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138160" y="4081516"/>
            <a:ext cx="3410712" cy="197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招标代理 · EAR · 超预算 · 出差未批 ｜ 已审批的计划、冻结基线不可改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5262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怎么做到的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919472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不做两套系统再做接口：CRM 与项目管理是同一个平台上的一组业务对象，商机编码是两侧唯一的关联锚点</a:t>
            </a:r>
            <a:endParaRPr lang="en-US" sz="12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业务规则落在系统里而不是制度里：拦截与冻结由系统在保存那一刻执行，存量数据不受影响</a:t>
            </a:r>
            <a:endParaRPr lang="en-US" sz="12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汇总与公式实时计算：Bizcase 总成本、毛利率、计划总额、实际成本、预算消耗、应收余额都不用人算</a:t>
            </a:r>
            <a:endParaRPr lang="en-US" sz="125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一个审批中心：客户、线索、商机立项、售前、交付、成本计划、预算调整、工时、出差、请假十条流程在同一个收件箱处理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端到端业务流程：从线索到回款，一条数据链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1–40 · 泳道图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25880"/>
            <a:ext cx="960120" cy="896112"/>
          </a:xfrm>
          <a:prstGeom prst="rect">
            <a:avLst/>
          </a:prstGeom>
          <a:solidFill>
            <a:srgbClr val="2B3F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325880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00200" y="1325880"/>
            <a:ext cx="10042855" cy="896112"/>
          </a:xfrm>
          <a:prstGeom prst="rect">
            <a:avLst/>
          </a:prstGeom>
          <a:solidFill>
            <a:srgbClr val="E1E7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276856"/>
            <a:ext cx="960120" cy="896112"/>
          </a:xfrm>
          <a:prstGeom prst="rect">
            <a:avLst/>
          </a:prstGeom>
          <a:solidFill>
            <a:srgbClr val="C884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276856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600200" y="2276856"/>
            <a:ext cx="10042855" cy="896112"/>
          </a:xfrm>
          <a:prstGeom prst="rect">
            <a:avLst/>
          </a:prstGeom>
          <a:solidFill>
            <a:srgbClr val="FBEF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3227832"/>
            <a:ext cx="960120" cy="896112"/>
          </a:xfrm>
          <a:prstGeom prst="rect">
            <a:avLst/>
          </a:prstGeom>
          <a:solidFill>
            <a:srgbClr val="C884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227832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600200" y="3227832"/>
            <a:ext cx="10042855" cy="896112"/>
          </a:xfrm>
          <a:prstGeom prst="rect">
            <a:avLst/>
          </a:prstGeom>
          <a:solidFill>
            <a:srgbClr val="FBEF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78808"/>
            <a:ext cx="960120" cy="896112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178808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600200" y="4178808"/>
            <a:ext cx="10042855" cy="896112"/>
          </a:xfrm>
          <a:prstGeom prst="rect">
            <a:avLst/>
          </a:prstGeom>
          <a:solidFill>
            <a:srgbClr val="E3F2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5129784"/>
            <a:ext cx="960120" cy="896112"/>
          </a:xfrm>
          <a:prstGeom prst="rect">
            <a:avLst/>
          </a:prstGeom>
          <a:solidFill>
            <a:srgbClr val="5B657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29784"/>
            <a:ext cx="960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审批中心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600200" y="5129784"/>
            <a:ext cx="10042855" cy="896112"/>
          </a:xfrm>
          <a:prstGeom prst="rect">
            <a:avLst/>
          </a:prstGeom>
          <a:solidFill>
            <a:srgbClr val="F7F9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783080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828800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 · 审批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24528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70248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业务信息 · 审批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665976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11696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招投标 · 签约主体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946136" y="1307592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B4232C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946136" y="13075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①③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07424" y="1453896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53144" y="1453896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 · 赢单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023360" y="1773936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464808" y="1773936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906256" y="1773936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665976" y="2404872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711696" y="240487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关联已立项商机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107424" y="2404872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53144" y="2404872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Bizcase 成本计划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四类明细 · 报价 · 毛利率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786116" y="2093976"/>
            <a:ext cx="0" cy="310896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8906256" y="2724912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1783080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828800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挂已审批售前 · 导入 Bizcase 预算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224528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270248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成本计划版本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按月分解 · 冻结基线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665976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711696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 · 差旅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 · 预算消耗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7946136" y="3209544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B4232C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946136" y="32095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②④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9107424" y="3355848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153144" y="3355848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新版本 · 审批后生效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4023360" y="3675888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464808" y="3675888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8906256" y="3675888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1783080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828800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销售合同（赢单后）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合同额 · 进度 → 已确认收入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224528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270248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 → 收款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应收余额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665976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711696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 · 销售订单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项目毛利率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9107424" y="4306824"/>
            <a:ext cx="2240280" cy="640080"/>
          </a:xfrm>
          <a:prstGeom prst="roundRect">
            <a:avLst>
              <a:gd name="adj" fmla="val 11429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153144" y="4306824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综合查询 · 两个仪表板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4023360" y="4626864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464808" y="4626864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8906256" y="4626864"/>
            <a:ext cx="20116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1783080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783080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2761488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2761488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3739896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739896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4718304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718304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5696712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696712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6675120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6675120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7653528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653528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1050" dirty="0"/>
          </a:p>
        </p:txBody>
      </p:sp>
      <p:sp>
        <p:nvSpPr>
          <p:cNvPr id="79" name="Shape 77"/>
          <p:cNvSpPr/>
          <p:nvPr/>
        </p:nvSpPr>
        <p:spPr>
          <a:xfrm>
            <a:off x="8631936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631936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</a:t>
            </a:r>
            <a:endParaRPr lang="en-US" sz="1050" dirty="0"/>
          </a:p>
        </p:txBody>
      </p:sp>
      <p:sp>
        <p:nvSpPr>
          <p:cNvPr id="81" name="Shape 79"/>
          <p:cNvSpPr/>
          <p:nvPr/>
        </p:nvSpPr>
        <p:spPr>
          <a:xfrm>
            <a:off x="9610344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9610344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</a:t>
            </a:r>
            <a:endParaRPr lang="en-US" sz="1050" dirty="0"/>
          </a:p>
        </p:txBody>
      </p:sp>
      <p:sp>
        <p:nvSpPr>
          <p:cNvPr id="83" name="Shape 81"/>
          <p:cNvSpPr/>
          <p:nvPr/>
        </p:nvSpPr>
        <p:spPr>
          <a:xfrm>
            <a:off x="10588752" y="538581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10588752" y="53858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</a:t>
            </a:r>
            <a:endParaRPr lang="en-US" sz="1050" dirty="0"/>
          </a:p>
        </p:txBody>
      </p:sp>
      <p:sp>
        <p:nvSpPr>
          <p:cNvPr id="85" name="Text 83"/>
          <p:cNvSpPr txBox="1"/>
          <p:nvPr/>
        </p:nvSpPr>
        <p:spPr>
          <a:xfrm>
            <a:off x="548640" y="61447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箭头 = 字段关联（不是接口）· 红标 = 系统拦截 · 售前项目挂已立项商机，交付项目挂已审批售前项目，销售合同在赢单后签订 · 商机编码是两侧唯一的锚点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方案：一个平台，一套数据，三层能力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2588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平台能力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（现成，零开发）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788920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88920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审批中心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58184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58184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27448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27448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活动时间线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96712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96712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汇总字段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665976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65976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公式字段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35240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35240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权限集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604504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04504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仪表板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573768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573768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导入导出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43032" y="146304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543032" y="1463040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记录锁定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2121408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1E7F2"/>
          </a:solidFill>
          <a:ln w="9525">
            <a:solidFill>
              <a:srgbClr val="E1E7F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212140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对象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（标准 + 扩展）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788920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788920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758184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758184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联系人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27448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727448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696712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696712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665976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65976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635240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635240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/ 活动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604504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604504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573768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573768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0543032" y="2258568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0543032" y="2258568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审批请求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48640" y="2916936"/>
            <a:ext cx="11094415" cy="1691640"/>
          </a:xfrm>
          <a:prstGeom prst="roundRect">
            <a:avLst>
              <a:gd name="adj" fmla="val 6486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7240" y="2916936"/>
            <a:ext cx="20116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项目对象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（本次新增 17 个）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278892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78892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25196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25196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71500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71500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717804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17804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人工服务成本行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64108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64108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第三方服务成本行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0104120" y="305409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0104120" y="305409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软硬件采购成本行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78892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78892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项目费用成本行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25196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425196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月度分解行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71500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71500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717804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17804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差旅成本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864108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864108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10104120" y="35570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0104120" y="35570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请假申请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278892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78892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25196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425196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71500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71500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7804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17804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8641080" y="405993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8641080" y="40599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548640" y="4718304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9525">
            <a:solidFill>
              <a:srgbClr val="F7F9FC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777240" y="4718304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（本次新增 3 项）</a:t>
            </a:r>
            <a:endParaRPr lang="en-US" sz="1350" dirty="0"/>
          </a:p>
        </p:txBody>
      </p:sp>
      <p:sp>
        <p:nvSpPr>
          <p:cNvPr id="83" name="Shape 81"/>
          <p:cNvSpPr/>
          <p:nvPr/>
        </p:nvSpPr>
        <p:spPr>
          <a:xfrm>
            <a:off x="2788920" y="4855464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5B6572"/>
          </a:solidFill>
          <a:ln w="12700">
            <a:solidFill>
              <a:srgbClr val="5B6572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2788920" y="48554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3758184" y="4855464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5B6572"/>
          </a:solidFill>
          <a:ln w="12700">
            <a:solidFill>
              <a:srgbClr val="5B6572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758184" y="48554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差旅标准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727448" y="4855464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5B6572"/>
          </a:solidFill>
          <a:ln w="12700">
            <a:solidFill>
              <a:srgbClr val="5B6572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4727448" y="4855464"/>
            <a:ext cx="9052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</a:t>
            </a:r>
            <a:endParaRPr lang="en-US" sz="1000" dirty="0"/>
          </a:p>
        </p:txBody>
      </p:sp>
      <p:sp>
        <p:nvSpPr>
          <p:cNvPr id="89" name="Text 87"/>
          <p:cNvSpPr txBox="1"/>
          <p:nvPr/>
        </p:nvSpPr>
        <p:spPr>
          <a:xfrm>
            <a:off x="548640" y="553212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商机编码 OPP-xxxx 是 CRM 与项目侧唯一的关联锚点：售前项目必须挂在已立项的商机上，交付项目必须挂在已审批的售前项目上；成本计划、工时、差旅、开票、收款都挂在交付项目下。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覆盖总览：每个环节做到了什么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步 · 36 基本实现 · 4 部分实现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85800"/>
                <a:gridCol w="6949440"/>
                <a:gridCol w="231343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系统里做到了什么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客户管理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1–5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客户分类 / 简称 / 统一社会信用代码 / 业务信息（主要服务商、IT 预算、付款周期、EAR、战略伙伴）；联系人角色与态度；附件；客户审批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线索管理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6–7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预计金额、需求类型；线索审批，通过后才转商机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商机立项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8–11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商机编码、是否投标、级别、优先级、可控性、立项 / 招标时间、分包；签约主体、业务分类、收入确认；背景说明；立项审批；招标代理与 EAR 拦截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商机跟进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12–14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阶段、任务、活动时间线；铁三角三个角色；赢单 / 丢单原因。状态变更目前不单独审批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部分实现（14 未实现）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售前立项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关联已立项商机、项目信息、五个角色、Bizcase 成本计划 → 四项成本、总成本、毛利率自动算、信息安全、审批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部分实现（20 为一级审批）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交付立项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21–26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关联已审批售前项目、成本中心与部门、五个角色、信息安全与附件、审批；「导入 Bizcase 预算」一键生成成本计划 v1 并冻结基线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成本计划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27–32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成本计划带版本；四类明细行各有算法与单价来源；系统按月分解；计划总额自动汇总；新建版本 + 预算调整审批，通过后新版本生效、旧版作废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部分实现（32 当前预算联动未完成）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成本执行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33–36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工时选费率卡自动取价、工时 × 费率算成本；请假审批后自动同步工时；出差申请与差旅关联；实际成本与预算消耗实时汇总；超预算禁填工时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5F1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部分实现（33 加班同步未实现）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项目报表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37–40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项目综合查询（进度、预算、成本、收入、开票、收款）；项目成本与项目财务两个仪表板；开票、收款、采购合同、销售订单（手工录入）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F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基本实现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演示数据：一家软件公司的一年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以软件企业为目标客户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29844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华软信息技术股份有限公司 —— 卖定制开发、实施、运维与咨询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制造 · 金融 · 医药 · 物流 · 能源 · 教育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2316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2316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242316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 → 已联系 → 已确认 → 未通过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9768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429768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每个阶段都有，5 赢 1 丢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7220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7220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里程碑 · 3-4-3 · 按月结算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4672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9A5F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7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 / 交付项目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13816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每个项目一份带版本的成本计划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921240" y="17373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921240" y="18288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9921240" y="253288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012680" y="284378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出差 · 5 请假 · 10 发票 · 7 收款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93776" y="3282696"/>
            <a:ext cx="4279392" cy="2715768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33" name="Image 0" descr="/home/user/hotcrm/docs/demo/psa-presales/R3-01-客户列表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337560"/>
            <a:ext cx="4169664" cy="260604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548640" y="6035040"/>
            <a:ext cx="4169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客户：14 家，行业与类型各不相同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7418527" y="3282696"/>
            <a:ext cx="4279392" cy="2715768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36" name="Image 1" descr="/home/user/hotcrm/docs/demo/psa-presales/R3-03-商机列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73391" y="3337560"/>
            <a:ext cx="4169664" cy="2606040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7473391" y="6035040"/>
            <a:ext cx="4169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进行中商机：谈判、提案、需求分析、资格审查、寻找客户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数据到了仪表板：销售业绩与项目健康度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37–39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销售业绩：本季度已成交 7,150,000、赢率 83%（5 赢 1 丢）、阶段管道分布、月度收入趋势——标准仪表板，数据一到就有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项目财务：合同额合计 10,650,000、已开票 5,120,000、已收款 4,035,000、采购合同 990,000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交付项目列表一眼看出健康度：北辰二期 47.65%、长江 DMS 16.85%、天启 TMS 已关闭 77.21%、华信数据中台 132%（超支）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9689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33-销售业绩仪表板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5176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43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销售业绩仪表板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59689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16-交付项目列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65176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5943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交付项目：预算基线、实际成本、预算消耗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822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243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第一部分 · CRM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231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 · 线索 · 商机 · 跟进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贵司需求表步骤 1–14：录入、审批、立项、跟单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02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089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751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638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2412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客户管理：分类、业务信息、附件、审批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1–5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录入即分类，分类即规则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2880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客户编码自动分配；客户分类（常规销售客户 / 招标代理公司 / 其他）、客户简称、统一社会信用代码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业务信息分组：当前主要服务商、本年度 IT 采购预算、付款周期、美国 EAR 管制清单、战略合作伙伴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联系人：性别、角色（决策者 / 影响者 / 采购…）、对我司态度、与销售关系强度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附件页签直接上传资质与合作背景资料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记录页顶部「发起审批」→ 记录锁定 → 通过后正式生效，才能关联商机与项目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74336" y="1316736"/>
            <a:ext cx="6720840" cy="4241673"/>
          </a:xfrm>
          <a:prstGeom prst="roundRect">
            <a:avLst>
              <a:gd name="adj" fmla="val 129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0" name="Image 0" descr="/home/user/hotcrm/docs/demo/psa-presales/S01b-客户详情-基本信息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611112" cy="413194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94985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客户详情：客户分类、客户简称、统一社会信用代码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线索到商机：需求形线索、跟单信息、立项审批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6–11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线索：预计金额、需求类型（软件开发 / 实施 / 运维 / 咨询），审批通过后才能转成商机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商机编码 OPP-xxxx 自动编号，是项管平台关联的锚点；跟单信息：是否投标、商机级别、优先级、可控性、客户立项时间、预计招标时间、分包信息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签约主体（独立主数据）、业务分类、收入确认类型；客户简介 / 项目背景 / 风险分析 / 付款条款按结构写在背景说明里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「发起立项审批」独立于标准产品按金额分档的审批；立项通过后才允许更新阶段、投标、赢丢单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68833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S06c-线索-预计金额与需求类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74320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35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线索：需求类型、预计金额、审批状态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68833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06-商机-招投标与签约主体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74320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6035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商机：跟单信息与签约主体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系统拦截：招标代理与 EAR 客户不能发起商机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 备注 · 步骤 3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招标代理及其他类客户仅可用于付款回款——新建商机时系统读取客户分类，直接拒绝并说明原因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EAR 管制清单：机器比对命中记为"疑似"，只提示不阻断；人工确认在列后，商机被拦截——机器不拦人，人拍板才拦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两条规则都是跨对象的门禁：读的是客户上的数据，作用在商机上；存量数据不受影响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505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S01d-拦截-招标代理不可发起商机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560320"/>
            <a:ext cx="5120640" cy="3200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852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①：招标代理客户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67551" y="2505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23-拦截-EAR确认在列不能发起商机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2560320"/>
            <a:ext cx="5120640" cy="3200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522415" y="5852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③：EAR 人工确认在列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审批：一个按钮发起，一个收件箱处理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5 · 7 · 11 · 20 · 26 · 32 · 34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发起：每个可审批对象的记录页顶部都有「发起审批」（商机是「发起立项审批」），只在草稿或已驳回时出现；点击确认后记录锁定、显示"审批中"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处理：待我审批 → 勾选 → 通过 N 条 → 确认；通过后自动回写审批状态与审批通过时间并通知负责人；转签、退回、催办、撤回在同一个面板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十条流程一个收件箱：客户 · 线索 · 商机立项 · 售前立项 · 交付立项 · 成本计划 · 预算调整 · 工时 · 出差 · 请假——每一行都写着记录和金额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审批状态、审批通过时间是只读字段：表单改不了，接口也写不进，只有按钮和审批流能写它，所以状态始终等于审批结果；驳回后按钮重新出现，修改后再发起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" y="273405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S05-客户-发起审批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78892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08063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记录页顶部的「发起审批」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9392" y="273405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S05-客户提交审批-审批中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34256" y="278892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34256" y="508063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确认后：记录锁定，审批中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65008" y="273405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5" name="Image 2" descr="/home/user/hotcrm/docs/demo/psa-presales/R4-35-待我审批-成本计划与预算调整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19872" y="278892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19872" y="508063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待我审批：十条流程在同一个收件箱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48640" y="5394960"/>
            <a:ext cx="11094415" cy="640080"/>
          </a:xfrm>
          <a:prstGeom prst="roundRect">
            <a:avLst>
              <a:gd name="adj" fmla="val 17143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5504688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生产上按贵司组织层级把审批人扩成多级，手势不变：发起 = 按钮 + 确认；处理 = 待我审批 → 勾选 → 通过。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商机跟进：阶段、任务、活动时间线与铁三角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12–14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阶段条直接推进阶段，赢单概率、预计金额随时改；每次变更自动写入活动时间线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右侧任务卡常驻：待办任务与活动（现场调研、方案汇报、投标答疑）挂在商机上，打开商机就能看到还有什么没做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铁三角：客户经理（AR）、解决方案经理（SR）、交付经理（FR）三个角色就地调整；赢单 / 丢单必须填原因（北辰 MES 二期：赢单原因 = 客户关系）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14 商机状态变更审批：未实现——赢单 / 弃单 / 铁三角调整目前不单独走审批；生产形态下铁三角做成商机团队对象 + 记录级共享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825496"/>
            <a:ext cx="5054803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46-商机详情-阶段条与右侧任务卡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80360"/>
            <a:ext cx="4945075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4945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商机详情：阶段条、金额与成交概率，右侧任务卡常驻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43116" y="2825496"/>
            <a:ext cx="5054803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47-商机详情-铁三角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980" y="2880360"/>
            <a:ext cx="4945075" cy="309067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980" y="6062472"/>
            <a:ext cx="4945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铁三角与赢单 / 输单分组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822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243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第二部分 · 项管平台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231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 · 交付 · 成本计划 · 成本执行 · 报表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贵司需求表步骤 15–40：立项、成本计划、成本执行与管控、项目报表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02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089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43559"/>
          </a:solidFill>
          <a:ln w="12700">
            <a:solidFill>
              <a:srgbClr val="24355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751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638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2412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售前立项：关联商机、角色、Bizcase 成本计划、审批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15–20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售前项目必须挂在已立项的商机上（选商机编码），所属客户随之带出；编号 PSP-xxxx；五个角色：客户经理、项目经理、项目总监、项目 QA、资源报价负责人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成本测算不再手填：人工服务成本、第三方服务成本、软硬件采购成本、项目费用四个数是 Bizcase 成本计划的汇总——华信这单 656,000 + 250,000 + 100,000 + 48,320 = 总成本 1,054,320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项目报价 1,400,000 一填，毛利率 24.69% 自动算；改 Bizcase 里任何一条明细，四项成本、总成本、毛利率当场跟着变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信息安全类别（公开 / 内部 / 秘密 / 机密）与安全备注；审批通过后才能立交付项目——今天一级审批，生产上按组织层级走五级（部分实现）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02-售前项目-成本测算与报价-来自Bizcase计划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34640"/>
            <a:ext cx="5018227" cy="31363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售前项目：四项成本来自 Bizcase 成本计划，总成本与毛利率自动算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69964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04-Bizcase成本计划-计划金额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24828" y="2834640"/>
            <a:ext cx="5018227" cy="31363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4828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Bizcase 成本计划：四类合计与其中差旅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交付立项：关联售前、导入 Bizcase 预算、审批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21–26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交付项目必须选一个已审批的售前项目，关联商机、所属客户自动带出；编号 DLV-xxxx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预算基线默认取售前 Bizcase 总额；页头「导入 Bizcase 预算」一键把已审批的 Bizcase 克隆成交付成本计划 v1 并冻结基线——之后基线不可改，已有计划的项目会拒绝第二次导入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实施成本中心、核算成本中心、对应部门可以不同（试点项目：实施华东、核算华北）；角色：项目经理、项目总监、资源报价负责人、分包 TS 填写人、QA 负责人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信息安全类别、附件上传开工确认单；交付立项审批通过后项目正式启动，成本计划、工时、差旅、开票、收款都挂在它下面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2-交付项目-页头-导入Bizcase预算按钮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34640"/>
            <a:ext cx="5018227" cy="31363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交付项目页头：「导入 Bizcase 预算」、预算基线、实际成本、预算消耗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69964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S23-成本中心与部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24828" y="2834640"/>
            <a:ext cx="5018227" cy="31363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4828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成本中心与部门、项目角色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成本计划：一个版本、四类明细、按月分解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27–31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成本计划（一个版本）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84708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挂在售前项目（Bizcase）或交付项目上；版本号、当前版本、冻结基线；计划总额和四类合计全部是汇总，没有一个是手填的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834640" y="2670048"/>
            <a:ext cx="0" cy="192024"/>
          </a:xfrm>
          <a:prstGeom prst="line">
            <a:avLst/>
          </a:prstGeom>
          <a:noFill/>
          <a:ln w="19050">
            <a:solidFill>
              <a:srgbClr val="9A5F16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288036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四类明细行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35584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人工服务 · 第三方服务 · 软硬件采购 · 项目费用——每一类有自己的输入项和单价来源，各带说明、起止月份、计划金额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834640" y="4178808"/>
            <a:ext cx="0" cy="192024"/>
          </a:xfrm>
          <a:prstGeom prst="line">
            <a:avLst/>
          </a:prstGeom>
          <a:noFill/>
          <a:ln w="19050">
            <a:solidFill>
              <a:srgbClr val="9A5F1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438912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4988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月度分解行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86460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保存一条明细行，系统按起止月份自动生成"一行一个月"的台账；改过的月份标为手工调整、重新分解时保留；所有合计和报表都读这张台账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5943600"/>
            <a:ext cx="4572000" cy="329184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94360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每个项目一份带版本的计划：Bizcase v1 · 交付 v1 · v2 …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40096" y="1316736"/>
            <a:ext cx="6355080" cy="4013073"/>
          </a:xfrm>
          <a:prstGeom prst="roundRect">
            <a:avLst>
              <a:gd name="adj" fmla="val 136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21" name="Image 0" descr="/home/user/hotcrm/docs/demo/psa-presales/R4-08-交付成本计划v1-相关-月度分解行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1371600"/>
            <a:ext cx="6245352" cy="390334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394960" y="5366385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交付成本计划 v1：月度分解行按成本类别、月份、金额逐行可查，改过的月份标"手工调整"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四类成本各有自己的算法与单价来源，系统按月分解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28–31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6720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011680"/>
                <a:gridCol w="1874520"/>
                <a:gridCol w="1508760"/>
              </a:tblGrid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明细行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填什么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单价从哪里来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每个月怎么算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人工服务成本行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岗位级别 / 费率卡、人数、每人每月工时、起止月份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费率卡：费率标准自动带出（不能手填），并按每个月生效的费率重新解析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人数 × 工时 × 当月费率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第三方服务成本行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供应商、计价方式（人月 / 人天 / 包干）、单价、人数、工期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供应商报价（手填），报价文件作为附件挂在计划上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人月：单价 × 人数逐月；人天 / 包干：平均摊到各月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软硬件采购成本行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采购品类（硬件 / 软件许可 / 云服务 / 维保）、产品、数量、单价、到货月份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选了产品，单价从产品价目带出；否则手填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一次性落在到货月；填了结束月份则平均分摊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项目费用成本行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费用类型；差旅填差旅标准、出差次数、每次人数、每次天数；报销类填预算金额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差旅标准：住宿、餐补、市内交通日标准 + 往返交通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出差次数 × 每次人数 ×（往返交通 + 天数 × 日标准）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88936" y="1271016"/>
            <a:ext cx="4206240" cy="2670048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0-人工服务成本行-费率卡带出费率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43800" y="1325880"/>
            <a:ext cx="4096512" cy="2560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543800" y="397764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人工服务成本行：费率标准 800 由费率卡带出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543800" y="4434840"/>
            <a:ext cx="4096512" cy="1691640"/>
          </a:xfrm>
          <a:prstGeom prst="roundRect">
            <a:avLst>
              <a:gd name="adj" fmla="val 6486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26680" y="4526280"/>
            <a:ext cx="3749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现场算一遍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高级工程师 × 2 · 每人每月 160 小时 · 费率 800 元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 2 × 160 × 800 = 256,000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月、9 月两行 → 计划金额 512,000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改人数或月份，各月金额与计划总额当场重算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预算变动做成「新版本 + 审批」，基线始终冻结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 · 32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27：交付项目页头「导入 Bizcase 预算」→ 以已审批的 Bizcase 克隆出交付成本计划 v1，基线冻结；已有计划的项目会拒绝第二次导入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32：已审批的计划不能改——在成本计划上「新建计划版本」得到 v2 草稿，在 v2 上增减明细行（华信一期：追加高级工程师 1 人 × 2 个月、两次现场差旅，共 270,160）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预算调整挂在 v2 上：调整金额由系统按"新版本总额 − 当前版本总额"写入，填调整原因与差异分析，「发起审批」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审批通过后 v2 成为当前版本、v1 标为已作废，交付项目的计划总额跟着变成 1,324,480；交付项目上「当前预算」的自动上调尚未完成——部分实现（手填金额的预算调整已正常联动）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" y="2871216"/>
            <a:ext cx="4981651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20-成本计划-新建计划版本-确认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926080"/>
            <a:ext cx="4871923" cy="304495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48719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「新建计划版本」：以当前版本为底稿克隆一个草稿版本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716268" y="2871216"/>
            <a:ext cx="4981651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28-预算调整-挂计划版本-金额自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71132" y="2926080"/>
            <a:ext cx="4871923" cy="304495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771132" y="6062472"/>
            <a:ext cx="48719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预算调整挂在 v2 上：调整金额 270,160 由系统按版本总额之差写入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审批一份成本计划，审的是差异，不是一个孤立的数字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32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发起审批那一刻，系统记下同一项目正在执行的版本，把它的各项金额抄到被提交的计划上：冻结基线、计划总额、四类合计、其中差旅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每一项都给出"本版本 / 当前执行版本 / 差异"三个数，计划总额还给出差异率：华信一期 v2 比 v1 多 270,160，差异率 25.62%，全部来自人工服务和差旅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差异由这一对金额算出，不会和上面的数字对不上；快照取在提交那一刻，记录就是"当时摆在审批人面前的是什么"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「待审批的成本计划」视图把在审的计划铺成一个队列，每类成本的差异都在行上，领导不用逐份打开就能排轻重缓急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27-成本计划v2-与当前版本对比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34640"/>
            <a:ext cx="5018227" cy="313639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 v2「与当前版本对比」：本版本 / 当前执行版本 / 差异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69964" y="2779776"/>
            <a:ext cx="5127955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30-待审批的成本计划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24828" y="2834640"/>
            <a:ext cx="5018227" cy="313639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24828" y="6062472"/>
            <a:ext cx="50182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「待审批的成本计划」：在审的版本一行一个，差异都在行上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成本闭环：从 Bizcase 到预算门禁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18 · 27–36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Bizcase 成本计划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四类明细 · 报价 → 毛利率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01568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 Bizcase 预算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交付成本计划 v1 · 冻结基线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54496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00216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月度分解行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一行一个月 · 费率逐月解析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07424" y="1371600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53144" y="1371600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计划总额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Σ 各月金额，自动汇总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 × 费率 · 只计已审批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401568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7288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差旅成本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必须挂已审批的出差单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54496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0216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人工实际 + 差旅实际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107424" y="2761488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53144" y="2761488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预算消耗 %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实际成本 ÷ 当前预算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07424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BE9EA"/>
          </a:solidFill>
          <a:ln w="9525">
            <a:solidFill>
              <a:srgbClr val="FBE9E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53144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 ≥ 当前预算？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B423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每次填报工时时比较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54496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B4232C"/>
          </a:solidFill>
          <a:ln w="9525">
            <a:solidFill>
              <a:srgbClr val="B4232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00216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拒绝新的工时填报，提示写明数字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401568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47288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新建计划版本 → 预算调整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 = 新版本 − 当前版本 · 发起审批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151376"/>
            <a:ext cx="2514600" cy="841248"/>
          </a:xfrm>
          <a:prstGeom prst="roundRect">
            <a:avLst>
              <a:gd name="adj" fmla="val 869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4151376"/>
            <a:ext cx="2423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审批通过</a:t>
            </a:r>
            <a:endParaRPr lang="en-US" sz="11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新版本生效 · 旧版作废 · 计划总额跟随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063240" y="1792224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916168" y="1792224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769096" y="1792224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3063240" y="3182112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916168" y="3182112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769096" y="3182112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10364724" y="3602736"/>
            <a:ext cx="0" cy="54864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>
            <a:off x="8769096" y="4572000"/>
            <a:ext cx="338328" cy="0"/>
          </a:xfrm>
          <a:prstGeom prst="line">
            <a:avLst/>
          </a:prstGeom>
          <a:noFill/>
          <a:ln w="15875">
            <a:solidFill>
              <a:srgbClr val="B4232C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 flipH="1">
            <a:off x="5916168" y="4572000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 flipH="1">
            <a:off x="3063240" y="4572000"/>
            <a:ext cx="338328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723376" y="4425696"/>
            <a:ext cx="310896" cy="274320"/>
          </a:xfrm>
          <a:prstGeom prst="roundRect">
            <a:avLst>
              <a:gd name="adj" fmla="val 50000"/>
            </a:avLst>
          </a:prstGeom>
          <a:solidFill>
            <a:srgbClr val="B4232C"/>
          </a:solidFill>
          <a:ln w="12700">
            <a:solidFill>
              <a:srgbClr val="B4232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23376" y="442569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656064" y="510235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E3F2E8"/>
          </a:solidFill>
          <a:ln w="12700">
            <a:solidFill>
              <a:srgbClr val="E3F2E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656064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 → 继续执行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584448" y="2359152"/>
            <a:ext cx="2148840" cy="256032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584448" y="23591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冻结基线 = 考核的尺子，之后不动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77240" y="539496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36 的现场提示：项目「华信数据中台 — 试点交付」成本已超预算（实际 264,000 ≥ 预算 200,000），工时填报已限制。整个闭环没有一步是月底对账，都是保存那一刻算的。* 版本化调整通过后「当前预算」的自动上调尚未完成；手填金额的预算调整已联动。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成本执行：工时、请假、出差与差旅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33–35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工时表：选岗位级别 / 费率卡，费率标准自动带出、不能手填；工时 × 费率 = 人工成本；标准工时 / 请假工时 / 加班工时三个数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请假申请审批通过后自动同步到申请人当月工时表：王强 3 天年假 → 请假工时 24、工时 176 → 152、人工成本 136,800（项目经理 900 元 / 小时）；加班工时目前手填（部分实现）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出差申请：目的地、起止日期（天数自动算）、事由、预计费用、审批；差旅成本关联出差单后自动带出项目、出差人、日期，实际费用汇总回出差单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交付项目不再是工时表的必填项——售前工时、考勤工时也能填；人工实际成本只计已审批的工时表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825496"/>
            <a:ext cx="5054803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41-工时表-请假同步-费率带出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880360"/>
            <a:ext cx="4945075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6062472"/>
            <a:ext cx="4945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工时表 TS-0007：请假工时 24、工时 152、人工成本 136,800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43116" y="2825496"/>
            <a:ext cx="5054803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18-出差申请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97980" y="2880360"/>
            <a:ext cx="4945075" cy="309067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7980" y="6062472"/>
            <a:ext cx="49450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出差申请：天数、预计费用、实际费用汇总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成本管控：实时汇总，超预算即拦截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系统盯着预算，而不是月底对账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2880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交付项目实时汇总人工实际成本、差旅实际成本 → 实际成本、预算消耗 %、预算差异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试点项目：基线 200,000，实际 264,000，预算消耗 132%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②：实际成本 ≥ 当前预算的项目，系统拒绝新的工时填报，并把数字写在提示里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④：出差申请未审批通过，不能登记差旅成本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预算追加走"新建计划版本 + 预算调整审批"，通过后填报自动放开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974336" y="1316736"/>
            <a:ext cx="6720840" cy="4241673"/>
          </a:xfrm>
          <a:prstGeom prst="roundRect">
            <a:avLst>
              <a:gd name="adj" fmla="val 1293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0" name="Image 0" descr="/home/user/hotcrm/docs/demo/psa-presales/S36-试点项目-超预算13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1371600"/>
            <a:ext cx="6611112" cy="413194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029200" y="5594985"/>
            <a:ext cx="6611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超预算项目：预算消耗 132%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两处成本侧拦截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35 · 36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93776" y="1362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8" name="Image 0" descr="/home/user/hotcrm/docs/demo/psa-presales/S36b-拦截-超预算禁填工时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5120640" cy="3200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709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②：项目成本已超预算，工时填报已限制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67551" y="1362456"/>
            <a:ext cx="5230368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1" name="Image 1" descr="/home/user/hotcrm/docs/demo/psa-presales/R2-22-拦截-出差未审批不能报差旅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2415" y="1417320"/>
            <a:ext cx="5120640" cy="3200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522415" y="4709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拦截 ④：出差申请尚未审批通过，不能登记差旅成本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77240" y="525780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两条提示都是系统在保存那一刻给出的，写明项目、实际与预算的数字或未审批的出差单；换一个健康项目或已审批的出差单即可保存。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合同与财务：开票、收款、采购合同、销售订单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 · 38 · 40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交付项目「合同与财务」分组：销售合同、合同额、项目进度 → 已确认收入；已开票、已收款、应收余额；采购合同总额、销售订单总额；项目毛利率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华信一期：合同额 1,400,000、进度 55% → 已确认收入 770,000；已开票 980,000、已收款 420,000、应收余额 560,000；项目毛利率 62.29%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开票：发票类型、号码、金额、税率、状态，收款汇总到发票、未收余额自动算；收款：收款方式、流水号、关联发票与销售合同</a:t>
            </a:r>
            <a:endParaRPr lang="en-US" sz="12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采购合同：供应商、类别（分包 / 软件 / 硬件）、已付 / 未付；销售订单：交付状态、验收日期。本阶段手工录入，财务系统对接放在后续阶段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3776" y="2734056"/>
            <a:ext cx="5084064" cy="3218688"/>
          </a:xfrm>
          <a:prstGeom prst="roundRect">
            <a:avLst>
              <a:gd name="adj" fmla="val 170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4-交付项目-合同与财务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788920"/>
            <a:ext cx="4974336" cy="31089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989320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交付项目：合同与财务分组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613855" y="2734056"/>
            <a:ext cx="5084064" cy="3218688"/>
          </a:xfrm>
          <a:prstGeom prst="roundRect">
            <a:avLst>
              <a:gd name="adj" fmla="val 170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2-13-开票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668719" y="2788920"/>
            <a:ext cx="4974336" cy="31089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68719" y="5989320"/>
            <a:ext cx="4974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开票列表：收款汇总与未收余额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财务链路：合同、开票、收款、采购，一张表看全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37–40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371600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销售合同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合同额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154680" y="1371600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00400" y="1371600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项目进度 %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项目经理维护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760720" y="1371600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06440" y="1371600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已确认收入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合同额 × 进度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880360" y="1746504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486400" y="1746504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239572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395728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开票（作废不计）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已开票金额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154680" y="239572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0" y="2395728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收款（对着发票核销）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已收款金额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760720" y="2395728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806440" y="2395728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应收余额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已开票 − 已收款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880360" y="2770632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486400" y="2770632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48640" y="3419856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94360" y="3419856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采购合同（终止不计）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采购合同总额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154680" y="3419856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C8842E"/>
          </a:solidFill>
          <a:ln w="9525">
            <a:solidFill>
              <a:srgbClr val="C8842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200400" y="3419856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销售订单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销售订单总额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443984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B3F6B"/>
          </a:solidFill>
          <a:ln w="9525">
            <a:solidFill>
              <a:srgbClr val="2B3F6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94360" y="4443984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实际成本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人工实际 + 差旅实际（见成本闭环）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154680" y="4443984"/>
            <a:ext cx="2331720" cy="749808"/>
          </a:xfrm>
          <a:prstGeom prst="roundRect">
            <a:avLst>
              <a:gd name="adj" fmla="val 9756"/>
            </a:avLst>
          </a:prstGeom>
          <a:solidFill>
            <a:srgbClr val="2F7D4F"/>
          </a:solidFill>
          <a:ln w="9525">
            <a:solidFill>
              <a:srgbClr val="2F7D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00400" y="4443984"/>
            <a:ext cx="2240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项目毛利率</a:t>
            </a:r>
            <a:endParaRPr lang="en-US" sz="11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=（合同额 − 实际成本）÷ 合同额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880360" y="4818888"/>
            <a:ext cx="274320" cy="0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714500" y="2121408"/>
            <a:ext cx="0" cy="256032"/>
          </a:xfrm>
          <a:prstGeom prst="line">
            <a:avLst/>
          </a:prstGeom>
          <a:noFill/>
          <a:ln w="15875">
            <a:solidFill>
              <a:srgbClr val="98A2B3"/>
            </a:solidFill>
            <a:prstDash val="dash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8641080" y="132588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汇到哪里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641080" y="173736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686800" y="173736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交付项目「合同与财务」分组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641080" y="260604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0" y="260604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交付项目列表「项目综合查询」视图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641080" y="347472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86800" y="347472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 · 已开票 · 已收款 · 采购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641080" y="4343400"/>
            <a:ext cx="2999232" cy="713232"/>
          </a:xfrm>
          <a:prstGeom prst="roundRect">
            <a:avLst>
              <a:gd name="adj" fmla="val 10256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686800" y="4343400"/>
            <a:ext cx="29077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项目成本仪表板：基线 · 实际 · 消耗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092440" y="1746504"/>
            <a:ext cx="548640" cy="34747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8092440" y="2770632"/>
            <a:ext cx="548640" cy="192024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5486400" y="3794760"/>
            <a:ext cx="3154680" cy="36576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5486400" y="4700016"/>
            <a:ext cx="3154680" cy="118872"/>
          </a:xfrm>
          <a:prstGeom prst="line">
            <a:avLst/>
          </a:prstGeom>
          <a:noFill/>
          <a:ln w="15875">
            <a:solidFill>
              <a:srgbClr val="98A2B3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548640" y="5532120"/>
            <a:ext cx="274320" cy="201168"/>
          </a:xfrm>
          <a:prstGeom prst="rect">
            <a:avLst/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1440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 对象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3474720" y="5532120"/>
            <a:ext cx="274320" cy="201168"/>
          </a:xfrm>
          <a:prstGeom prst="rect">
            <a:avLst/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84048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项目财务对象（手工录入）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6400800" y="5532120"/>
            <a:ext cx="274320" cy="201168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766560" y="550468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系统汇总 / 公式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项目报表：综合查询与两个仪表板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37–39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交付项目列表的「项目综合查询」视图：进度、当前预算、实际成本、预算消耗、合同额、已确认收入、已开票、已收款、应收余额、毛利率一行看全，可筛选、分组、导出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项目成本仪表板：总预算 7,541,020 / 人工实际 3,440,800 / 差旅实际 97,200 / 进行中项目 5；各项目预算基线 vs 计划总额 vs 人工实际，预算消耗表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项目财务仪表板：合同额合计 10,650,000 / 已开票 5,120,000 / 已收款 4,035,000 / 采购合同 990,000；各项目合同额 vs 开票 vs 收款，开票率与回款率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7-项目综合查询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项目综合查询：十项指标一行看全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9392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31-项目成本仪表板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34256" y="269748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34256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项目成本仪表板：七个交付项目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65008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5" name="Image 2" descr="/home/user/hotcrm/docs/demo/psa-presales/R4-32-项目财务仪表板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19872" y="269748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19872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项目财务仪表板：合同额、开票、收款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48640" y="54406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5559552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两个仪表板都是平台原生的数据集加组件：改指标、加磁贴不用写代码；列表视图可筛选、分组、导出，也能另存成贵司自己的查询视图。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869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主数据：费率卡、差旅标准与签约主体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9555480" y="530352"/>
            <a:ext cx="2084832" cy="47548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 w="12700">
            <a:solidFill>
              <a:srgbClr val="FBEF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55480" y="530352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步骤 9 · 18 · 28 · 31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258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费率卡：岗位级别 × 费率标准 × 生效区间一行，带小时费率、日费率与启用开关；工时表和人工服务成本行选了它就自动取价，费率变更集中管理、按月生效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差旅标准：按城市级别（一线 / 二线 / 三线 / 海外）给出住宿、餐补、市内交通的日标准与往返交通估算，差旅类项目费用按它计算</a:t>
            </a:r>
            <a:endParaRPr lang="en-US" sz="125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签约主体：我方法人公司主数据（名称、信用代码、法定代表人、开户行），商机与合同上选择；三者都在导航"主数据"组，管理员维护，业务人员只选不填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3776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9" name="Image 0" descr="/home/user/hotcrm/docs/demo/psa-presales/R4-19-费率卡-费率标准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697480"/>
            <a:ext cx="3520440" cy="22002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费率卡：岗位级别、费率标准、小时费率、生效区间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79392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2" name="Image 1" descr="/home/user/hotcrm/docs/demo/psa-presales/R4-18-差旅标准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34256" y="2697480"/>
            <a:ext cx="3520440" cy="22002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34256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差旅标准：城市级别的日标准与往返交通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65008" y="2642616"/>
            <a:ext cx="3630168" cy="2310003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76200" dist="25400" dir="5400000">
              <a:srgbClr val="1B2A41">
                <a:alpha val="16000"/>
              </a:srgbClr>
            </a:outerShdw>
          </a:effectLst>
        </p:spPr>
      </p:sp>
      <p:pic>
        <p:nvPicPr>
          <p:cNvPr id="15" name="Image 2" descr="/home/user/hotcrm/docs/demo/psa-presales/R2-03-签约主体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19872" y="2697480"/>
            <a:ext cx="3520440" cy="220027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119872" y="4989195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签约主体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48640" y="544068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77240" y="5559552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主数据集中维护、按生效区间取值：费率卡调价后，之后月份的人工计划与工时成本自动按新价算，历史月份不变——这就是贵司说的"岗位级别 × 费率标准"落在系统里的样子。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412480" y="822960"/>
            <a:ext cx="3291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0" b="1" dirty="0">
                <a:solidFill>
                  <a:srgbClr val="243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 · 边界与路线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231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简化说明 · 待答事项 · 推进路线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把演示里的简化说在前面，把落地的三个阶段说清楚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客户管理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02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202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线索管理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1089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089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商机立项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2B3F6B"/>
          </a:solidFill>
          <a:ln w="12700">
            <a:solidFill>
              <a:srgbClr val="2B3F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76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商机跟进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售前立项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67512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交付立项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6384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6384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5256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05256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成本执行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241280" y="4937760"/>
            <a:ext cx="1097280" cy="420624"/>
          </a:xfrm>
          <a:prstGeom prst="roundRect">
            <a:avLst>
              <a:gd name="adj" fmla="val 50000"/>
            </a:avLst>
          </a:prstGeom>
          <a:solidFill>
            <a:srgbClr val="C8842E"/>
          </a:solidFill>
          <a:ln w="12700">
            <a:solidFill>
              <a:srgbClr val="C8842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493776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项目报表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本次演示的简化与后续形态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480560"/>
                <a:gridCol w="39593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本次演示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后续形态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五级售前审批（20）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一级审批（部分实现）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五个审批节点串联，按组织层级自动路由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商机状态变更审批（14）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未单独审批（未实现）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赢单 / 弃单 / 铁三角调整走审批流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预算调整联动（32）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版本化调整通过后新版本生效、计划总额更新；「当前预算」联动未完成（部分实现）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完成后同一按钮、同一收件箱；手填金额的调整已正常联动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铁三角（13）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商机上三个人员字段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商机团队对象 + 记录级共享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请假 / 加班同步（33）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请假按工作日 × 8 小时自动同步；加班手填（部分实现）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对接考勤系统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报销单据（35）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差旅成本记报销单据号，手工录入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对接费控系统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开票 / 收款（37 / 38）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系统内对象，手工录入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对接财务系统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审批发起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记录页「发起审批」按钮，审批状态只读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同一机制，按对象配置审批人与层级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演示数据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一家软件公司：14 客户 / 13 商机 / 7 交付项目 / 15 份成本计划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导入贵司真实客户、项目、费率卡与差旅标准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建议的推进路线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HotCRM · 项目型销售与项目管理一体化 · 华信案例演示 · 2026 年 9 月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93592" cy="4754880"/>
          </a:xfrm>
          <a:prstGeom prst="roundRect">
            <a:avLst>
              <a:gd name="adj" fmla="val 3053"/>
            </a:avLst>
          </a:prstGeom>
          <a:solidFill>
            <a:srgbClr val="FBEFD9"/>
          </a:solidFill>
          <a:ln w="9525">
            <a:solidFill>
              <a:srgbClr val="FBEF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5F1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阶段一 · 试点上线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本次演示范围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6888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与贵司确认五个口径：跟进记录形态、开票 / 回款归属、线索形态、EAR 判定方式、立项审批与金额审批的关系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完成预算调整的「当前预算」联动；按贵司组织与岗位配置审批人、权限、费率卡、差旅标准、签约主体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一个事业部、一批真实项目试运行：先把 Bizcase 编进成本计划，再导入交付项目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1371600"/>
            <a:ext cx="3593592" cy="4754880"/>
          </a:xfrm>
          <a:prstGeom prst="roundRect">
            <a:avLst>
              <a:gd name="adj" fmla="val 305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554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阶段二 · 深化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011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规则与协同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46888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五级售前审批按组织层级路由；商机状态变更审批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铁三角商机团队与记录级共享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预算多级审批、费率卡版本、售前工时口径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1371600"/>
            <a:ext cx="3593592" cy="4754880"/>
          </a:xfrm>
          <a:prstGeom prst="roundRect">
            <a:avLst>
              <a:gd name="adj" fmla="val 3053"/>
            </a:avLst>
          </a:prstGeom>
          <a:solidFill>
            <a:srgbClr val="EEF2F8"/>
          </a:solidFill>
          <a:ln w="9525">
            <a:solidFill>
              <a:srgbClr val="EEF2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554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阶段三 · 集成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116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5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打通外部系统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468880"/>
            <a:ext cx="306324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考勤：请假 / 加班自动同步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费控：报销单据回写差旅成本</a:t>
            </a:r>
            <a:endParaRPr lang="en-US" sz="12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财务：开票、收款自动进系统；合同额、收入口径统一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371600"/>
            <a:ext cx="106984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贵司 40 步流程里，客户、线索、商机、审批中心、附件、跟进、赢丢单是现成的 CRM 能力；售前立项、交付立项、成本计划、工时与差旅、财务与报表这 26 步，是在同一个平台、同一套数据里长出来的。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9A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成本计划按贵司要求做成了带版本、四类明细、按月分解的形态——这也是它能成为软件行业项目型销售标准模板的原因。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120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下一步：确认五个口径 → 划定试点范围 → 给出排期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项目型销售与项目管理一体化 — 华信案例演示汇报</dc:title>
  <dc:subject>PptxGenJS Presentation</dc:subject>
  <dc:creator>HotCRM 售前团队</dc:creator>
  <cp:lastModifiedBy>HotCRM 售前团队</cp:lastModifiedBy>
  <cp:revision>1</cp:revision>
  <dcterms:created xsi:type="dcterms:W3CDTF">2026-09-16T15:55:52Z</dcterms:created>
  <dcterms:modified xsi:type="dcterms:W3CDTF">2026-09-16T15:55:52Z</dcterms:modified>
</cp:coreProperties>
</file>