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各位好。今天这场演示只讲一件事：贵司给我们的那张 40 步、9 个环节的业务流程表，怎样在一个平台、一套数据里从头跑到尾。表里把它分成了 CRM 和项管平台两个系统，今天大家会看到，它们其实是同一个系统里的两组业务对象。成本计划按贵司的要求做成了带版本、四类明细、按月分解的形态，审批的发起是记录上的一个按钮，这两处后面会重点看。下面 40 分钟我按贵司流程表的顺序走，每一页右上角都标着对应的步骤号。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先给结论。40 步都在同一个平台、同一套数据里跑起来了：36 步基本实现，主体功能今天可以现场演示，细节还在打磨，欢迎各位边看边提；4 步部分实现——商机状态变更还不单独审批，售前审批今天是一级、生产上走五级，成本计划新版本的预算调整通过后「当前预算」的联动还没有完成，加班工时还是手填。为此新建了 20 个业务对象、10 条审批流、4 处系统拦截加 2 处冻结，全部跑在同一个审批中心里。怎么做到的：不做两套系统再做接口，而是把项目管理长在 CRM 的对象上，商机编码是两侧唯一的锚点；业务规则落在系统里而不是制度里；汇总和公式都是实时算的。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贵司的需求表本身分成两个系统：14 步在 CRM，26 步在项管平台，但项管侧每一步都要读 CRM 里的商机——所以方案不是两个系统对接，而是同一个平台上的一组业务对象，这张泳道图就是它的样子。五条泳道是五种角色。销售泳道是 CRM：线索、客户、商机立项、商机跟进；商机立项那里标着拦截①③——招标代理客户和 EAR 确认在列的客户发不起商机。售前泳道是售前项目和它的 Bizcase 成本计划：四类明细、报价、毛利率都在计划上。交付泳道从交付项目开始：点「导入 Bizcase 预算」得到交付成本计划第 1 版并冻结基线，明细按月分解；工时和差旅是实际成本——拦截②④在这里：超预算不能填工时，出差没审批不能登记差旅；预算要变就做新版本、走预算调整审批。财务泳道从赢单后的销售合同开始，合同额乘进度得到已确认收入，开票收款得到应收余额，采购和订单进毛利率，最后落到项目报表。最下面是审批中心：十条流程一个收件箱。请各位记住一件事：这条链上每一个箭头都是字段关联，不是接口——商机编码是唯一的锚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三层。最上面是平台自带的能力：审批中心、附件、活动时间线、汇总字段、公式字段、权限、仪表板、导入导出、记录锁定——这一层零开发。中间是 CRM 的标准对象加字段：客户、联系人、线索、商机、销售合同这些。底下是本次为贵司流程新建的 17 个项目对象——包括成本计划、四类成本明细行和月度分解行——再加费率卡、差旅标准、签约主体三项主数据。串起三层的是商机编码：售前项目必须挂在已立项的商机上，交付项目必须挂在已审批的售前项目上，成本、工时、差旅、开票、收款都挂在交付项目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逐环节说清做到了什么，各位可以对照自己那张表看。绿色是基本实现——主体功能今天可以演示，细节还在打磨，欢迎各位边看边提；橙色是部分实现，四处：商机状态变更目前不单独审批；售前审批今天是一级，生产上按贵司组织层级走五级；成本计划的新版本预算调整审批通过后，新版本已经生效、计划总额也跟着变了，但交付项目上「当前预算」这一个数的联动还没有完成；成本执行里请假同步已经做了，加班同步还是手填。项目报表环节的开票、收款是手工录入，对接财务系统放在后续阶段。接下来按环节一个个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演示环境里是一家叫华软股份的软件公司一年的业务：14 家客户横跨制造、金融、医药、物流、能源、教育；14 条线索从新建到未通过都有；13 个商机每个阶段都有，5 赢 1 丢；6 份合同、8 个售前 Bizcase、7 个交付项目，每个项目都带一份有版本的成本计划，还有它们的工时、出差、请假、开票、收款。意思是各位待会儿看到的每张列表、每个仪表板都有数，讲到哪里都可以随手点开。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数据一多，仪表板自然就成型。左边是标准的销售业绩仪表板：本季度已成交 715 万、赢率 83%、阶段分布、月度收入趋势——这些都是平台原生的，数据一到就有。右边是交付项目列表，健康度一眼看出：北辰二期消耗 47.65%、长江 DMS 刚开始 16.85%、天启 TMS 已关闭 77.21%，华信数据中台 132% 是超支的那个，后面成本管控环节会用到它。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 CRM 侧的 14 步：客户管理、线索管理、商机立项、商机跟进。这一段大多是标准 CRM 能力加贵司要的字段和审批，重点看三处系统拦截和审批的手势。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进入第一个环节，步骤 1 到 5。此时切到系统，打开华信科技这家客户。客户编码自动分配；基本信息里有贵司要的客户分类、客户简称、统一社会信用代码。往下是业务信息分组：当前主要服务商、本年度 IT 采购预算、付款周期、美国 EAR 管制清单、战略合作伙伴。联系人多了性别、角色、对我司态度、与销售关系强度四个字段。附件页签直接拖资料进来。客户点「发起审批」后记录锁定，通过后才正式生效——审批怎么发起，后面专门有一页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6 到 11。线索是「需求形」的：预计金额、需求类型是贵司要的，审批通过后才转商机。商机上最重要的是商机编码——它是项管平台关联的锚点。跟单信息里有是否投标、商机级别、优先级、可控性、客户立项时间、预计招标时间、分包信息；签约主体是独立主数据，业务分类、收入确认类型都在。客户简介、项目背景、风险、付款条款按结构写在背景说明里。「发起立项审批」独立于标准产品按金额分档的审批，立项通过后才允许更新阶段、投标和赢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这页是两条规则由系统执行的样子。现场演示：新建商机，所属客户选中招国际——招标代理公司——点创建，系统直接拒绝，提示写明「仅可用于付款回款，无法发起商机」。第二条是 EAR：机器比对命中只记为「疑似」，只提示不阻断；把东方联合银行改成「人工确认在列」再建商机，就被拦下。一句话：机器不拦人，人拍板才拦。两条规则读的是客户上的数据，作用在商机上，存量数据不受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所有审批的手势都一样。发起：记录页顶部点「发起审批」、确认。处理：我的工作 → 待我审批，勾选，通过 N 条，确认；通过后系统回写状态和审批时间，并通知负责人。转签、退回修改、退回补充、催办、撤回都在同一个面板。今天十条流程——客户、线索、商机立项、售前立项、交付立项、成本计划、预算调整、工时、出差、请假——全在这一个收件箱里；左图就是成本计划审批和预算调整审批并排等着处理，每一行都写着记录和金额。生产上按贵司组织层级扩成多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审批的发起我们做成了一个按钮，而不是编辑记录去改状态。每个可审批对象的记录页顶部都有「发起审批」，商机上叫「发起立项审批」；按钮只在草稿或已驳回时出现，点了弹确认框，确认后记录立刻锁定、显示审批中。审批状态和审批通过时间是只读字段——表单里看得到、改不了，只由按钮和审批流来写。驳回后按钮重新出现，改完再发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审批画成三条泳道：发起人、系统、审批人。发起人只做三件事——打开记录、点「发起审批」、确认；商机上这个按钮叫「发起立项审批」。系统把状态置为已提交、锁定记录、生成审批请求并路由到审批人。审批人在待我审批里勾选、通过 N 条或拒绝。系统随后回写审批状态与审批日期、解锁记录、通知负责人；驳回的记录可以修改后再次发起。要强调两条原则：第一，审批状态字段是只读的，表单和接口都改不了，只有按钮和审批流能改它，所以状态始终等于审批结果，不会出现"手工改成已通过"的漏洞；第二，十条流程共用一个审批中心、一套手势，审批人不需要学十种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12 到 14。跟进不靠记忆：阶段条直接推进阶段，每次变更自动写进活动时间线；待办任务和活动挂在商机上，右侧任务卡常驻。铁三角——客户经理、解决方案经理、交付经理——三个角色就地调整。赢单、丢单必须填原因。北辰 MES 二期是已成交商机，赢单原因是客户关系。步骤 14 的状态变更审批目前没有做：赢单、弃单、调整铁三角还不单独走审批，这一步我们如实标为未实现。生产形态下铁三角会做成商机团队对象加记录级共享，团队成员自动获得可见性。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第二部分是项管平台侧的 26 步，也是本次新增的部分：售前立项、交付立项、成本计划、成本执行、项目报表。每一步都读 CRM 的商机，这是把它们放在同一个平台上的原因。这一部分的重点是成本计划：带版本、四类明细、按月分解。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进入项管平台，步骤 15 到 20。售前项目必须挂在已立项的商机上，选商机编码，客户随之带出，编号 PSP。五个角色齐全。成本测算这里要说明一下：四项成本不是手填的四个数，而是这个售前项目下 Bizcase 成本计划的汇总——人工服务 65.6 万、第三方服务 25 万、软硬件采购 10 万、项目费用 4.8 万，总成本 105.4 万；报价 140 万，毛利率 24.69% 自动算出来。现场可以打开 Bizcase 计划改任何一条明细，回到售前项目，四项成本、总成本、毛利率都跟着变，这是汇总和公式，不是报表。信息安全类别和安全备注在下面。审批通过后才能立交付项目——今天演示一级审批，五级路由留到生产配置，所以这一步算部分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21 到 26。交付项目必须选一个已审批的售前项目，商机和客户自动带出。预算基线默认取售前 Bizcase 的总额；真正把它定下来的是页头这个「导入 Bizcase 预算」按钮：点一下，已审批的 Bizcase 被整套克隆成交付成本计划第 1 版，基线同时冻结——之后谁也改不了基线，已经有计划的项目再点会被拒绝。实施成本中心、核算成本中心、对应部门可以不同——试点项目就是实施华东、核算华北。角色、信息安全、附件都在。页头的基线、实际成本、预算消耗三个数字是平台汇总的，不用人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到 31，成本计划分三层。最上面是成本计划本身，它是"一个版本"：挂在售前项目上就是 Bizcase，挂在交付项目上就是交付计划；有版本号、当前版本、冻结基线；计划总额和人工、第三方、采购、费用四类合计全是汇总出来的，没有一个是手填的。中间是四类明细行，贵司需求表里四个配置界面对应四个对象，因为四类成本的算法和单价来源各不相同，下一页展开。最底下是月度分解行：保存一条明细行，系统按起止月份自动生成一行一个月的台账，右边截图就是华信一期交付计划的台账——成本类别、月份、金额逐行可查；改过某个月，它就标成手工调整，重新分解也不会覆盖。所有合计、售前项目的四项成本、交付项目的计划总额、项目成本仪表板，读的都是这张台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类明细行为什么是四个对象——因为四类成本的算法和单价来源各不相同。人工服务：填岗位级别、人数、每人每月工时和起止月份，费率标准从费率卡自动带出、不能手填，而且每个月按当月生效的费率解析，项目中途调整费率卡，后面的月份自动按新费率算。第三方服务：供应商报价手填，计价方式人月、人天或包干，人月是单价乘人数逐月落，人天和包干平均摊。软硬件采购：品类、数量、单价，选了产品单价从价目带出，一次性采购落在到货月，维保或订阅填了结束月份就平均分摊。项目费用：差旅按差旅标准算——出差次数乘每次人数，乘往返交通加天数乘日标准；会议、培训这些报销类直接填预算金额。右边现场算一遍：高级工程师两人、每人每月 160 小时、费率 800，每月 25.6 万，8、9 两个月就是 51.2 万；改人数或月份，各月金额和计划总额当场重算。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和 32 放在一起讲，因为它们是同一件事的两头。27 是起点：交付项目页头点「导入 Bizcase 预算」，已审批的 Bizcase 整套克隆成交付计划第 1 版，基线冻结，之后基线不再变动，考核就有了尺子。32 是变动：已审批的计划不能改，要变就在成本计划上点「新建计划版本」，得到 v2 草稿——左图是那个确认框。在 v2 上增减明细，华信一期追加了高级工程师一人两个月和两次现场差旅，一共 27 万。然后建一条预算调整挂在 v2 上：右图，调整金额 270,160 不是人填的，是系统按新版本总额减当前版本总额写进去的；填原因和差异分析，发起审批。通过之后 v2 成为当前版本、v1 作废，交付项目的计划总额跟着变成 132.4 万。这里要如实说一句：交付项目上「当前预算」这个数的自动上调还没有完成，所以这一步我们写的是部分实现；手填金额的预算调整审批通过后，当前预算是正常上调的。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领导审一份成本计划，真正要判断的是这一版和项目当下正在执行的那一版差在哪里。所以发起审批那一刻，系统记下同一项目正在执行的版本，把它的各项金额抄到被提交的计划上——冻结基线、计划总额、四类合计、其中差旅，每一项给出本版本、当前执行版本、差异三个数，计划总额还给差异率。左图：华信一期 v2 比 v1 多 27 万，差异率 25.62%，全部来自人工服务和差旅，第三方和采购差异为零。差异由这一对金额算出，不会和上面的数对不上；快照取在提交那一刻，也正是明细行和月份被冻结的那一刻，记录就是"当时摆在审批人面前的是什么"。右图是「待审批的成本计划」视图，在审的版本一行一个，差异都在行上，领导不用逐份打开就能排轻重缓急。项目的第一份计划没有可比对象，差异就是全额新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成本闭环一共三段。第一段是计划：Bizcase 成本计划在交付立项时通过「导入 Bizcase 预算」成为交付计划第 1 版，基线冻结——这把尺子之后不动；明细按月分解，计划总额自动汇总。第二段是执行：工时表用工时乘费率算人工成本，只有审批通过的才计入；差旅成本必须挂在审批通过的出差申请上；两者相加是实际成本，除以当前预算是预算消耗。第三段是控制：系统在每次填报工时时比较实际和当前预算，超过就拒绝，这就是步骤 36 现场会看到的那条提示；出路是新建计划版本、走预算调整审批，通过后新版本生效、旧版作废，计划总额跟着新版本走，填报自动放开。整个闭环没有一步是月底对账，都是保存时计算。当前预算那一个数的联动还没有完成，上一页说过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33 到 35。工时表选岗位级别，费率标准自动从费率卡带出，不能手填；工时乘费率就是人工成本，还有标准工时、请假工时、加班工时三个数。贵司写的「请假、加班申请同步后自动更新」，请假这一半做了：王强 3 天年假审批通过后，他当月工时表的请假工时自动变 24，工时 176 变 152，成本重算成 136,800；加班工时目前还是手填，所以这一步算部分实现。出差申请有目的地、起止日期、事由、预计费用，差旅成本关联出差单后自动带出项目、出差人、日期，实际费用汇总回出差单。工时表不再要求必须挂交付项目，售前工时也能填；人工实际成本只计已审批的工时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36。系统盯着预算，而不是月底对账：交付项目实时汇总人工实际和差旅实际，得出实际成本、预算消耗、预算差异。试点项目基线 20 万，实际 26.4 万，消耗 132%。对这样的项目，拦截②：新填工时被拒，并把数字写在提示里；拦截④：出差没审批通过，差旅成本登记不了。预算追加走新建计划版本加预算调整审批，通过后填报自动放开。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两张截图就是现场会看到的提示。左边：新建工时表选试点项目，系统写明「实际 264,000 大于等于预算 200,000，工时填报已限制」。右边：差旅成本关联一张草稿出差单，系统提示「尚未审批通过，不能登记差旅成本」。两条提示都是保存那一刻由系统给出的，换一个健康项目或已审批的出差单即可保存。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37、38、40。交付项目的「合同与财务」分组一页看全：销售合同、合同额、项目进度推出已确认收入；已开票、已收款、应收余额；采购合同总额、销售订单总额；项目毛利率。华信一期：合同 140 万，进度 55%，已确认收入 77 万；已开票 98 万，已收款 42 万，应收 56 万；毛利率 62.29%。开票、收款、采购合同、销售订单都是独立对象，收款还关联到销售合同；本阶段手工录入，对接财务、费控、考勤放在后续阶段。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链路四行。第一行：销售合同的合同额乘项目进度得到已确认收入，进度由项目经理维护。第二行：开票汇总成已开票金额，作废的不算；收款对着发票核销，汇总成已收款金额；两者之差是应收余额。第三行：采购合同和销售订单各自汇总，终止的采购合同不算。第四行：成本闭环里算出来的实际成本和合同额算出项目毛利率。右边是这些数汇到哪里——交付项目的「合同与财务」分组、项目综合查询视图、项目财务仪表板和项目成本仪表板。这四种财务单据今天是手工录入，生产环境接财务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 到 39。交付项目列表切到「项目综合查询」视图：进度、当前预算、实际成本、预算消耗、合同额、已确认收入、开票、收款、应收、毛利率一行看全，可筛选、分组、导出。项目成本仪表板看基线、计划、实际和消耗率——总预算 754 万、人工实际 344 万；项目财务仪表板看合同额、开票、收款和采购——合同额 1065 万、已开票 512 万、已收款 403.5 万。两个仪表板都是平台原生的数据集加组件，改指标不用写代码。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贵司步骤 18、28 说的岗位级别和费率标准，就是费率卡：岗位级别乘费率标准乘生效区间一行，带小时费率、日费率和启用开关，工时表和人工服务成本行选了它就自动取价，费率变更集中管理、按月生效。步骤 31 的差旅预算靠差旅标准：按城市级别给出住宿、餐补、市内交通的日标准和往返交通估算，差旅类项目费用按它算。步骤 9 说的签约主体是我方法人公司的主数据——名称、信用代码、法定代表人、开户行——商机和合同上选择。三者都在导航的「主数据」组，管理员维护，业务人员只选不填。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最后一部分说边界：今天演示里哪些是刻意简化的、生产形态是什么、需要贵司回答哪几件事，以及建议的三阶段路线。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简化说在前面。售前审批今天一级，生产五级串联、按组织层级自动路由；商机状态变更审批未做；成本计划版本化的预算调整，审批通过后新版本已经生效、计划总额也更新了，「当前预算」这一个数的联动还没有完成；铁三角做成团队对象加共享；请假同步今天按工作日乘 8 小时算，加班手填，后续对接考勤；报销单据、开票收款后续对接费控和财务。审批发起已经改成按钮加只读状态。演示数据是一家软件公司的样子，上线时换成贵司真实的客户、项目、费率卡和差旅标准。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三个阶段。阶段一试点上线，就是今天演示的范围，先和贵司确认五个口径：跟进记录形态、开票回款归属、线索形态、EAR 判定方式、立项审批与金额审批的关系；我们这边完成预算调整的当前预算联动，然后按组织和岗位配置审批人、权限、费率卡、差旅标准、签约主体，选一个事业部一批真实项目试运行——先把 Bizcase 编进成本计划，再导入交付项目。阶段二做规则和协同：五级审批、状态变更审批、铁三角共享、预算多级审批。阶段三打通考勤、费控、财务三个外部系统。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完成一句话：贵司 40 步流程里，客户、线索、商机、审批中心、附件、跟进、赢丢单是现成的 CRM 能力；售前立项、交付立项、成本计划、工时与差旅、财务与报表这 26 步，是在同一个平台、同一套数据里长出来的；成本计划按贵司要求做成了带版本、四类明细、按月分解的形态——这也是它能成为软件行业项目型销售标准模板的原因。下一步三个动作：确认五个口径，划定试点范围，我们给出排期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平台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202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412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 40 步流程：36 步基本实现、4 步部分实现，细节仍在打磨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需求表步骤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个业务环节 · 两个系统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9768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基本实现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主体功能可现场演示，细节持续打磨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部分实现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状态变更审批（14）· 五级审批（20）· 版本调整的预算联动（32）· 加班同步（33）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新建业务对象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个项目对象 + 3 项主数据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条审批流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同一个审批中心、同一套手势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4672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+ 2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处系统拦截 + 冻结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 · EAR · 超预算 · 出差未批 ｜ 已审批的计划、冻结基线不可改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26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不做两套系统再做接口：CRM 与项目管理是同一个平台上的一组业务对象，商机编码是两侧唯一的关联锚点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业务规则落在系统里而不是制度里：拦截与冻结由系统在保存那一刻执行，存量数据不受影响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汇总与公式实时计算：Bizcase 总成本、毛利率、计划总额、实际成本、预算消耗、应收余额都不用人算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一个审批中心：客户、线索、商机立项、售前、交付、成本计划、预算调整、工时、出差、请假十条流程在同一个收件箱处理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端到端业务流程：从线索到回款，一条数据链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1–40 · 泳道图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896112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276856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227832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600200" y="4178808"/>
            <a:ext cx="10042855" cy="896112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00200" y="5129784"/>
            <a:ext cx="10042855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28800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24528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70248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 · 审批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65976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11696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招投标 · 签约主体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46136" y="130759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46136" y="1307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①③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07424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53144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 · 赢单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23360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64808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906256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65976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关联已立项商机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107424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53144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· 毛利率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86116" y="2093976"/>
            <a:ext cx="0" cy="31089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906256" y="2724912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783080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828800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挂已审批售前 · 导入 Bizcase 预算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24528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70248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成本计划版本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按月分解 · 冻结基线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665976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11696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差旅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 · 预算消耗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946136" y="320954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②④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07424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53144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 · 审批后生效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023360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464808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906256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783080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828800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销售合同（赢单后）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 · 进度 → 已确认收入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224528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0248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 → 收款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665976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711696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 · 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107424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153144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两个仪表板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023360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464808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906256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78308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8308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76148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76148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373989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73989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471830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71830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69671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69671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67512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67512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765352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65352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863193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3193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961034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61034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058875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58875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 = 字段关联（不是接口）· 红标 = 系统拦截 · 售前项目挂已立项商机，交付项目挂已审批售前项目，销售合同在赢单后签订 · 商机编码是两侧唯一的锚点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方案：一个平台，一套数据，三层能力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平台能力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（现成，零开发）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78892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5818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5818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2744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2744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9671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9671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65976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65976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0450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0450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7376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7376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4303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4303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121408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E7F2"/>
          </a:solidFill>
          <a:ln w="9525">
            <a:solidFill>
              <a:srgbClr val="E1E7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212140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（标准 + 扩展）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78892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8892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5818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5818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2744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2744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9671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9671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65976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5976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0450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0450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7376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7376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4303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4303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审批请求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2916936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2916936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17 个）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27889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5196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5196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71500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1500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7804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64108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4108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第三方服务成本行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1041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1041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软硬件采购成本行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7889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项目费用成本行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25196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5196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71500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1500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17804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17804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64108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4108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1041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1041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8892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78892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25196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25196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71500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71500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7804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17804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64108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4108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" y="4718304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77240" y="471830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3 项）</a:t>
            </a:r>
            <a:endParaRPr lang="en-US" sz="1350" dirty="0"/>
          </a:p>
        </p:txBody>
      </p:sp>
      <p:sp>
        <p:nvSpPr>
          <p:cNvPr id="83" name="Shape 81"/>
          <p:cNvSpPr/>
          <p:nvPr/>
        </p:nvSpPr>
        <p:spPr>
          <a:xfrm>
            <a:off x="2788920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788920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758184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758184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727448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727448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55321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是 CRM 与项目侧唯一的关联锚点：售前项目必须挂在已立项的商机上，交付项目必须挂在已审批的售前项目上；成本计划、工时、差旅、开票、收款都挂在交付项目下。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覆盖总览：每个环节做到了什么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步 · 36 基本实现 · 4 部分实现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6949440"/>
                <a:gridCol w="2313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系统里做到了什么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客户分类 / 简称 / 统一社会信用代码 / 业务信息（主要服务商、IT 预算、付款周期、EAR、战略伙伴）；联系人角色与态度；附件；客户审批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预计金额、需求类型；线索审批，通过后才转商机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商机跟进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阶段、任务、活动时间线；铁三角三个角色；赢单 / 丢单原因。状态变更目前不单独审批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部分实现（14 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关联已立项商机、项目信息、五个角色、Bizcase 成本计划 → 四项成本、总成本、毛利率自动算、信息安全、审批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部分实现（20 为一级审批）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关联已审批售前项目、成本中心与部门、五个角色、信息安全与附件、审批；「导入 Bizcase 预算」一键生成成本计划 v1 并冻结基线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27–32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成本计划带版本；四类明细行各有算法与单价来源；系统按月分解；计划总额自动汇总；新建版本 + 预算调整审批，通过后新版本生效、旧版作废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部分实现（32 当前预算联动未完成）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33–36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工时选费率卡自动取价、工时 × 费率算成本；请假审批后自动同步工时；出差申请与差旅关联；实际成本与预算消耗实时汇总；超预算禁填工时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部分实现（33 加班同步未实现）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项目报表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37–40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项目综合查询（进度、预算、成本、收入、开票、收款）；项目成本与项目财务两个仪表板；开票、收款、采购合同、销售订单（手工录入）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演示数据：一家软件公司的一年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以软件企业为目标客户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9844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华软信息技术股份有限公司 —— 卖定制开发、实施、运维与咨询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 · 金融 · 医药 · 物流 · 能源 · 教育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 → 已联系 → 已确认 → 未通过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每个阶段都有，5 赢 1 丢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· 3-4-3 · 按月结算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7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/ 交付项目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每个项目一份带版本的成本计划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9212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出差 · 5 请假 · 10 发票 · 7 收款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3" name="Image 0" descr="/home/user/hotcrm/docs/demo/psa-presales/R3-01-客户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37560"/>
            <a:ext cx="4169664" cy="260604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18527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6" name="Image 1" descr="/home/user/hotcrm/docs/demo/psa-presales/R3-03-商机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73391" y="3337560"/>
            <a:ext cx="4169664" cy="26060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473391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数据到了仪表板：销售业绩与项目健康度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销售业绩：本季度已成交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项目财务：合同额合计 10,650,000、已开票 5,120,000、已收款 4,035,000、采购合同 990,000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交付项目列表一眼看出健康度：北辰二期 47.65%、长江 DMS 16.85%、天启 TMS 已关闭 77.21%、华信数据中台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3-销售业绩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5176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6-交付项目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5176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 · CRM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 · 跟进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1–14：录入、审批、立项、跟单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客户管理：分类、业务信息、附件、审批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业务信息分组：当前主要服务商、本年度 IT 采购预算、付款周期、美国 EAR 管制清单、战略合作伙伴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附件页签直接上传资质与合作背景资料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记录页顶部「发起审批」→ 记录锁定 → 通过后正式生效，才能关联商机与项目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01b-客户详情-基本信息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客户详情：客户分类、客户简称、统一社会信用代码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线索到商机：需求形线索、跟单信息、立项审批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线索：预计金额、需求类型（软件开发 / 实施 / 运维 / 咨询），审批通过后才能转成商机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自动编号，是项管平台关联的锚点；跟单信息：是否投标、商机级别、优先级、可控性、客户立项时间、预计招标时间、分包信息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签约主体（独立主数据）、业务分类、收入确认类型；客户简介 / 项目背景 / 风险分析 / 付款条款按结构写在背景说明里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「发起立项审批」独立于标准产品按金额分档的审批；立项通过后才允许更新阶段、投标、赢丢单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6c-线索-预计金额与需求类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4320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6-商机-招投标与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74320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系统拦截：招标代理与 EAR 客户不能发起商机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 备注 · 步骤 3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1d-拦截-招标代理不可发起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23-拦截-EAR确认在列不能发起商机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56032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一个审批中心：十条流程，一个收件箱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发起的手势统一：记录页顶部「发起审批」→ 确认；审批状态只读，不能手改；记录随即锁定并显示"审批中"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处理的手势统一：待我审批 → 勾选 → 通过 N 条 → 确认；通过后回写状态与审批时间，并通知负责人；转签、退回、催办、撤回都在同一个面板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十条流程：客户 · 线索 · 商机立项 · 售前立项 · 交付立项 · 成本计划 · 预算调整 · 工时 · 出差 · 请假——收件箱里每一行都写着记录和金额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5-待我审批-成本计划与预算调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0604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待我审批：成本计划审批与预算调整审批在同一个收件箱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07-11c-勾选后批量通过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0604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勾选后批量通过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发起审批是一个按钮，不是一次编辑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每个可审批对象的记录页都有「发起审批」（商机是「发起立项审批」）；只在草稿或已驳回时出现，点击后确认即提交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审批状态、审批通过时间是只读字段：表单里看得到、改不了，状态只由按钮和审批流写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提交后记录锁定、显示"审批中"，审批人在同一条记录上通过 / 拒绝 / 退回；驳回后按钮重新出现，修改后再发起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客户-发起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客户-发起审批-确认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56032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确认后提交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S05-客户提交审批-审批中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56032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审批中已锁定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257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编辑表单里的审批状态是灰色只读——想改状态，只有这个按钮一条路。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审批：一个按钮发起，一个收件箱处理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 · 同一套手势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1097280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496312"/>
            <a:ext cx="10042855" cy="1097280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审批人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666744"/>
            <a:ext cx="10042855" cy="1097280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8308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打开记录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草稿或已驳回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4904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点「发起审批」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商机：发起立项审批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1500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 · 审批中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4692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收到通知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/ 驳回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→ 已提交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8096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2668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生成审批请求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路由到审批人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4692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9264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回写状态与日期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解锁记录 · 通知负责人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80960" y="3849624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26680" y="38496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 · 通过 N 条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64692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9264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5276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9848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62356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65226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589520" y="3044952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61822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55480" y="4215384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58418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58418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680960" y="1673352"/>
            <a:ext cx="18745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80960" y="1673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3F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驳回：修改后再次发起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 flipH="1">
            <a:off x="9555480" y="1874520"/>
            <a:ext cx="91440" cy="0"/>
          </a:xfrm>
          <a:prstGeom prst="line">
            <a:avLst/>
          </a:prstGeom>
          <a:noFill/>
          <a:ln w="15875">
            <a:solidFill>
              <a:srgbClr val="2B3F6B"/>
            </a:solidFill>
            <a:prstDash val="dash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48640" y="4937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047488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两条设计原则：① 审批状态字段只读——表单改不了，接口也写不进，只有这个按钮和审批流能改它，所以状态始终等于审批结果。② 十条流程共用同一个审批中心和同一套手势：发起 = 按钮 + 确认；处理 = 待我审批 → 勾选 → 通过 N 条。审批期间记录锁定，通过后回写审批日期，驳回后可修改再提。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商机跟进：阶段、任务、活动时间线与铁三角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跟进不靠记忆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阶段条直接推进阶段，赢单概率、预计金额随时改；每次变更自动写入活动时间线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待办任务与活动（现场调研、方案汇报、投标答疑）挂在商机上，右侧任务卡常驻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铁三角：客户经理（AR）、解决方案经理（SR）、交付经理（FR）三个角色就地调整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赢单 / 丢单必须填原因：赢单原因、丢单原因、赢丢单详情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14 商机状态变更审批：未实现——赢单 / 弃单 / 铁三角调整目前不单独走审批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生产形态：铁三角做成商机团队对象 + 记录级共享，团队成员自动获得可见性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13-铁三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商机详情：铁三角与赢单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 · 项管平台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· 交付 · 成本计划 · 成本执行 · 报表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15–40：立项、成本计划、成本执行与管控、项目报表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售前立项：关联商机、角色、Bizcase 成本计划、审批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售前项目必须挂在已立项的商机上（选商机编码），所属客户随之带出；编号 PSP-xxxx；五个角色：客户经理、项目经理、项目总监、项目 QA、资源报价负责人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成本测算不再手填：人工服务成本、第三方服务成本、软硬件采购成本、项目费用四个数是 Bizcase 成本计划的汇总——华信这单 656,000 + 250,000 + 100,000 + 48,320 = 总成本 1,054,320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项目报价 1,400,000 一填，毛利率 24.69% 自动算；改 Bizcase 里任何一条明细，四项成本、总成本、毛利率当场跟着变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信息安全类别（公开 / 内部 / 秘密 / 机密）与安全备注；审批通过后才能立交付项目——今天一级审批，生产上按组织层级走五级（部分实现）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02-售前项目-成本测算与报价-来自Bizcase计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售前项目：四项成本来自 Bizcase 成本计划，总成本与毛利率自动算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04-Bizcase成本计划-计划金额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成本计划：四类合计与其中差旅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交付立项：关联售前、导入 Bizcase 预算、审批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交付项目必须选一个已审批的售前项目，关联商机、所属客户自动带出；编号 DLV-xxxx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预算基线默认取售前 Bizcase 总额；页头「导入 Bizcase 预算」一键把已审批的 Bizcase 克隆成交付成本计划 v1 并冻结基线——之后基线不可改，已有计划的项目会拒绝第二次导入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实施成本中心、核算成本中心、对应部门可以不同（试点项目：实施华东、核算华北）；角色：项目经理、项目总监、资源报价负责人、分包 TS 填写人、QA 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信息安全类别、附件上传开工确认单；交付立项审批通过后项目正式启动，成本计划、工时、差旅、开票、收款都挂在它下面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2-交付项目-页头-导入Bizcase预算按钮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交付项目页头：「导入 Bizcase 预算」、预算基线、实际成本、预算消耗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23-成本中心与部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成本计划：一个版本、四类明细、按月分解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成本计划（一个版本）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470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挂在售前项目（Bizcase）或交付项目上；版本号、当前版本、冻结基线；计划总额和四类合计全部是汇总，没有一个是手填的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267004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5584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 · 第三方服务 · 软硬件采购 · 项目费用——每一类有自己的输入项和单价来源，各带说明、起止月份、计划金额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34640" y="417880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8912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498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646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保存一条明细行，系统按起止月份自动生成"一行一个月"的台账；改过的月份标为手工调整、重新分解时保留；所有合计和报表都读这张台账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9436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每个项目一份带版本的计划：Bizcase v1 · 交付 v1 · v2 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1316736"/>
            <a:ext cx="6355080" cy="4013073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21" name="Image 0" descr="/home/user/hotcrm/docs/demo/psa-presales/R4-08-交付成本计划v1-相关-月度分解行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1371600"/>
            <a:ext cx="6245352" cy="390334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94960" y="5366385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v1：月度分解行按成本类别、月份、金额逐行可查，改过的月份标"手工调整"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四类成本各有自己的算法与单价来源，系统按月分解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28–31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20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1874520"/>
                <a:gridCol w="1508760"/>
              </a:tblGrid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明细行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填什么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单价从哪里来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每个月怎么算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岗位级别 / 费率卡、人数、每人每月工时、起止月份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费率卡：费率标准自动带出（不能手填），并按每个月生效的费率重新解析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 × 工时 × 当月费率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第三方服务成本行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供应商、计价方式（人月 / 人天 / 包干）、单价、人数、工期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供应商报价（手填），报价文件作为附件挂在计划上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人月：单价 × 人数逐月；人天 / 包干：平均摊到各月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软硬件采购成本行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采购品类（硬件 / 软件许可 / 云服务 / 维保）、产品、数量、单价、到货月份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选了产品，单价从产品价目带出；否则手填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一次性落在到货月；填了结束月份则平均分摊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项目费用成本行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费用类型；差旅填差旅标准、出差次数、每次人数、每次天数；报销类填预算金额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差旅标准：住宿、餐补、市内交通日标准 + 往返交通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出差次数 × 每次人数 ×（往返交通 + 天数 × 日标准）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88936" y="127101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0-人工服务成本行-费率卡带出费率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43800" y="1325880"/>
            <a:ext cx="4096512" cy="2560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43800" y="3977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人工服务成本行：费率标准 800 由费率卡带出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543800" y="4434840"/>
            <a:ext cx="4096512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26680" y="45262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现场算一遍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 × 2 · 每人每月 160 小时 · 费率 800 元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2 × 160 × 800 = 256,000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月、9 月两行 → 计划金额 512,000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改人数或月份，各月金额与计划总额当场重算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预算变动做成「新版本 + 审批」，基线始终冻结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 ·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27：交付项目页头「导入 Bizcase 预算」→ 以已审批的 Bizcase 克隆出交付成本计划 v1，基线冻结；已有计划的项目会拒绝第二次导入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32：已审批的计划不能改——在成本计划上「新建计划版本」得到 v2 草稿，在 v2 上增减明细行（华信一期：追加高级工程师 1 人 × 2 个月、两次现场差旅，共 270,160）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上：调整金额由系统按"新版本总额 − 当前版本总额"写入，填调整原因与差异分析，「发起审批」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审批通过后 v2 成为当前版本、v1 标为已作废，交付项目的计划总额跟着变成 1,324,480；交付项目上「当前预算」的自动上调尚未完成——部分实现（手填金额的预算调整已正常联动）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0-成本计划-新建计划版本-确认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871923" cy="30449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「新建计划版本」：以当前版本为底稿克隆一个草稿版本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16268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28-预算调整-挂计划版本-金额自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71132" y="2926080"/>
            <a:ext cx="4871923" cy="30449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71132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 270,160 由系统按版本总额之差写入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审批一份成本计划，审的是差异，不是一个孤立的数字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发起审批那一刻，系统记下同一项目正在执行的版本，把它的各项金额抄到被提交的计划上：冻结基线、计划总额、四类合计、其中差旅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每一项都给出"本版本 / 当前执行版本 / 差异"三个数，计划总额还给出差异率：华信一期 v2 比 v1 多 270,160，差异率 25.62%，全部来自人工服务和差旅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差异由这一对金额算出，不会和上面的数字对不上；快照取在提交那一刻，记录就是"当时摆在审批人面前的是什么"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「待审批的成本计划」视图把在审的计划铺成一个队列，每类成本的差异都在行上，领导不用逐份打开就能排轻重缓急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7-成本计划v2-与当前版本对比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 v2「与当前版本对比」：本版本 / 当前执行版本 / 差异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0-待审批的成本计划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「待审批的成本计划」：在审的版本一行一个，差异都在行上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成本闭环：从 Bizcase 到预算门禁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18 · 27–36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→ 毛利率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Bizcase 预算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 · 冻结基线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54496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一行一个月 · 费率逐月解析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Σ 各月金额，自动汇总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× 费率 · 只计已审批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1568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7288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必须挂已审批的出差单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人工实际 + 差旅实际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07424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53144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预算消耗 %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实际成本 ÷ 当前预算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07424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9EA"/>
          </a:solidFill>
          <a:ln w="9525">
            <a:solidFill>
              <a:srgbClr val="FBE9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53144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≥ 当前预算？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每次填报工时时比较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0216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拒绝新的工时填报，提示写明数字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401568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47288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新建计划版本 → 预算调整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= 新版本 − 当前版本 · 发起审批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新版本生效 · 旧版作废 · 计划总额跟随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063240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916168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69096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063240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16168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69096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64724" y="3602736"/>
            <a:ext cx="0" cy="54864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8769096" y="4572000"/>
            <a:ext cx="338328" cy="0"/>
          </a:xfrm>
          <a:prstGeom prst="line">
            <a:avLst/>
          </a:prstGeom>
          <a:noFill/>
          <a:ln w="15875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5916168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3063240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723376" y="4425696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23376" y="4425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656064" y="510235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3F2E8"/>
          </a:solidFill>
          <a:ln w="12700">
            <a:solidFill>
              <a:srgbClr val="E3F2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56064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 → 继续执行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584448" y="2359152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23591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冻结基线 = 考核的尺子，之后不动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3949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 的现场提示：项目「华信数据中台 — 试点交付」成本已超预算（实际 264,000 ≥ 预算 200,000），工时填报已限制。整个闭环没有一步是月底对账，都是保存那一刻算的。* 版本化调整通过后「当前预算」的自动上调尚未完成；手填金额的预算调整已联动。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成本执行：工时、请假、出差与差旅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工时表：选岗位级别 / 费率卡，费率标准自动带出、不能手填；工时 × 费率 = 人工成本；标准工时 / 请假工时 / 加班工时三个数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请假申请审批通过后自动同步到申请人当月工时表：王强 3 天年假 → 请假工时 24、工时 176 → 152、人工成本 136,800（项目经理 900 元 / 小时）；加班工时目前手填（部分实现）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交付项目不再是工时表的必填项——售前工时、考勤工时也能填；人工实际成本只计已审批的工时表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1-工时表-请假同步-费率带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 TS-0007：请假工时 24、工时 152、人工成本 136,800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8-出差申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成本管控：实时汇总，超预算即拦截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交付项目实时汇总人工实际成本、差旅实际成本 → 实际成本、预算消耗 %、预算差异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试点项目：基线 200,000，实际 264,000，预算消耗 132%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②：实际成本 ≥ 当前预算的项目，系统拒绝新的工时填报，并把数字写在提示里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预算追加走"新建计划版本 + 预算调整审批"，通过后填报自动放开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36-试点项目-超预算1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超预算项目：预算消耗 132%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两处成本侧拦截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35 ·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8" name="Image 0" descr="/home/user/hotcrm/docs/demo/psa-presales/S36b-拦截-超预算禁填工时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67551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1" name="Image 1" descr="/home/user/hotcrm/docs/demo/psa-presales/R2-22-拦截-出差未审批不能报差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1417320"/>
            <a:ext cx="5120640" cy="3200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22415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5780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两条提示都是系统在保存那一刻给出的，写明项目、实际与预算的数字或未审批的出差单；换一个健康项目或已审批的出差单即可保存。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合同与财务：开票、收款、采购合同、销售订单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 · 38 · 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交付项目「合同与财务」分组：销售合同、合同额、项目进度 → 已确认收入；已开票、已收款、应收余额；采购合同总额、销售订单总额；项目毛利率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华信一期：合同额 1,400,000、进度 55% → 已确认收入 770,000；已开票 980,000、已收款 420,000、应收余额 560,000；项目毛利率 62.29%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开票：发票类型、号码、金额、税率、状态，收款汇总到发票、未收余额自动算；收款：收款方式、流水号、关联发票与销售合同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采购合同：供应商、类别（分包 / 软件 / 硬件）、已付 / 未付；销售订单：交付状态、验收日期。本阶段手工录入，财务系统对接放在后续阶段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4-交付项目-合同与财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88920"/>
            <a:ext cx="4974336" cy="31089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13855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3-开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68719" y="2788920"/>
            <a:ext cx="4974336" cy="31089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68719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财务链路：合同、开票、收款、采购，一张表看全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项目进度 %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项目经理维护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0644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已确认收入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合同额 × 进度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开票（作废不计）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已开票金额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收款（对着发票核销）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已收款金额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0644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已开票 − 已收款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采购合同（终止不计）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采购合同总额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5468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销售订单总额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 + 差旅实际（见成本闭环）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5468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=（合同额 − 实际成本）÷ 合同额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4818888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714500" y="2121408"/>
            <a:ext cx="0" cy="256032"/>
          </a:xfrm>
          <a:prstGeom prst="line">
            <a:avLst/>
          </a:prstGeom>
          <a:noFill/>
          <a:ln w="15875">
            <a:solidFill>
              <a:srgbClr val="98A2B3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641080" y="1325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汇到哪里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641080" y="173736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0" y="173736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41080" y="260604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0604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交付项目列表「项目综合查询」视图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41080" y="347472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0" y="347472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· 已开票 · 已收款 · 采购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41080" y="434340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0" y="434340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项目成本仪表板：基线 · 实际 · 消耗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92440" y="1746504"/>
            <a:ext cx="548640" cy="3474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092440" y="2770632"/>
            <a:ext cx="548640" cy="192024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486400" y="3794760"/>
            <a:ext cx="3154680" cy="3657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5486400" y="4700016"/>
            <a:ext cx="3154680" cy="1188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532120"/>
            <a:ext cx="274320" cy="201168"/>
          </a:xfrm>
          <a:prstGeom prst="rect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474720" y="5532120"/>
            <a:ext cx="274320" cy="201168"/>
          </a:xfrm>
          <a:prstGeom prst="rect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项目财务对象（手工录入）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00800" y="5532120"/>
            <a:ext cx="274320" cy="201168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系统汇总 / 公式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项目报表：综合查询与两个仪表板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交付项目列表的「项目综合查询」视图：进度、当前预算、实际成本、预算消耗、合同额、已确认收入、已开票、已收款、应收余额、毛利率一行看全，可筛选、分组、导出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项目成本仪表板：总预算 7,541,020 / 人工实际 3,440,800 / 差旅实际 97,200 / 进行中项目 5；各项目预算基线 vs 计划总额 vs 人工实际，预算消耗表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项目财务仪表板：合同额合计 10,650,000 / 已开票 5,120,000 / 已收款 4,035,000 / 采购合同 990,000；各项目合同额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7-项目综合查询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项目综合查询：十项指标一行看全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1-项目成本仪表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2-项目财务仪表板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项目财务仪表板：合同额、开票、收款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两个仪表板都是平台原生的数据集加组件：改指标、加磁贴不用写代码；列表视图可筛选、分组、导出，也能另存成贵司自己的查询视图。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主数据：费率卡、差旅标准与签约主体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9 · 18 · 28 · 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 × 费率标准 × 生效区间一行，带小时费率、日费率与启用开关；工时表和人工服务成本行选了它就自动取价，费率变更集中管理、按月生效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差旅标准：按城市级别（一线 / 二线 / 三线 / 海外）给出住宿、餐补、市内交通的日标准与往返交通估算，差旅类项目费用按它计算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签约主体：我方法人公司主数据（名称、信用代码、法定代表人、开户行），商机与合同上选择；三者都在导航"主数据"组，管理员维护，业务人员只选不填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9-费率卡-费率标准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费率卡：岗位级别、费率标准、小时费率、生效区间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8-差旅标准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差旅标准：城市级别的日标准与往返交通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2-03-签约主体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主数据集中维护、按生效区间取值：费率卡调价后，之后月份的人工计划与工时成本自动按新价算，历史月份不变——这就是贵司说的"岗位级别 × 费率标准"落在系统里的样子。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 · 边界与路线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简化说明 · 待答事项 · 推进路线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把演示里的简化说在前面，把落地的三个阶段说清楚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本次演示的简化与后续形态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959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本次演示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后续形态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五级售前审批（20）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一级审批（部分实现）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五个审批节点串联，按组织层级自动路由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商机状态变更审批（14）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未单独审批（未实现）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赢单 / 弃单 / 铁三角调整走审批流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预算调整联动（32）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版本化调整通过后新版本生效、计划总额更新；「当前预算」联动未完成（部分实现）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完成后同一按钮、同一收件箱；手填金额的调整已正常联动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铁三角（13）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商机上三个人员字段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商机团队对象 + 记录级共享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 / 加班同步（33）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请假按工作日 × 8 小时自动同步；加班手填（部分实现）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对接考勤系统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报销单据（35）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差旅成本记报销单据号，手工录入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对接费控系统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开票 / 收款（37 / 38）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系统内对象，手工录入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对接财务系统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审批发起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记录页「发起审批」按钮，审批状态只读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同一机制，按对象配置审批人与层级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一家软件公司：14 客户 / 13 商机 / 7 交付项目 / 15 份成本计划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导入贵司真实客户、项目、费率卡与差旅标准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建议的推进路线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试点上线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本次演示范围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与贵司确认五个口径：跟进记录形态、开票 / 回款归属、线索形态、EAR 判定方式、立项审批与金额审批的关系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完成预算调整的「当前预算」联动；按贵司组织与岗位配置审批人、权限、费率卡、差旅标准、签约主体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一个事业部、一批真实项目试运行：先把 Bizcase 编进成本计划，再导入交付项目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深化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规则与协同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五级售前审批按组织层级路由；商机状态变更审批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铁三角商机团队与记录级共享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预算多级审批、费率卡版本、售前工时口径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集成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打通外部系统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考勤：请假 / 加班自动同步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费控：报销单据回写差旅成本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财务：开票、收款自动进系统；合同额、收入口径统一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步流程里，客户、线索、商机、审批中心、附件、跟进、赢丢单是现成的 CRM 能力；售前立项、交付立项、成本计划、工时与差旅、财务与报表这 26 步，是在同一个平台、同一套数据里长出来的。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成本计划按贵司要求做成了带版本、四类明细、按月分解的形态——这也是它能成为软件行业项目型销售标准模板的原因。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下一步：确认五个口径 → 划定试点范围 → 给出排期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subject>PptxGenJS Presentation</dc:subject>
  <dc:creator>HotCRM 售前团队</dc:creator>
  <cp:lastModifiedBy>HotCRM 售前团队</cp:lastModifiedBy>
  <cp:revision>1</cp:revision>
  <dcterms:created xsi:type="dcterms:W3CDTF">2026-09-16T13:56:53Z</dcterms:created>
  <dcterms:modified xsi:type="dcterms:W3CDTF">2026-09-16T13:56:53Z</dcterms:modified>
</cp:coreProperties>
</file>