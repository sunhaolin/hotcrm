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开场：这份材料不讲技术细节，只讲两件事——怎么把你现在用的 AI 助手接上我们的 CRM，接上之后每天能用它干什么。所有场景用的都是这套系统里的真实数据。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先建立共鸣：不讲技术，讲每天重复的三个动作。这三件事不是系统做不到，是要点很多下、跨很多页。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一句话解释：你现在用的 AI 助手，多了一条读写 CRM 的通道。关键点是「用你自己的账号」，这决定了它的安全边界。技术上这条通道叫 MCP，业务同学只要有那行地址就行。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业务同学最关心的两个问题：能帮我干多少活、会不会捅娄子。左边是能力，右边是硬边界——右边这些不是配置项，是系统本来就不允许。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进入第一部分：接入。核心信息是——你手上已经在用的助手基本都能接，只需要复制一个地址、浏览器登录一次，不需要 IT 单独排期。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这一页回答「我该用哪个」。业务同学走第一类最省事；第二类研发同学手边就有；第三类是 IT 接好之后做成部门共用的智能体。国产助手都在列，不必为了用它专门换一套工具。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这一页是给不看后面细节的人准备的：三步做完就能用。无论用哪家助手，这三步都不变。强调正式环境地址要问 IT，不要用演示地址。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现场演示这一页最好：直接打开这个页面，点复制按钮。整页都是自助的，业务同学自己就能拿到地址。页面上写的是「MCP 端点」，就是这行地址的技术叫法。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这一页按助手列出入口。重点是让每个人对号入座：不用换工具，在自己已经在用的助手里加一次就行。菜单名以各产品当前版本为准，右表是常见入口。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登录这一步是关键：用的是你自己的账号，所以后面所有回答都在你的权限范围内。验证的问法很简单，现场可以试，换哪个助手都是这一句。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这一页是全场最实用的。多数「AI 答得不准」其实是问题没说清口径。右边的正反例可以现场演示对比。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进入第二部分：场景。强调后面每一页的数字都是从这套 CRM 真实查出来的，不是编的样例，现场可以复现。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第一个场景最贴近日常。40 条任务里 32 条还没开始，其中 25 条是紧急的——这个数字本身就是一个管理信号。这 25 条大多由工单升级触发。现场可以接着问「其中属于我负责客户的有哪些」，或者让它按负责人再拆一次。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周会标配。重点不是表好看，是能立刻看出「资格确认阶段 4 个就压了 682 万」这种结构性问题——占未关闭的三分之一，而且阶段偏早、离签约还有三步。谈判阶段 3 个 747.5 万是本季最该保的一批；初步接洽只有 96.5 万，新机会补充不足。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加权预期收入是系统按「金额 × 阶段赢率」算好的字段，不是 AI 估的。对上汇报建议用承诺类的 703.6 万；2,057.5 万是口径最松的说法。漏斗类 858.5 万只折出 212.2 万，说明这一批赢率普遍偏低，现在还不能算进业绩。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停滞天数是最容易被忽略的风险信号。这五个是真实记录：Globex 已经 45 天没动，还停在资格确认；Initech 38 天停在需求分析。现场可以接着问「这 5 个分别是谁在负责」，或者直接让它给前两个各建一条本周回访任务——写操作怎么走，见第 22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这页最能体现「汇总比明细有用」。合作伙伴线索单条 140 万，是网站的 1.4 倍，数量却只有它的六成——靠翻列表是看不出来的。另一头，电话陌拜 4 条只有 30 万、广告 2 条为 0，投入产出最差。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销售之外的对象同样能问。按金额回款率 78.8%，未收的 108.5 万集中在 3 张发票上。现场可以接着问这 3 张分别是哪个客户、什么时候开的，或者按客户汇总应收、找出欠款最多的前三家。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开票、收款和交付项目跟销售在同一套系统里，财务和交付不用各自导表，同一个助手就能问。5 个项目正在交付中，1 个还在规划、尚未启动。接着可以问某个项目本月投入了多少工时，或者哪些交付项目对应的合同还没开票。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服务团队每天早会可以直接用。38 个工单里未关闭 23 个：新建里有 2 个「严重」级还没人接，应当最先处理；已升级的 7 个都还没指定负责人；已解决的 7 个仍未关单，这种「卡在最后一步」最容易被漏掉。等待客户只有 1 个，说明卡点在内部而不是客户侧。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 AI 助手相对报表最大的优势：跨对象拼上下文。一次提问触发了 3 次查询——客户档案、联系人、在谈商机。过去要翻四五个页面，现在在去客户的路上就能看完。注意右下角：态度中立的杨斌是技术评估人，这条建议是它从联系人角色里读出来的。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写操作是很多人担心的部分。关键是：不可逆的动作系统会强制要求人工确认，而且所有写入都进审计日志，追得到人。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这一页建议留给答疑。最常被问的是第一条和第四条，可以现场用两个账号演示权限差异。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收尾给明确动作。建议现场就把第一列做完——30 分钟，当场验证连通。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960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 × HotCRM · 业务人员使用指南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 AI 助手，</a:t>
            </a:r>
            <a:endParaRPr lang="en-US" sz="3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直接问你的 CRM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803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国内外主流助手怎么接上系统，接上之后能解决哪些真实业务问题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5661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9 月 · 场景与数据均取自演示环境真实记录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0" y="1463040"/>
            <a:ext cx="402336" cy="40233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2231" y="1571671"/>
            <a:ext cx="185075" cy="18507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92240" y="1371600"/>
            <a:ext cx="2194560" cy="585216"/>
          </a:xfrm>
          <a:prstGeom prst="roundRect">
            <a:avLst>
              <a:gd name="adj" fmla="val 12500"/>
            </a:avLst>
          </a:prstGeom>
          <a:solidFill>
            <a:srgbClr val="1E3157"/>
          </a:solidFill>
          <a:ln w="9525">
            <a:solidFill>
              <a:srgbClr val="2C437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629400" y="1371600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你在助手里用日常语言提问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144768" y="1901952"/>
            <a:ext cx="914" cy="457200"/>
          </a:xfrm>
          <a:prstGeom prst="line">
            <a:avLst/>
          </a:prstGeom>
          <a:noFill/>
          <a:ln w="19050">
            <a:solidFill>
              <a:srgbClr val="FCA311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5943600" y="2377440"/>
            <a:ext cx="402336" cy="40233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231" y="2486071"/>
            <a:ext cx="185075" cy="18507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92240" y="2286000"/>
            <a:ext cx="2194560" cy="585216"/>
          </a:xfrm>
          <a:prstGeom prst="roundRect">
            <a:avLst>
              <a:gd name="adj" fmla="val 12500"/>
            </a:avLst>
          </a:prstGeom>
          <a:solidFill>
            <a:srgbClr val="1E3157"/>
          </a:solidFill>
          <a:ln w="9525">
            <a:solidFill>
              <a:srgbClr val="2C437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629400" y="2286000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助手用你的账号连上 CRM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144768" y="2816352"/>
            <a:ext cx="914" cy="457200"/>
          </a:xfrm>
          <a:prstGeom prst="line">
            <a:avLst/>
          </a:prstGeom>
          <a:noFill/>
          <a:ln w="19050">
            <a:solidFill>
              <a:srgbClr val="FCA311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5943600" y="3291840"/>
            <a:ext cx="402336" cy="40233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231" y="3400471"/>
            <a:ext cx="185075" cy="185075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492240" y="3200400"/>
            <a:ext cx="2194560" cy="585216"/>
          </a:xfrm>
          <a:prstGeom prst="roundRect">
            <a:avLst>
              <a:gd name="adj" fmla="val 12500"/>
            </a:avLst>
          </a:prstGeom>
          <a:solidFill>
            <a:srgbClr val="1E3157"/>
          </a:solidFill>
          <a:ln w="9525">
            <a:solidFill>
              <a:srgbClr val="2C4370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629400" y="3200400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读写你权限内的 CRM 数据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它解决的，是你每天在做的事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三个高频动作，今天都要在系统里点很多下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助手使用指南 · 业务人员版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259689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8368" y="1444752"/>
            <a:ext cx="457200" cy="45720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568196"/>
            <a:ext cx="210312" cy="2103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58368" y="2029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找数据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58368" y="2322576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想看一份「按阶段的商机金额」，要进报表、选筛选、导出、再粘到 Excel 里算。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73552" y="1280160"/>
            <a:ext cx="259689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74720" y="1444752"/>
            <a:ext cx="457200" cy="45720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164" y="1568196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74720" y="2029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拼数据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474720" y="2322576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拜访前做客户 360，要在客户、联系人、商机、工单、开票、交付之间来回翻页。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089904" y="1280160"/>
            <a:ext cx="259689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91072" y="1444752"/>
            <a:ext cx="457200" cy="45720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516" y="1568196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291072" y="2029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记跟进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291072" y="2322576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看完还得回系统里建任务、填字段；忙起来就忘了，跟进断在这一步。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3310128"/>
            <a:ext cx="8229600" cy="1170432"/>
          </a:xfrm>
          <a:prstGeom prst="roundRect">
            <a:avLst>
              <a:gd name="adj" fmla="val 6250"/>
            </a:avLst>
          </a:prstGeom>
          <a:solidFill>
            <a:srgbClr val="FFF1D6"/>
          </a:solidFill>
          <a:ln w="9525">
            <a:solidFill>
              <a:srgbClr val="FCA311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713232" y="34564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接上 AI 助手之后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713232" y="376732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一句话提问，助手直接读 CRM 里的实时数据，回答里带得出记录明细供你核对。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需要跟进时，它还能顺手帮你把任务建好——写操作要你点确认，且全程留审计。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接上之后，是怎么跑通的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你在助手里提问，助手用你的 CRM 账号去系统里取数、写回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助手使用指南 · 业务人员版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6072" y="141732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765" y="1521013"/>
            <a:ext cx="176662" cy="17666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24128" y="14447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76072" y="19385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在助手里用大白话提问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276856" y="1828800"/>
            <a:ext cx="338328" cy="914"/>
          </a:xfrm>
          <a:prstGeom prst="line">
            <a:avLst/>
          </a:prstGeom>
          <a:noFill/>
          <a:ln w="22225">
            <a:solidFill>
              <a:srgbClr val="FCA311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2651760" y="128016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70632" y="141732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325" y="1521013"/>
            <a:ext cx="176662" cy="17666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218688" y="14447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2770632" y="19385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国内外主流助手都行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471416" y="1828800"/>
            <a:ext cx="338328" cy="914"/>
          </a:xfrm>
          <a:prstGeom prst="line">
            <a:avLst/>
          </a:prstGeom>
          <a:noFill/>
          <a:ln w="22225">
            <a:solidFill>
              <a:srgbClr val="FCA311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4846320" y="128016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65192" y="141732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885" y="1521013"/>
            <a:ext cx="176662" cy="17666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13248" y="14447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一行接口地址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4965192" y="19385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在助手设置里粘一次（IT 叫它 MCP）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665976" y="1828800"/>
            <a:ext cx="338328" cy="914"/>
          </a:xfrm>
          <a:prstGeom prst="line">
            <a:avLst/>
          </a:prstGeom>
          <a:noFill/>
          <a:ln w="22225">
            <a:solidFill>
              <a:srgbClr val="FCA311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7040880" y="128016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159752" y="141732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445" y="1521013"/>
            <a:ext cx="176662" cy="17666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607808" y="14447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HotCRM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7159752" y="19385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你们自己的部署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457200" y="2523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整条链路用的是你自己的 CRM 账号：你在界面上看得到什么，助手就看得到什么；看不到的，问也问不出来。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457200" y="2926080"/>
            <a:ext cx="2596896" cy="14630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40080" y="307238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不是把数据交给 AI 公司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640080" y="3401568"/>
            <a:ext cx="2231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数据留在你们自己的部署里，助手只按需取当前这个问题要用的那几条记录。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3273552" y="2926080"/>
            <a:ext cx="2596896" cy="14630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3456432" y="307238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不是又一个新系统</a:t>
            </a:r>
            <a:endParaRPr lang="en-US" sz="1250" dirty="0"/>
          </a:p>
        </p:txBody>
      </p:sp>
      <p:sp>
        <p:nvSpPr>
          <p:cNvPr id="36" name="Text 29"/>
          <p:cNvSpPr txBox="1"/>
          <p:nvPr/>
        </p:nvSpPr>
        <p:spPr>
          <a:xfrm>
            <a:off x="3456432" y="3401568"/>
            <a:ext cx="2231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不用再学一个界面，也不改你现在的流程，原来怎么干还怎么干。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6089904" y="2926080"/>
            <a:ext cx="2596896" cy="14630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6272784" y="307238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不是给 AI 开后门</a:t>
            </a:r>
            <a:endParaRPr lang="en-US" sz="1250" dirty="0"/>
          </a:p>
        </p:txBody>
      </p:sp>
      <p:sp>
        <p:nvSpPr>
          <p:cNvPr id="39" name="Text 32"/>
          <p:cNvSpPr txBox="1"/>
          <p:nvPr/>
        </p:nvSpPr>
        <p:spPr>
          <a:xfrm>
            <a:off x="6272784" y="3401568"/>
            <a:ext cx="2231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权限、必填校验、审批、审计，和你手动点界面时走的是同一套。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它能做什么，不会做什么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边界讲在前面，后面的场景才敢放心用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助手使用指南 · 业务人员版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40233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8368" y="1417320"/>
            <a:ext cx="365760" cy="365760"/>
          </a:xfrm>
          <a:prstGeom prst="ellipse">
            <a:avLst/>
          </a:prstGeom>
          <a:solidFill>
            <a:srgbClr val="E8F6EC"/>
          </a:solidFill>
          <a:ln w="12700">
            <a:solidFill>
              <a:srgbClr val="E8F6E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1516075"/>
            <a:ext cx="168250" cy="16825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15568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能做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76656" y="1938528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查明细：按条件列出线索、商机、工单、任务、开票等记录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做汇总：按阶段、来源、状态分组算数量和金额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拼上下文：一次把客户、联系人、商机、工单串成一页纸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写回系统：建跟进任务、更新字段、转换线索（需你确认）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解释字段：告诉你某个对象有哪些字段、下拉选项怎么填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663440" y="1234440"/>
            <a:ext cx="40233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64608" y="1417320"/>
            <a:ext cx="365760" cy="365760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363" y="1516075"/>
            <a:ext cx="168250" cy="16825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21808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做不到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4882896" y="1938528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看不到你无权访问的记录，也看不到被屏蔽的字段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绕不开必填、校验规则和审批流程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不会静默改数据：每一次写入都留审计日志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一次最多返回 50 条明细，范围大时要先汇总再下钻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不替代正式报表口径：它给的是快速判断，不是对外数字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第一部分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0574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选一个助手，5 分钟接上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国内外主流助手都能接；三步，全程点鼠标，不需要命令行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943600" y="1463040"/>
            <a:ext cx="475488" cy="475488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0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14630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拿到接口地址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43600" y="2331720"/>
            <a:ext cx="475488" cy="475488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0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3317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粘进你的助手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943600" y="3200400"/>
            <a:ext cx="475488" cy="475488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0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32004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用自己的账号登录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可以接哪些 AI 助手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橙色为国产助手；各家菜单名不同，接入方式是一样的。最终清单以各产品官方文档为准，由 IT 统一确认。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助手使用指南 · 业务人员版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207008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1508760"/>
            <a:ext cx="420624" cy="420624"/>
          </a:xfrm>
          <a:prstGeom prst="ellipse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648" y="1622328"/>
            <a:ext cx="193487" cy="19348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13350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桌面对话助手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1609344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业务同学首选：装一个客户端，在设置里加一次地址，之后像平时聊天一样用。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931920" y="1362456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FF1D6"/>
          </a:solidFill>
          <a:ln w="9525">
            <a:solidFill>
              <a:srgbClr val="FCA31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931920" y="1362456"/>
            <a:ext cx="15544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Cherry Studio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532120" y="1362456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FF1D6"/>
          </a:solidFill>
          <a:ln w="9525">
            <a:solidFill>
              <a:srgbClr val="FCA31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532120" y="1362456"/>
            <a:ext cx="15544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DeepChat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132320" y="1362456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132320" y="1362456"/>
            <a:ext cx="15544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ChatWise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931920" y="1764792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931920" y="1764792"/>
            <a:ext cx="15544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5ire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532120" y="1764792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532120" y="1764792"/>
            <a:ext cx="15544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桌面版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57200" y="235915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40080" y="2660904"/>
            <a:ext cx="420624" cy="420624"/>
          </a:xfrm>
          <a:prstGeom prst="ellipse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48" y="2774472"/>
            <a:ext cx="193487" cy="193487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188720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编程 / IDE 助手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1188720" y="2761488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研发、实施和技术支持同学手边就有，同一个地址加进去即可，适合边查边做。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3931920" y="2514600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FF1D6"/>
          </a:solidFill>
          <a:ln w="9525">
            <a:solidFill>
              <a:srgbClr val="FCA311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3931920" y="2514600"/>
            <a:ext cx="15544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通义灵码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532120" y="2514600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FF1D6"/>
          </a:solidFill>
          <a:ln w="9525">
            <a:solidFill>
              <a:srgbClr val="FCA311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5532120" y="2514600"/>
            <a:ext cx="15544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7132320" y="2514600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FF1D6"/>
          </a:solidFill>
          <a:ln w="9525">
            <a:solidFill>
              <a:srgbClr val="FCA311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7132320" y="2514600"/>
            <a:ext cx="15544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文心快码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3931920" y="2916936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FF1D6"/>
          </a:solidFill>
          <a:ln w="9525">
            <a:solidFill>
              <a:srgbClr val="FCA311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3931920" y="2916936"/>
            <a:ext cx="15544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CodeBuddy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5532120" y="2916936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5532120" y="2916936"/>
            <a:ext cx="15544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7132320" y="2916936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7132320" y="2916936"/>
            <a:ext cx="15544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457200" y="351129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640080" y="3813048"/>
            <a:ext cx="420624" cy="420624"/>
          </a:xfrm>
          <a:prstGeom prst="ellipse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48" y="3926616"/>
            <a:ext cx="193487" cy="193487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1188720" y="3639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企业智能体平台</a:t>
            </a:r>
            <a:endParaRPr lang="en-US" sz="1400" dirty="0"/>
          </a:p>
        </p:txBody>
      </p:sp>
      <p:sp>
        <p:nvSpPr>
          <p:cNvPr id="43" name="Text 37"/>
          <p:cNvSpPr txBox="1"/>
          <p:nvPr/>
        </p:nvSpPr>
        <p:spPr>
          <a:xfrm>
            <a:off x="1188720" y="3913632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IT 统一接好，做成部门共用的智能体或工作流，业务同学打开就能用，不用自己配。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3931920" y="3666744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FF1D6"/>
          </a:solidFill>
          <a:ln w="9525">
            <a:solidFill>
              <a:srgbClr val="FCA311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3931920" y="3666744"/>
            <a:ext cx="15544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扣子 / Coze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5532120" y="3666744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FF1D6"/>
          </a:solidFill>
          <a:ln w="9525">
            <a:solidFill>
              <a:srgbClr val="FCA311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5532120" y="3666744"/>
            <a:ext cx="15544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阿里云百炼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7132320" y="3666744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FF1D6"/>
          </a:solidFill>
          <a:ln w="9525">
            <a:solidFill>
              <a:srgbClr val="FCA311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7132320" y="3666744"/>
            <a:ext cx="15544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火山方舟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3931920" y="4069080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3931920" y="4069080"/>
            <a:ext cx="15544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接入总览：三步，所有助手都一样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演示环境的接口地址是 http://localhost:4001/api/v1/mcp；正式环境的地址向 IT 索取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助手使用指南 · 业务人员版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2596896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58368" y="13716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0299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拿到接口地址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39572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 系统设置 → 页面 → 连接智能体，复制页面上给出的那一行地址。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73552" y="1280160"/>
            <a:ext cx="2596896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474720" y="13716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20299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粘进你的助手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239572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在助手设置里新增一个服务，把地址粘进去保存；各家菜单名不同，动作一样。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89904" y="1280160"/>
            <a:ext cx="2596896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291072" y="13716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7" name="Text 14"/>
          <p:cNvSpPr txBox="1"/>
          <p:nvPr/>
        </p:nvSpPr>
        <p:spPr>
          <a:xfrm>
            <a:off x="6291072" y="20299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登录并验证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291072" y="239572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浏览器弹出登录页，用你日常的 CRM 账号登录并授权，之后正常提问即可。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493008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8368" y="3611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不需要的东西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" y="3886200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不用换助手、不用开通新账号、不用为你单独配权限——你现在的 CRM 权限就是全部。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663440" y="3493008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64608" y="3611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什么时候要重做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864608" y="3886200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换电脑、换一个 AI 助手，或换到另一套 CRM 环境时，重复第 2 步和第 3 步即可。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步：在 CRM 里拿到接口地址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路径：系统设置 → 页面 → 连接智能体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助手使用指南 · 业务人员版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点左上角环境名旁的「系统设置」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左侧导航进入「页面 → 连接智能体」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复制页面上那行地址（页面标的是「MCP 端点」）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这一页还按助手分好了添加说明，照抄即可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926080"/>
            <a:ext cx="2788920" cy="384048"/>
          </a:xfrm>
          <a:prstGeom prst="roundRect">
            <a:avLst>
              <a:gd name="adj" fmla="val 14286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2926080"/>
            <a:ext cx="2788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http://localhost:4001/api/v1/mcp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40156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演示环境地址。正式环境请向 IT 索取，不要把演示地址发给同事。</a:t>
            </a:r>
            <a:endParaRPr lang="en-US" sz="1000" dirty="0"/>
          </a:p>
        </p:txBody>
      </p:sp>
      <p:pic>
        <p:nvPicPr>
          <p:cNvPr id="11" name="Image 0" descr="/Users/sunhaolin/Documents/GitHub/sunhaolin-hotcrm/docs/demo/it-platform/IT-connect-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1234440"/>
            <a:ext cx="5257800" cy="32826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步：在你自己的助手里添加一个连接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各家的菜单名不一样，做的事完全一样：新增服务 → 粘地址 → 保存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助手使用指南 · 业务人员版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pic>
        <p:nvPicPr>
          <p:cNvPr id="7" name="Image 0" descr="/private/tmp/mcp-deck/crop-clau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61872"/>
            <a:ext cx="3931920" cy="138988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2761488"/>
            <a:ext cx="3931920" cy="1481328"/>
          </a:xfrm>
          <a:prstGeom prst="roundRect">
            <a:avLst>
              <a:gd name="adj" fmla="val 4938"/>
            </a:avLst>
          </a:prstGeom>
          <a:solidFill>
            <a:srgbClr val="FFF1D6"/>
          </a:solidFill>
          <a:ln w="9525">
            <a:solidFill>
              <a:srgbClr val="FCA31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58368" y="28712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通用做法：三个动作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58368" y="318211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在助手设置里找到「MCP 服务 / 连接器」那一栏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新增一个服务，类型选 SSE 或 HTTP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粘上地址保存，部分助手需要完全重启一次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617720" y="1261872"/>
            <a:ext cx="4069080" cy="347472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09160" y="12618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你用的助手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080760" y="126187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添加入口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17720" y="1609344"/>
            <a:ext cx="40690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709160" y="160934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Cherry Studio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6080760" y="160934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设置 → MCP 服务器 → 添加，类型选 SSE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17720" y="2011680"/>
            <a:ext cx="4069080" cy="402336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09160" y="20116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桌面版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6080760" y="201168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设置 → 连接器 → 添加自定义连接器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617720" y="2414016"/>
            <a:ext cx="40690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709160" y="241401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通义灵码 / TRAE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6080760" y="2414016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助手内 MCP 市场 → 添加自定义服务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617720" y="2816352"/>
            <a:ext cx="4069080" cy="402336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709160" y="2816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6080760" y="281635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连接智能体页点「添加到 Cursor」一键加入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617720" y="3218688"/>
            <a:ext cx="40690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709160" y="321868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Copilot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6080760" y="321868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 MCP: Add Server 命令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617720" y="3621024"/>
            <a:ext cx="4069080" cy="402336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709160" y="362102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扣子 / 百炼 / 方舟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6080760" y="362102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IT 在平台侧接好，你直接用现成智能体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4617720" y="40782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菜单名以各产品当前版本为准；找不到时搜「MCP」或「连接器」即可。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步：用自己的账号登录，然后验证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能答出对象清单，就说明连通了，而且权限正常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助手使用指南 · 业务人员版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58368" y="13533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登录时会发生什么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66420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助手第一次调用时，浏览器自动弹出 CRM 登录页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用你日常的 CRM 账号登录，并点同意授权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之后长期有效；换设备或换助手时再做一次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58368" y="29077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连不上？先看这三点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321868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地址是否完整，结尾是 /api/v1/mcp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登录的是不是同一套环境（演示 / 正式）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远程办公时公司网络是否需要先连 VPN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17720" y="1234440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FFF1D6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45736" y="12984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你这样问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745736" y="1490472"/>
            <a:ext cx="3813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列出这个环境里有哪些业务对象。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617720" y="2011680"/>
            <a:ext cx="40690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745736" y="20756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这样答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4745736" y="2267712"/>
            <a:ext cx="38130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 32 个，包括客户、联系人、线索、商机、报价、合同、销售订单、开票、收款、交付项目、售前项目、工时表、工单、任务、市场活动、预测……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617720" y="3611880"/>
            <a:ext cx="4069080" cy="640080"/>
          </a:xfrm>
          <a:prstGeom prst="roundRect">
            <a:avLst>
              <a:gd name="adj" fmla="val 11429"/>
            </a:avLst>
          </a:prstGeom>
          <a:solidFill>
            <a:srgbClr val="E8F6EC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18888" y="3611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答得出来 = 连通正常、身份正常，可以开始用了。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问得准，答得才准：四个小技巧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把口径说清楚，AI 就不用猜；这是回答质量差异最大的一环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助手使用指南 · 业务人员版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316736"/>
            <a:ext cx="402336" cy="402336"/>
          </a:xfrm>
          <a:prstGeom prst="ellipse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831" y="1425367"/>
            <a:ext cx="185075" cy="18507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05840" y="1261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指明对象和时间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005840" y="15544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说「商机」「线索」「本周」「9 月 20 日前」，别只说「业绩」「最近」。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57200" y="2075688"/>
            <a:ext cx="402336" cy="402336"/>
          </a:xfrm>
          <a:prstGeom prst="ellipse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31" y="2184319"/>
            <a:ext cx="185075" cy="18507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05840" y="20208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说清统计口径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005840" y="23134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按数量还是按金额？只看未关闭的还是含已赢已输？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57200" y="2834640"/>
            <a:ext cx="402336" cy="402336"/>
          </a:xfrm>
          <a:prstGeom prst="ellipse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31" y="2943271"/>
            <a:ext cx="185075" cy="18507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05840" y="27797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顺手要依据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1005840" y="307238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加一句「列出记录名称和金额」，拿到明细才好核对。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57200" y="3593592"/>
            <a:ext cx="402336" cy="402336"/>
          </a:xfrm>
          <a:prstGeom prst="ellipse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831" y="3702223"/>
            <a:ext cx="185075" cy="18507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05840" y="35387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一次问一件事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1005840" y="38313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先要汇总，再挑其中一行让它下钻，比一次问一大段更准。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5120640" y="1261872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FDECE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5248656" y="13258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别这样问</a:t>
            </a:r>
            <a:endParaRPr lang="en-US" sz="850" dirty="0"/>
          </a:p>
        </p:txBody>
      </p:sp>
      <p:sp>
        <p:nvSpPr>
          <p:cNvPr id="25" name="Text 18"/>
          <p:cNvSpPr txBox="1"/>
          <p:nvPr/>
        </p:nvSpPr>
        <p:spPr>
          <a:xfrm>
            <a:off x="5248656" y="1517904"/>
            <a:ext cx="33101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我的业绩怎么样？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5248656" y="219456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没说对象、没说时间、没说口径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5120640" y="2523744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1D6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5248656" y="25877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换成这样问</a:t>
            </a:r>
            <a:endParaRPr lang="en-US" sz="850" dirty="0"/>
          </a:p>
        </p:txBody>
      </p:sp>
      <p:sp>
        <p:nvSpPr>
          <p:cNvPr id="29" name="Text 22"/>
          <p:cNvSpPr txBox="1"/>
          <p:nvPr/>
        </p:nvSpPr>
        <p:spPr>
          <a:xfrm>
            <a:off x="5248656" y="2779776"/>
            <a:ext cx="331012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按阶段统计未关闭商机的数量和金额，再列出金额最大的 5 个，带上客户名和预计签约日期。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第二部分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7830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场景：用真实数据</a:t>
            </a:r>
            <a:endParaRPr lang="en-US" sz="3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看它能干什么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0175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接下来 9 个场景里的每一个数字，都来自这套 CRM 的真实记录，数据截至 2026 年 9 月 16 日。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5760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每个场景就是一整屏问答：深色气泡是你的提问，下面是 AI 调用 CRM 后给出的回答。界面随你用的助手而不同，内容一样。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0" y="1225296"/>
            <a:ext cx="1389888" cy="493776"/>
          </a:xfrm>
          <a:prstGeom prst="roundRect">
            <a:avLst>
              <a:gd name="adj" fmla="val 11111"/>
            </a:avLst>
          </a:prstGeom>
          <a:solidFill>
            <a:srgbClr val="1E3157"/>
          </a:solidFill>
          <a:ln w="9525">
            <a:solidFill>
              <a:srgbClr val="2C437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15000" y="1225296"/>
            <a:ext cx="1389888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每日待办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251192" y="1225296"/>
            <a:ext cx="1389888" cy="493776"/>
          </a:xfrm>
          <a:prstGeom prst="roundRect">
            <a:avLst>
              <a:gd name="adj" fmla="val 11111"/>
            </a:avLst>
          </a:prstGeom>
          <a:solidFill>
            <a:srgbClr val="1E3157"/>
          </a:solidFill>
          <a:ln w="9525">
            <a:solidFill>
              <a:srgbClr val="2C437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251192" y="1225296"/>
            <a:ext cx="1389888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商机漏斗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15000" y="1883664"/>
            <a:ext cx="1389888" cy="493776"/>
          </a:xfrm>
          <a:prstGeom prst="roundRect">
            <a:avLst>
              <a:gd name="adj" fmla="val 11111"/>
            </a:avLst>
          </a:prstGeom>
          <a:solidFill>
            <a:srgbClr val="1E3157"/>
          </a:solidFill>
          <a:ln w="9525">
            <a:solidFill>
              <a:srgbClr val="2C437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15000" y="1883664"/>
            <a:ext cx="1389888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预测口径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251192" y="1883664"/>
            <a:ext cx="1389888" cy="493776"/>
          </a:xfrm>
          <a:prstGeom prst="roundRect">
            <a:avLst>
              <a:gd name="adj" fmla="val 11111"/>
            </a:avLst>
          </a:prstGeom>
          <a:solidFill>
            <a:srgbClr val="1E3157"/>
          </a:solidFill>
          <a:ln w="9525">
            <a:solidFill>
              <a:srgbClr val="2C437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51192" y="1883664"/>
            <a:ext cx="1389888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停滞商机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715000" y="2542032"/>
            <a:ext cx="1389888" cy="493776"/>
          </a:xfrm>
          <a:prstGeom prst="roundRect">
            <a:avLst>
              <a:gd name="adj" fmla="val 11111"/>
            </a:avLst>
          </a:prstGeom>
          <a:solidFill>
            <a:srgbClr val="1E3157"/>
          </a:solidFill>
          <a:ln w="9525">
            <a:solidFill>
              <a:srgbClr val="2C437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15000" y="2542032"/>
            <a:ext cx="1389888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线索来源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251192" y="2542032"/>
            <a:ext cx="1389888" cy="493776"/>
          </a:xfrm>
          <a:prstGeom prst="roundRect">
            <a:avLst>
              <a:gd name="adj" fmla="val 11111"/>
            </a:avLst>
          </a:prstGeom>
          <a:solidFill>
            <a:srgbClr val="1E3157"/>
          </a:solidFill>
          <a:ln w="9525">
            <a:solidFill>
              <a:srgbClr val="2C437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51192" y="2542032"/>
            <a:ext cx="1389888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开票回款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715000" y="3200400"/>
            <a:ext cx="1389888" cy="493776"/>
          </a:xfrm>
          <a:prstGeom prst="roundRect">
            <a:avLst>
              <a:gd name="adj" fmla="val 11111"/>
            </a:avLst>
          </a:prstGeom>
          <a:solidFill>
            <a:srgbClr val="1E3157"/>
          </a:solidFill>
          <a:ln w="9525">
            <a:solidFill>
              <a:srgbClr val="2C437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715000" y="3200400"/>
            <a:ext cx="1389888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交付项目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251192" y="3200400"/>
            <a:ext cx="1389888" cy="493776"/>
          </a:xfrm>
          <a:prstGeom prst="roundRect">
            <a:avLst>
              <a:gd name="adj" fmla="val 11111"/>
            </a:avLst>
          </a:prstGeom>
          <a:solidFill>
            <a:srgbClr val="1E3157"/>
          </a:solidFill>
          <a:ln w="9525">
            <a:solidFill>
              <a:srgbClr val="2C437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251192" y="3200400"/>
            <a:ext cx="1389888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工单积压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715000" y="3858768"/>
            <a:ext cx="1389888" cy="493776"/>
          </a:xfrm>
          <a:prstGeom prst="roundRect">
            <a:avLst>
              <a:gd name="adj" fmla="val 11111"/>
            </a:avLst>
          </a:prstGeom>
          <a:solidFill>
            <a:srgbClr val="1E3157"/>
          </a:solidFill>
          <a:ln w="9525">
            <a:solidFill>
              <a:srgbClr val="2C437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715000" y="3858768"/>
            <a:ext cx="1389888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 360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 1 · 每天早上：今天该跟谁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360920" y="274320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E8EDF5"/>
          </a:solidFill>
          <a:ln w="9525">
            <a:solidFill>
              <a:srgbClr val="E8ED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274320"/>
            <a:ext cx="13258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 · 服务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960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助手使用指南 · 业务人员版 · HotCRM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pic>
        <p:nvPicPr>
          <p:cNvPr id="8" name="Image 0" descr="/private/tmp/mcp-deck/chat/s1-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66774"/>
            <a:ext cx="8229600" cy="31894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 2 · 周会前：商机漏斗体检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360920" y="274320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E8EDF5"/>
          </a:solidFill>
          <a:ln w="9525">
            <a:solidFill>
              <a:srgbClr val="E8ED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274320"/>
            <a:ext cx="13258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销售管理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960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助手使用指南 · 业务人员版 · HotCRM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pic>
        <p:nvPicPr>
          <p:cNvPr id="8" name="Image 0" descr="/private/tmp/mcp-deck/chat/s2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82066"/>
            <a:ext cx="8229600" cy="35597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 3 · 报预测：三种口径一次看清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360920" y="274320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E8EDF5"/>
          </a:solidFill>
          <a:ln w="9525">
            <a:solidFill>
              <a:srgbClr val="E8ED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274320"/>
            <a:ext cx="13258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销售管理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960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助手使用指南 · 业务人员版 · HotCRM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pic>
        <p:nvPicPr>
          <p:cNvPr id="8" name="Image 0" descr="/private/tmp/mcp-deck/chat/s3-forec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6521"/>
            <a:ext cx="8229600" cy="358993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 4 · 找风险：谁在原地不动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360920" y="274320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E8EDF5"/>
          </a:solidFill>
          <a:ln w="9525">
            <a:solidFill>
              <a:srgbClr val="E8ED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274320"/>
            <a:ext cx="13258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销售管理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960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助手使用指南 · 业务人员版 · HotCRM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pic>
        <p:nvPicPr>
          <p:cNvPr id="8" name="Image 0" descr="/private/tmp/mcp-deck/chat/s4-stal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09828"/>
            <a:ext cx="822960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 5 · 市场复盘：线索从哪来，哪种最值钱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360920" y="274320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E8EDF5"/>
          </a:solidFill>
          <a:ln w="9525">
            <a:solidFill>
              <a:srgbClr val="E8ED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274320"/>
            <a:ext cx="13258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 · 销售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960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助手使用指南 · 业务人员版 · HotCRM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pic>
        <p:nvPicPr>
          <p:cNvPr id="8" name="Image 0" descr="/private/tmp/mcp-deck/chat/s5-lea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84225"/>
            <a:ext cx="8229600" cy="375452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 6 · 财务：钱到了吗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360920" y="274320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E8EDF5"/>
          </a:solidFill>
          <a:ln w="9525">
            <a:solidFill>
              <a:srgbClr val="E8ED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274320"/>
            <a:ext cx="13258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财务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960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助手使用指南 · 业务人员版 · HotCRM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pic>
        <p:nvPicPr>
          <p:cNvPr id="8" name="Image 0" descr="/private/tmp/mcp-deck/chat/s6-in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1308"/>
            <a:ext cx="822960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 7 · 交付：项目在跑吗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360920" y="274320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E8EDF5"/>
          </a:solidFill>
          <a:ln w="9525">
            <a:solidFill>
              <a:srgbClr val="E8ED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274320"/>
            <a:ext cx="13258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960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助手使用指南 · 业务人员版 · HotCRM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pic>
        <p:nvPicPr>
          <p:cNvPr id="8" name="Image 0" descr="/private/tmp/mcp-deck/chat/s6-deliv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62202"/>
            <a:ext cx="8229600" cy="319948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 8 · 服务：积压堆在哪一环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360920" y="274320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E8EDF5"/>
          </a:solidFill>
          <a:ln w="9525">
            <a:solidFill>
              <a:srgbClr val="E8ED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274320"/>
            <a:ext cx="13258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客服 · 服务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960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助手使用指南 · 业务人员版 · HotCRM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pic>
        <p:nvPicPr>
          <p:cNvPr id="8" name="Image 0" descr="/private/tmp/mcp-deck/chat/s7-c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17727"/>
            <a:ext cx="8229600" cy="348752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 9 · 拜访前：一页纸看懂这个客户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360920" y="274320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E8EDF5"/>
          </a:solidFill>
          <a:ln w="9525">
            <a:solidFill>
              <a:srgbClr val="E8ED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274320"/>
            <a:ext cx="13258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960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助手使用指南 · 业务人员版 · HotCRM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pic>
        <p:nvPicPr>
          <p:cNvPr id="8" name="Image 0" descr="/private/tmp/mcp-deck/chat/s8-accou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84225"/>
            <a:ext cx="8229600" cy="375452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从「问」到「做」：让它替你动手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写操作和你在界面上手动操作，走的是同一套规则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助手使用指南 · 业务人员版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402336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8368" y="1417320"/>
            <a:ext cx="384048" cy="384048"/>
          </a:xfrm>
          <a:prstGeom prst="ellipse">
            <a:avLst/>
          </a:prstGeom>
          <a:solidFill>
            <a:srgbClr val="E8F6EC"/>
          </a:solidFill>
          <a:ln w="12700">
            <a:solidFill>
              <a:srgbClr val="E8F6E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61" y="1521013"/>
            <a:ext cx="176662" cy="17666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33856" y="1417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安排跟进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58368" y="19385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例：给停滞 45 天的 Globex 建一条 9 月 18 日的回访电话任务，优先级高。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658368" y="2542032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以你的身份创建，和你在界面上建任务完全一样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必填校验照常生效，填不全就建不成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建完会把记录编号回给你，可以直接去系统里看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663440" y="1234440"/>
            <a:ext cx="402336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64608" y="1417320"/>
            <a:ext cx="384048" cy="384048"/>
          </a:xfrm>
          <a:prstGeom prst="ellipse">
            <a:avLst/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301" y="1521013"/>
            <a:ext cx="176662" cy="17666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40096" y="1417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线索转换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864608" y="19385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例：把一条已确认线索转成客户 + 联系人 + 商机，一步到位。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4864608" y="2542032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不可逆：系统要求运行前必须人工确认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助手会先把要写的内容摊开给你看，再等你点确认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商机名称和预计签约日期是必填，确认时顺便核对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404164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E8EDF5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76656" y="404164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所有写操作都走和界面一样的必填校验、审批流和审计日志。确认框里的内容对不上，就别点确认。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五个常见误解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这些问题会被反复问到，先在这里说清楚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助手使用指南 · 业务人员版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887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常听到的说法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1887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实际情况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481328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DECEC"/>
          </a:solidFill>
          <a:ln w="9525">
            <a:solidFill>
              <a:srgbClr val="F5C2C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148132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接进来就能看到全公司数据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481328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E8F6EC"/>
          </a:solidFill>
          <a:ln w="9525">
            <a:solidFill>
              <a:srgbClr val="BFE3C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19472" y="148132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它以你的账号访问；你看不到的记录和字段，它一样看不到。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121408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DECEC"/>
          </a:solidFill>
          <a:ln w="9525">
            <a:solidFill>
              <a:srgbClr val="F5C2C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212140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它给的数字可以直接报上去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2121408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E8F6EC"/>
          </a:solidFill>
          <a:ln w="9525">
            <a:solidFill>
              <a:srgbClr val="BFE3C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19472" y="212140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口径以 CRM 正式报表为准；AI 的汇总用于快速判断和排查。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761488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DECEC"/>
          </a:solidFill>
          <a:ln w="9525">
            <a:solidFill>
              <a:srgbClr val="F5C2C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" y="276148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一次就能把所有明细拉出来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2761488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E8F6EC"/>
          </a:solidFill>
          <a:ln w="9525">
            <a:solidFill>
              <a:srgbClr val="BFE3C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919472" y="276148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单次明细上限 50 条；范围大时先让它汇总，再挑一行下钻。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401568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DECEC"/>
          </a:solidFill>
          <a:ln w="9525">
            <a:solidFill>
              <a:srgbClr val="F5C2C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1792" y="340156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它会背着我改数据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754880" y="3401568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E8F6EC"/>
          </a:solidFill>
          <a:ln w="9525">
            <a:solidFill>
              <a:srgbClr val="BFE3C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919472" y="340156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写操作要你确认，不可逆动作强制确认，且每次都进审计日志。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4041648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DECEC"/>
          </a:solidFill>
          <a:ln w="9525">
            <a:solidFill>
              <a:srgbClr val="F5C2C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1792" y="404164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配置很麻烦，得等 IT 排期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754880" y="4041648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E8F6EC"/>
          </a:solidFill>
          <a:ln w="9525">
            <a:solidFill>
              <a:srgbClr val="BFE3C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919472" y="404164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日常用的对话类助手只要粘地址 + 浏览器登录；只有无浏览器的脚本场景才需要 IT 发密钥。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接下来怎么做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今天就能开始，不用等任何人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助手使用指南 · 业务人员版 · HotCRM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960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2596896" cy="2331720"/>
          </a:xfrm>
          <a:prstGeom prst="roundRect">
            <a:avLst>
              <a:gd name="adj" fmla="val 3137"/>
            </a:avLst>
          </a:prstGeom>
          <a:solidFill>
            <a:srgbClr val="FFF1D6"/>
          </a:solidFill>
          <a:ln w="9525">
            <a:solidFill>
              <a:srgbClr val="FCA31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0080" y="137160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 · 30 分钟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737360"/>
            <a:ext cx="22311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 IT 要正式环境的接口地址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在你常用的 AI 助手里添加一个连接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问一句「列出有哪些业务对象」验证连通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73552" y="1234440"/>
            <a:ext cx="259689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456432" y="137160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本周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56432" y="1737360"/>
            <a:ext cx="22311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挑两个场景每天问一次：到期任务 + 商机漏斗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把好用的问法记下来，贴到团队群里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试一次写操作：让它帮你建一条跟进任务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089904" y="1234440"/>
            <a:ext cx="259689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272784" y="137160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之后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272784" y="1737360"/>
            <a:ext cx="22311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把高频问法固化成团队统一模板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按角色沉淀场景：销售、客服、财务各一套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有新需求找 IT 评估是否要加对象或动作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380390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两条纪律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13232" y="4069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永远不要把 API 密钥贴进聊天窗口、邮件或文档——它等同于你的账号。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写操作确认框里的内容，务必逐条看过再点确认。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助手接入 HotCRM 使用指南（面向业务人员）</dc:title>
  <dc:subject>PptxGenJS Presentation</dc:subject>
  <dc:creator>HotCRM</dc:creator>
  <cp:lastModifiedBy>HotCRM</cp:lastModifiedBy>
  <cp:revision>1</cp:revision>
  <dcterms:created xsi:type="dcterms:W3CDTF">2026-09-16T09:45:19Z</dcterms:created>
  <dcterms:modified xsi:type="dcterms:W3CDTF">2026-09-16T09:45:19Z</dcterms:modified>
</cp:coreProperties>
</file>