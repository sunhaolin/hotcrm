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050" b="0" i="0" u="none" strike="noStrike">
                <a:solidFill>
                  <a:srgbClr val="14213D"/>
                </a:solidFill>
                <a:latin typeface="Arial"/>
              </a:rPr>
              <a:t>本周新建线索 · 按状态计数（groupBy: status）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线索数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qualified</c:v>
                  </c:pt>
                  <c:pt idx="1">
                    <c:v>new</c:v>
                  </c:pt>
                  <c:pt idx="2">
                    <c:v>contacted</c:v>
                  </c:pt>
                  <c:pt idx="3">
                    <c:v>unqualified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9</c:v>
                </c:pt>
                <c:pt idx="2">
                  <c:v>9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开场：今天讲 MCP 是什么、协议怎么设计、HotCRM 上怎么接、以及真实调用长什么样。全程按已安装版本的实际行为讲，示例都是在演示环境实测的。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先交代提纲：为什么需要、协议怎么设计、HotCRM 怎么接、真实例子和安全实践。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左边是没有标准时的状态：三个客户端对四个系统要写十二套集成，每套的认证、错误处理、工具描述都不一样。右边是 MCP：系统侧实现一次 Server，任何支持 MCP 的客户端都能用；客户端侧实现一次 Client，任何 Server 都能接。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定义只有一句话。右边四个事实：谁发起、底层是什么、谁在用、怎么理解。类比是 USB-C：插口统一，两端各自演进。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是 AI 应用本身，负责会话、模型和安全策略；它内部为每个 Server 建一个 Client，一对一连接；Server 暴露能力，可以是本地进程也可以是远程服务。HotCRM 是远程 Server。关键点：模型只看到工具描述和 JSON Schema，看不到实现；Server 也不直接和模型对话。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服务端三类：Tools 由模型决定何时调用，是最常用的；Resources 像只读文件，由应用决定何时加载进上下文；Prompts 是用户显式选用的模板。客户端三类是反向能力：Server 请求模型生成、Host 告诉 Server 工作边界、Server 向用户追问。HotCRM 目前只暴露 Tools。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生命周期四步：initialize 协商版本和能力；initialized 通知；正常操作阶段调用 tools/list、tools/call 等方法；最后关闭。传输层两种：stdio 是本地子进程，零网络暴露；Streamable HTTP 是单一 HTTP 端点，POST 发消息，需要流式时服务端用 SSE 回，取代了早期 HTTP+SSE 双端点方案。HotCRM 用的是后者。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左边是请求：method 是 tools/call，params.name 是工具名，arguments 必须符合工具声明的 inputSchema。右边是响应：content 是给模型看的内容块，这里是一段 JSON 文本；isError 为 true 表示工具级错误，模型可以据此修正参数重试。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远程 Server 的身份走 OAuth 2.1：授权码加 PKCE，Server 通过受保护资源元数据公布授权服务器地址，客户端可动态注册；无头场景用 API Key。授权的关键是令牌代表调用者本人，每次调用在服务端做判定。规范明确禁止 Server 把拿到的令牌透传给第三方。HotCRM 的做法在底部：部署自身就是授权服务器。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这张表回答最常见的问题：有了 REST 和 function calling 为什么还要 MCP。REST 面向开发者，能力靠文档发现；function calling 是模型厂商各自的格式，工具列表硬编码在应用里；MCP 让工具在运行时被发现，一次实现所有客户端可用，并规定了身份模型。HotCRM 的 MCP 工具本质上就是数据 API 的一层安全封装。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第二部分讲 HotCRM 上的 MCP：端点在哪、暴露了什么工具、各客户端怎么接、以及四组真实调用。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左边是端点：路径固定在 /api/v1/mcp，平台默认开启，用 OS_MCP_SERVER_ENABLED 可以关。生产环境要注意 claude.ai 网页版是从 Anthropic 服务器发起连接，需要公网 HTTPS；本地客户端可以直连内网。右边是工具面，分三组：元数据、数据、业务动作。所有工具都在调用者权限内运行。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左边是平台的「连接智能体」页面截图：每种客户端一段配置，复制即可。右边给两段最常用的：Claude Code 一条命令，首次会弹浏览器 OAuth；仓库级 .mcp.json 用 API Key 走请求头，密钥放环境变量，文件本身不含秘密。Cursor、VS Code、Codex 的配置结构类似。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这是本周在 Claude Code 里真实发生的一次调用。用户一句话，代理先猜对象名 lead，被服务端拒绝，于是调 list_objects 拿到 crm_lead；再用 describe_object 确认时间字段叫 created_at；最后 query_records 加上本周一起的过滤条件，拿到 35 条。要点：好的错误信息让代理自己纠正，不需要人介入。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聚合工具是给「要总数、要分布」类问题用的。左边的柱图是本周新建线索按状态的计数和预估金额，来自一次调用。右下是第二个例子：商机按预计成交月份分桶，指定 Asia/Shanghai 时区，避免 UTC 跨天错月。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list_actions 只返回应用作者打开了 ai.exposed、且调用者有权限的动作，当前是两个：转化线索和安排跟进。注意 convert_lead 的 requiresConfirmation 为 true——这是给客户端的信号，服务端不会暂停，所以客户端必须实现人工确认。右边是 run_action 的调用形态。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左边是校验 CEL 表达式：代理准备写一条校验规则，先调 validate_expression，服务端返回 ok 以及在域的根对象、字段和函数清单，代理据此修正。右边是一个真实的错误例子：查询商机时用了 account_id，服务端不仅报未知字段，还解释了为什么不能静默丢弃，代理改用 crm_account 后成功。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这是给安全同事的一页。无论请求来自控制台、REST 还是 MCP，一次写入都走同一条链：权限检查、校验规则、before 钩子、持久化、after 钩子、流程触发、审计。MCP 没有旁路，也没有共享服务账号。读操作同样受行级共享和字段级安全约束，聚合也不例外。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六个风险点。提示注入：工具返回的内容里可能藏着指令，客户端要把它当数据。工具投毒：恶意 Server 的工具描述可以诱导模型，只接可信 Server 并审查描述。权限过大：给代理单独建权限集或 API Key。破坏性操作：客户端必须实现人工确认。密钥管理：不进仓库，可轮换可吊销。可观测：审计加会话页，限流放网关。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三个真实的坑。第一，Claude Code 的 OAuth 动态注册在当前认证库版本下失败：注册时没带 application_type，被当作 web 客户端，拒绝 loopback 回调地址，于是仓库改用 x-api-key 头。第二，重置数据库会把 API Key 一起清掉，表现为 401 后又回到 OAuth 报错，需要重新签发。第三，单次查询最多 50 行，大结果用聚合或分页；字段名先用 describe_object 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如果贵司要把 ERP 或 OA 也接给代理，就是写一个 Server。左边是 TypeScript SDK 的最小例子：声明工具名、描述、zod 输入 schema 和处理函数，然后挂到 stdio 传输。右边是我们总结的检查清单：描述是写给模型看的，schema 要严，错误要能指导修正，破坏性操作打标注，用 MCP Inspector 调试，远程部署走 Streamable HTTP 加 OAuth。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三句话收尾：MCP 是标准接口，不是又一个 SDK；HotCRM 的 MCP 与控制台、REST 同一套规则；接入从只读开始，写操作走动作并人工确认。资源在右边。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005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MCP：让 AI 代理</a:t>
            </a:r>
            <a:endParaRPr lang="en-US" sz="3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安全地接入企业系统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 IT 技术人员的协议与实践介绍 · 以 HotCRM 为例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9 月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532120" y="123444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32120" y="1234440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92240" y="1426464"/>
            <a:ext cx="27432" cy="1088136"/>
          </a:xfrm>
          <a:prstGeom prst="line">
            <a:avLst/>
          </a:prstGeom>
          <a:noFill/>
          <a:ln w="12700">
            <a:solidFill>
              <a:srgbClr val="5B6F9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32120" y="18928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32120" y="1892808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92240" y="2084832"/>
            <a:ext cx="27432" cy="429768"/>
          </a:xfrm>
          <a:prstGeom prst="line">
            <a:avLst/>
          </a:prstGeom>
          <a:noFill/>
          <a:ln w="12700">
            <a:solidFill>
              <a:srgbClr val="5B6F9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32120" y="2551176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32120" y="2551176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 flipV="1">
            <a:off x="6492240" y="2514600"/>
            <a:ext cx="27432" cy="228600"/>
          </a:xfrm>
          <a:prstGeom prst="line">
            <a:avLst/>
          </a:prstGeom>
          <a:noFill/>
          <a:ln w="12700">
            <a:solidFill>
              <a:srgbClr val="5B6F9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32120" y="3209544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32120" y="3209544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自研代理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 flipV="1">
            <a:off x="6492240" y="2514600"/>
            <a:ext cx="27432" cy="886968"/>
          </a:xfrm>
          <a:prstGeom prst="line">
            <a:avLst/>
          </a:prstGeom>
          <a:noFill/>
          <a:ln w="12700">
            <a:solidFill>
              <a:srgbClr val="5B6F9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92240" y="2103120"/>
            <a:ext cx="822960" cy="8229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231343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492240" y="2971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315200" y="2514600"/>
            <a:ext cx="320040" cy="914"/>
          </a:xfrm>
          <a:prstGeom prst="line">
            <a:avLst/>
          </a:prstGeom>
          <a:noFill/>
          <a:ln w="19050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7680960" y="2130552"/>
            <a:ext cx="1005840" cy="768096"/>
          </a:xfrm>
          <a:prstGeom prst="roundRect">
            <a:avLst>
              <a:gd name="adj" fmla="val 7143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680960" y="2130552"/>
            <a:ext cx="100584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HotCRM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ERP · OA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议程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四个部分，从协议到落地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851660" cy="3017520"/>
          </a:xfrm>
          <a:prstGeom prst="roundRect">
            <a:avLst>
              <a:gd name="adj" fmla="val 3951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64592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22" y="1818742"/>
            <a:ext cx="294437" cy="2944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3162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514600"/>
            <a:ext cx="13944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 MCP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3154680"/>
            <a:ext cx="13944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M×N 集成难题、MCP 的定位、生态现状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583180" y="1371600"/>
            <a:ext cx="1851660" cy="3017520"/>
          </a:xfrm>
          <a:prstGeom prst="roundRect">
            <a:avLst>
              <a:gd name="adj" fmla="val 3951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811780" y="164592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602" y="181874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5760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2811780" y="2514600"/>
            <a:ext cx="13944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协议与架构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2811780" y="3154680"/>
            <a:ext cx="13944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/ Client / Server、三类原语、传输层、认证模型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1371600"/>
            <a:ext cx="1851660" cy="3017520"/>
          </a:xfrm>
          <a:prstGeom prst="roundRect">
            <a:avLst>
              <a:gd name="adj" fmla="val 3951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164592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582" y="1818742"/>
            <a:ext cx="294437" cy="29443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8358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4937760" y="2514600"/>
            <a:ext cx="13944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HotCRM 上的 MCP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4937760" y="3154680"/>
            <a:ext cx="13944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端点、11 个工具、各客户端接入方式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835140" y="1371600"/>
            <a:ext cx="1851660" cy="3017520"/>
          </a:xfrm>
          <a:prstGeom prst="roundRect">
            <a:avLst>
              <a:gd name="adj" fmla="val 3951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063740" y="164592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562" y="1818742"/>
            <a:ext cx="294437" cy="29443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0956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7063740" y="2514600"/>
            <a:ext cx="13944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真实调用与安全实践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7063740" y="3154680"/>
            <a:ext cx="13944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四组实测示例、三入口一套规则、风险与踩坑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 MCP：把 M × N 变成 M + 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AI 客户端对每个系统单独写集成，是无法维护的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435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没有标准：M × N 套集成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196596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" y="265176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" y="333756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33756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自研代理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0" y="182880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0040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00400" y="233172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0040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00400" y="283464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0040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00400" y="333756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00400" y="333756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数据仓库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 flipV="1">
            <a:off x="1645920" y="2011680"/>
            <a:ext cx="1554480" cy="137160"/>
          </a:xfrm>
          <a:prstGeom prst="line">
            <a:avLst/>
          </a:prstGeom>
          <a:noFill/>
          <a:ln w="9525">
            <a:solidFill>
              <a:srgbClr val="C4B5B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45920" y="2148840"/>
            <a:ext cx="1554480" cy="365760"/>
          </a:xfrm>
          <a:prstGeom prst="line">
            <a:avLst/>
          </a:prstGeom>
          <a:noFill/>
          <a:ln w="9525">
            <a:solidFill>
              <a:srgbClr val="C4B5B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645920" y="2148840"/>
            <a:ext cx="1554480" cy="868680"/>
          </a:xfrm>
          <a:prstGeom prst="line">
            <a:avLst/>
          </a:prstGeom>
          <a:noFill/>
          <a:ln w="9525">
            <a:solidFill>
              <a:srgbClr val="C4B5B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45920" y="2148840"/>
            <a:ext cx="1554480" cy="1371600"/>
          </a:xfrm>
          <a:prstGeom prst="line">
            <a:avLst/>
          </a:prstGeom>
          <a:noFill/>
          <a:ln w="9525">
            <a:solidFill>
              <a:srgbClr val="C4B5B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1645920" y="2011680"/>
            <a:ext cx="1554480" cy="822960"/>
          </a:xfrm>
          <a:prstGeom prst="line">
            <a:avLst/>
          </a:prstGeom>
          <a:noFill/>
          <a:ln w="9525">
            <a:solidFill>
              <a:srgbClr val="C4B5B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1645920" y="2514600"/>
            <a:ext cx="1554480" cy="320040"/>
          </a:xfrm>
          <a:prstGeom prst="line">
            <a:avLst/>
          </a:prstGeom>
          <a:noFill/>
          <a:ln w="9525">
            <a:solidFill>
              <a:srgbClr val="C4B5B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645920" y="2834640"/>
            <a:ext cx="1554480" cy="182880"/>
          </a:xfrm>
          <a:prstGeom prst="line">
            <a:avLst/>
          </a:prstGeom>
          <a:noFill/>
          <a:ln w="9525">
            <a:solidFill>
              <a:srgbClr val="C4B5B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645920" y="2834640"/>
            <a:ext cx="1554480" cy="685800"/>
          </a:xfrm>
          <a:prstGeom prst="line">
            <a:avLst/>
          </a:prstGeom>
          <a:noFill/>
          <a:ln w="9525">
            <a:solidFill>
              <a:srgbClr val="C4B5B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1645920" y="2011680"/>
            <a:ext cx="1554480" cy="1508760"/>
          </a:xfrm>
          <a:prstGeom prst="line">
            <a:avLst/>
          </a:prstGeom>
          <a:noFill/>
          <a:ln w="9525">
            <a:solidFill>
              <a:srgbClr val="C4B5B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1645920" y="2514600"/>
            <a:ext cx="1554480" cy="1005840"/>
          </a:xfrm>
          <a:prstGeom prst="line">
            <a:avLst/>
          </a:prstGeom>
          <a:noFill/>
          <a:ln w="9525">
            <a:solidFill>
              <a:srgbClr val="C4B5B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1645920" y="3017520"/>
            <a:ext cx="1554480" cy="502920"/>
          </a:xfrm>
          <a:prstGeom prst="line">
            <a:avLst/>
          </a:prstGeom>
          <a:noFill/>
          <a:ln w="9525">
            <a:solidFill>
              <a:srgbClr val="C4B5B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645920" y="3520440"/>
            <a:ext cx="1554480" cy="914"/>
          </a:xfrm>
          <a:prstGeom prst="line">
            <a:avLst/>
          </a:prstGeom>
          <a:noFill/>
          <a:ln w="9525">
            <a:solidFill>
              <a:srgbClr val="C4B5B5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008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条连接 · 12 种认证与错误格式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54880" y="132588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937760" y="1435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MCP：M + N 次实现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5029200" y="196596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02920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029200" y="265176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029200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5029200" y="333756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029200" y="333756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自研代理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7498080" y="182880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49808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7498080" y="233172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49808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7498080" y="283464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49808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7498080" y="333756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498080" y="3337560"/>
            <a:ext cx="914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数据仓库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5943600" y="2148840"/>
            <a:ext cx="429768" cy="54864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flipV="1">
            <a:off x="5943600" y="2697480"/>
            <a:ext cx="429768" cy="13716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flipV="1">
            <a:off x="5943600" y="2697480"/>
            <a:ext cx="429768" cy="82296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V="1">
            <a:off x="7068312" y="2011680"/>
            <a:ext cx="429768" cy="68580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flipV="1">
            <a:off x="7068312" y="2514600"/>
            <a:ext cx="429768" cy="18288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068312" y="2697480"/>
            <a:ext cx="429768" cy="32004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068312" y="2697480"/>
            <a:ext cx="429768" cy="82296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373368" y="2350008"/>
            <a:ext cx="694944" cy="694944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373368" y="235000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93776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次实现 · 一种协议、一种发现机制、一种授权模型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457200" y="43159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系统侧写一次 Server，所有客户端可用</a:t>
            </a:r>
            <a:endParaRPr lang="en-US" sz="1050" dirty="0"/>
          </a:p>
        </p:txBody>
      </p:sp>
      <p:sp>
        <p:nvSpPr>
          <p:cNvPr id="63" name="Text 60"/>
          <p:cNvSpPr txBox="1"/>
          <p:nvPr/>
        </p:nvSpPr>
        <p:spPr>
          <a:xfrm>
            <a:off x="3246120" y="43159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客户端侧写一次 Client，所有系统可接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6035040" y="43159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工具、身份、错误格式全部标准化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是什么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一个开放协议，规范 AI 应用如何发现并调用外部系统的工具、数据与提示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371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057400"/>
            <a:ext cx="2834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是 AI 应用的 USB-C 接口。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模型一侧只需要理解一种协议，系统一侧只需要实现一次 Server，中间的发现、调用、授权、错误格式全部标准化。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114800" y="1399032"/>
            <a:ext cx="457200" cy="457200"/>
          </a:xfrm>
          <a:prstGeom prst="ellipse">
            <a:avLst/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8244" y="152247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13258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起源与治理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158191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于 2024 年 11 月开源；2025 年 12 月移交 Linux 基金会旗下 Agentic AI Foundation 中立治理。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114800" y="2249424"/>
            <a:ext cx="457200" cy="457200"/>
          </a:xfrm>
          <a:prstGeom prst="ellipse">
            <a:avLst/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244" y="2372868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09160" y="21762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底层协议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709160" y="2432304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消息；连接时协商协议版本（如 2025-06-18）与双方能力。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114800" y="3099816"/>
            <a:ext cx="457200" cy="457200"/>
          </a:xfrm>
          <a:prstGeom prst="ellipse">
            <a:avLst/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244" y="3223260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709160" y="30266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客户端生态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4709160" y="328269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Claude、ChatGPT、Cursor、VS Code、Gemini 等均已支持；官方 SDK 覆盖 TypeScript、Python、Java、C#、Go 等十种语言。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114800" y="3950208"/>
            <a:ext cx="457200" cy="457200"/>
          </a:xfrm>
          <a:prstGeom prst="ellipse">
            <a:avLst/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244" y="4073652"/>
            <a:ext cx="210312" cy="2103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709160" y="38770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REST 的关系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4709160" y="413308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不取代 REST。MCP Server 通常就是一层包装：把 REST / SDK 能力翻译成模型可发现、可授权的工具。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架构：Host、Client、Server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三个角色，1:1 连接，模型只看到工具的描述与输入 schema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Host（AI 应用）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755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Claude Desktop · Cursor · 自研代理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21488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194560" y="214884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94560" y="2148840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 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194560" y="324612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194560" y="3246120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 B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600200" y="2377440"/>
            <a:ext cx="594360" cy="914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143000" y="2606040"/>
            <a:ext cx="914" cy="86868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3000" y="3474720"/>
            <a:ext cx="1051560" cy="914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2194560" y="26700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模型只见工具描述 + JSON Schema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（不含实现）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 · 授权 · 人工确认 · 安全策略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17720" y="160020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754880" y="1673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HotCRM MCP Server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754880" y="19476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远程 · Streamable HTTP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/api/v1/mcp · OAuth 2.1 / API Key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17720" y="274320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4754880" y="2816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文件系统 Server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0906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· stdio 子进程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只读工作目录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 flipV="1">
            <a:off x="3794760" y="2075688"/>
            <a:ext cx="822960" cy="301752"/>
          </a:xfrm>
          <a:prstGeom prst="line">
            <a:avLst/>
          </a:prstGeom>
          <a:noFill/>
          <a:ln w="19050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 flipV="1">
            <a:off x="3794760" y="3218688"/>
            <a:ext cx="822960" cy="256032"/>
          </a:xfrm>
          <a:prstGeom prst="line">
            <a:avLst/>
          </a:prstGeom>
          <a:noFill/>
          <a:ln w="19050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3794760" y="16459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04088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应用本身：管理会话、调用模型、执行用户授权与安全策略。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040880" y="26060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内为每个 Server 建立的 1:1 连接，负责握手、能力协商和消息路由。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04088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040880" y="3566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暴露工具 / 资源 / 提示的进程或服务；本地用 stdio，远程用 HTTP。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三类服务端原语，三类客户端原语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谁来决定何时使用，是区分它们的关键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2590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1644548"/>
            <a:ext cx="231343" cy="231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150876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工具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1280160" y="1801368"/>
            <a:ext cx="822960" cy="219456"/>
          </a:xfrm>
          <a:prstGeom prst="roundRect">
            <a:avLst>
              <a:gd name="adj" fmla="val 25000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280160" y="1801368"/>
            <a:ext cx="82296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模型控制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194560"/>
            <a:ext cx="222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模型决定何时调用、传什么参数。有 name、description、inputSchema。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例：query_records、run_action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76600" y="1325880"/>
            <a:ext cx="2590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59480" y="150876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268" y="164454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099560" y="150876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资源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4099560" y="1801368"/>
            <a:ext cx="822960" cy="219456"/>
          </a:xfrm>
          <a:prstGeom prst="roundRect">
            <a:avLst>
              <a:gd name="adj" fmla="val 25000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099560" y="1801368"/>
            <a:ext cx="82296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应用控制</a:t>
            </a:r>
            <a:endParaRPr lang="en-US" sz="850" dirty="0"/>
          </a:p>
        </p:txBody>
      </p:sp>
      <p:sp>
        <p:nvSpPr>
          <p:cNvPr id="20" name="Text 15"/>
          <p:cNvSpPr txBox="1"/>
          <p:nvPr/>
        </p:nvSpPr>
        <p:spPr>
          <a:xfrm>
            <a:off x="3459480" y="2194560"/>
            <a:ext cx="222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URI 标识的只读内容，由 Host 决定何时读入上下文。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例：file:///…、schema://crm_lead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096000" y="1325880"/>
            <a:ext cx="2590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78880" y="150876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668" y="1644548"/>
            <a:ext cx="231343" cy="23134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18960" y="150876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提示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918960" y="1801368"/>
            <a:ext cx="822960" cy="219456"/>
          </a:xfrm>
          <a:prstGeom prst="roundRect">
            <a:avLst>
              <a:gd name="adj" fmla="val 25000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918960" y="1801368"/>
            <a:ext cx="82296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用户控制</a:t>
            </a:r>
            <a:endParaRPr lang="en-US" sz="850" dirty="0"/>
          </a:p>
        </p:txBody>
      </p:sp>
      <p:sp>
        <p:nvSpPr>
          <p:cNvPr id="27" name="Text 21"/>
          <p:cNvSpPr txBox="1"/>
          <p:nvPr/>
        </p:nvSpPr>
        <p:spPr>
          <a:xfrm>
            <a:off x="6278880" y="2194560"/>
            <a:ext cx="222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可复用的提示模板，通常以斜杠命令或菜单形式暴露给用户。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例：/summarize-pipeline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客户端原语（Server 反向请求 Host）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57200" y="379476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5720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1463040" y="3767328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请 Host 用模型生成一段内容，费用与策略仍由 Host 控制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3276600" y="379476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327660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4282440" y="3767328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告诉 Server 可操作的边界（如工作目录、项目范围）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6096000" y="379476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09600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7101840" y="3767328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在执行中向用户追问缺失信息（2025-06 新增）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HotCRM 当前只暴露 Tools：11 个平台数据工具 + 打开 ai.exposed 的业务动作。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协议与传输：JSON-RPC 2.0 之上的生命周期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两种传输：本地 stdio，远程 Streamable HTTP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9224" y="1783080"/>
            <a:ext cx="914" cy="320040"/>
          </a:xfrm>
          <a:prstGeom prst="line">
            <a:avLst/>
          </a:prstGeom>
          <a:noFill/>
          <a:ln w="15875">
            <a:solidFill>
              <a:srgbClr val="D1D5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1325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5819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客户端声明协议版本与能力，服务端回应自己的版本与能力（tools / resources / prompts / logging …）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9224" y="2532888"/>
            <a:ext cx="914" cy="320040"/>
          </a:xfrm>
          <a:prstGeom prst="line">
            <a:avLst/>
          </a:prstGeom>
          <a:noFill/>
          <a:ln w="15875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5840" y="2075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notifications/initialized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握手完成，进入可操作状态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2871216"/>
            <a:ext cx="384048" cy="38404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9224" y="3282696"/>
            <a:ext cx="914" cy="320040"/>
          </a:xfrm>
          <a:prstGeom prst="line">
            <a:avLst/>
          </a:prstGeom>
          <a:noFill/>
          <a:ln w="15875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5840" y="2825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操作阶段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30815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tools/list · tools/call · resources/read · prompts/get；服务端可发 list_changed、progress、logging 通知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3621024"/>
            <a:ext cx="384048" cy="38404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05840" y="3575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关闭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" y="38313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stdio：关闭输入流；HTTP：结束会话（Mcp-Session-Id）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892040" y="132588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56632" y="1490472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076" y="1613916"/>
            <a:ext cx="210312" cy="21031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62356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stdio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909560" y="1527048"/>
            <a:ext cx="594360" cy="228600"/>
          </a:xfrm>
          <a:prstGeom prst="roundRect">
            <a:avLst>
              <a:gd name="adj" fmla="val 24000"/>
            </a:avLst>
          </a:prstGeom>
          <a:solidFill>
            <a:srgbClr val="FCA311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909560" y="1527048"/>
            <a:ext cx="594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5056632" y="2020824"/>
            <a:ext cx="3465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拉起子进程，经标准输入 / 输出交换消息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零网络暴露，天然继承本机用户身份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 CLI、桌面客户端、开发工具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892040" y="292608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056632" y="3090672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6" y="3214116"/>
            <a:ext cx="210312" cy="210312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562356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Streamable HTTP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7909560" y="3127248"/>
            <a:ext cx="594360" cy="228600"/>
          </a:xfrm>
          <a:prstGeom prst="roundRect">
            <a:avLst>
              <a:gd name="adj" fmla="val 24000"/>
            </a:avLst>
          </a:prstGeom>
          <a:solidFill>
            <a:srgbClr val="FCA311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7909560" y="3127248"/>
            <a:ext cx="594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远程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5056632" y="3621024"/>
            <a:ext cx="3465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 HTTP 端点：POST 发送 JSON-RPC 消息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需要流式时服务端以 SSE 返回；支持会话与断线续传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取代早期 HTTP + SSE 双端点方案；HotCRM：/api/v1/mcp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一次工具调用长什么样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tools/list 先返回工具描述与 JSON Schema，模型据此决定调用与参数；下面是 HotCRM 上实测的 aggregate_records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69080" cy="3291840"/>
          </a:xfrm>
          <a:prstGeom prst="roundRect">
            <a:avLst>
              <a:gd name="adj" fmla="val 1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380744"/>
            <a:ext cx="3849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 →  POST /api/v1/mcp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600200"/>
            <a:ext cx="38496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"jsonrpc"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"2.0"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"method"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"tools/call"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"params"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"aggregate_records"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"arguments"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"objectName"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"crm_lead"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"aggregations"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"function"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"alias"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"lead_count"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"function"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"field"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"estimated_amount"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"alias"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"total_estimated"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],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"groupBy"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"where"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"created_at"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"$gte"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"2026-09-14T00:00:00+08:00"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}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1325880"/>
            <a:ext cx="3931920" cy="219456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64608" y="1380744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864608" y="1600200"/>
            <a:ext cx="3712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"jsonrpc"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"2.0"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{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"{\"rows\":[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{\"status\":\"qualified\",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\"lead_count\":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\"total_estimated\":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15750000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… ],\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"totalGroups\":4}"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],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"isError"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3657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3657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把响应和请求关联；通知（notification）没有 id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39319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content[]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623560" y="3931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给模型看的内容块：text / image / resource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42062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isError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623560" y="42062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工具级失败的信号；协议级错误走 JSON-RPC error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认证与授权模型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令牌代表“这个用户”，而不是一个共享服务账号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2590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63220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07008" y="1554480"/>
            <a:ext cx="172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身份：怎么证明是谁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103120"/>
            <a:ext cx="222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远程传输采用 OAuth 2.1：授权码 + PKCE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通过 Protected Resource Metadata 公布授权服务器（RFC 9728）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客户端可动态注册（DCR）；令牌绑定资源（RFC 8707）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无头场景：API Key 请求头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76600" y="1325880"/>
            <a:ext cx="2590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59480" y="1508760"/>
            <a:ext cx="457200" cy="457200"/>
          </a:xfrm>
          <a:prstGeom prst="ellipse">
            <a:avLst/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24" y="163220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026408" y="1554480"/>
            <a:ext cx="172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授权：能做什么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3459480" y="2103120"/>
            <a:ext cx="222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令牌代表登录的那个用户，不是共享服务账号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tools/call 在服务端按调用者权限判定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行级、字段级安全同样生效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破坏性工具打标注，交由客户端人工确认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096000" y="1325880"/>
            <a:ext cx="2590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78880" y="1508760"/>
            <a:ext cx="457200" cy="457200"/>
          </a:xfrm>
          <a:prstGeom prst="ellipse">
            <a:avLst/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324" y="163220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45808" y="1554480"/>
            <a:ext cx="172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边界：不能做什么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278880" y="2103120"/>
            <a:ext cx="222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禁止令牌透传：Server 不得把上游令牌转交第三方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工具结果是数据，不是指令（防提示注入）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stdio Server 也要限制可访问目录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 ID 不能当作身份凭证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40080" y="3840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HotCRM 的做法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2011680" y="384048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部署自身即 OAuth 2.1 授权服务器，交互式客户端在浏览器登录一次；CI / 脚本用 x-api-key 请求头。每次调用都经过权限集、行级共享、字段级安全与审计——与控制台、REST 完全同一条判定链。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与 REST、Function Calling 的关系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不取代它们：它是 Function Calling 之上的“发现 + 传输 + 授权”标准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  <a:gridCol w="237744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Calling（厂商 SDK）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面向谁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开发者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开发者，格式因模型厂商而异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应用与模型，跨厂商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能力发现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读文档 / OpenAPI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工具列表硬编码在应用代码里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运行时 tools/list 动态发现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复用范围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每个客户端各写一次集成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绑定在某个应用内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一次实现，所有 MCP 客户端可用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身份模型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各自方案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通常是应用的服务账号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2.1，令牌代表调用者本人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彼此关系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 通常包装 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模型侧仍然是 function calling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统一的发现、传输与授权层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HotCRM 里：MCP 工具 = 数据 API + 权限判定 + 给模型看的描述与 schema。改一个对象定义，表单、REST、MCP 工具同时更新。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第二部分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920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HotCRM 上的 MCP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端点与工具面 · 客户端接入 · 四组实测调用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23560" y="132588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23560" y="1325880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list_objects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675120" y="132588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75120" y="1325880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describe_object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726680" y="132588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26680" y="1325880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query_records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23560" y="18928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23560" y="1892808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get_record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675120" y="18928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75120" y="1892808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aggregate_records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726680" y="18928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26680" y="1892808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create_record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623560" y="2459736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3560" y="2459736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update_record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675120" y="2459736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75120" y="2459736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delete_record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726680" y="2459736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26680" y="2459736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list_actions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623560" y="3026664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623560" y="3026664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run_action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675120" y="3026664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75120" y="3026664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validate_expression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HotCRM 的 MCP 端点与工具面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Streamable HTTP 端点，11 个平台工具，默认开启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3108960" cy="3154680"/>
          </a:xfrm>
          <a:prstGeom prst="roundRect">
            <a:avLst>
              <a:gd name="adj" fmla="val 2353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端点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173736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18288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</a:t>
            </a:r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//localhost:4001/api/v1/mcp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33172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传输：Streamable HTTP（POST + 可选 SSE）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身份：OAuth 2.1（部署自身即授权服务器）或 x-api-key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默认开启；OS_MCP_SERVER_ENABLED=false 可关闭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网页版需公网 HTTPS；本地客户端可直连内网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集成 → 连接智能体：一键配置、下载 SKILL.md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40480" y="1325880"/>
            <a:ext cx="4846320" cy="1088136"/>
          </a:xfrm>
          <a:prstGeom prst="roundRect">
            <a:avLst>
              <a:gd name="adj" fmla="val 4202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77640" y="1371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元数据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16002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list_objects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600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对象清单：名称、标签、字段数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977640" y="1847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describe_object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18470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字段、类型、必填、启用的特性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3977640" y="20939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validate_expression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2093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 CEL 表达式，返回在域字段与函数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840480" y="2505456"/>
            <a:ext cx="4846320" cy="1335024"/>
          </a:xfrm>
          <a:prstGeom prst="roundRect">
            <a:avLst>
              <a:gd name="adj" fmla="val 342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977640" y="25511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3977640" y="27797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query_records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27797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 / 字段 / 排序 / 分页，单次 ≤ 50 行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3977640" y="302666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get_record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217920" y="3026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id 取单条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3977640" y="327355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aggregate_records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217920" y="32735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count/sum/avg/min/max；日/周/月/季/年分桶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3977640" y="35204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/ update / delete_record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6217920" y="35204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写入同样经过校验与钩子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840480" y="3931920"/>
            <a:ext cx="4846320" cy="841248"/>
          </a:xfrm>
          <a:prstGeom prst="roundRect">
            <a:avLst>
              <a:gd name="adj" fmla="val 5435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977640" y="3977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业务动作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3977640" y="42062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list_actions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6217920" y="4206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仅返回 ai.exposed 且调用者有权限的动作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3977640" y="4453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run_action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6217920" y="44531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按名调用动作，可带 recordId 与 params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客户端接入：一个 URL，各家客户端各一段配置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集成 → 连接智能体 页面提供一键配置与可下载的 SKILL.md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1605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Users/sunhaolin/Documents/GitHub/sunhaolin-hotcrm/docs/demo/it-platform/IT-connect-ag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4069080" cy="2542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97764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集成 → 连接智能体（zh-CN 演示环境）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846320" y="132588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956048" y="1380744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首次使用弹出浏览器 OAuth 登录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4956048" y="1600200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--transport http objectstack \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//localhost:4001/api/v1/mcp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846320" y="2212848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956048" y="226771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.mcp.json（仓库级，密钥来自环境变量）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4956048" y="2487168"/>
            <a:ext cx="36210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"mcpServers"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"hotcrm"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"url"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"http://localhost:4001/api/v1/mcp"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"headers"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"x-api-key"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"${HOTCRM_API_KEY}"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4846320" y="4005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Cursor：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846320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.cursor/mcp.json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6812280" y="4005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Copilot：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6812280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.vscode/mcp.json（type: http）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4846320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CLI：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4846320" y="44439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~/.codex/config.toml</a:t>
            </a:r>
            <a:endParaRPr lang="en-US" sz="850" dirty="0"/>
          </a:p>
        </p:txBody>
      </p:sp>
      <p:sp>
        <p:nvSpPr>
          <p:cNvPr id="22" name="Text 18"/>
          <p:cNvSpPr txBox="1"/>
          <p:nvPr/>
        </p:nvSpPr>
        <p:spPr>
          <a:xfrm>
            <a:off x="6812280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/ claude.ai：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6812280" y="44439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设置 → 连接器 → 自定义连接器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 1：自然语言 → 工具调用链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“列出本周新建的线索” 在 Claude Code 里实际发生了什么（2026-09-15 实测）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5120640" cy="384048"/>
          </a:xfrm>
          <a:prstGeom prst="roundRect">
            <a:avLst>
              <a:gd name="adj" fmla="val 11905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325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3258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列出本周新建的线索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05840" y="1709928"/>
            <a:ext cx="914" cy="7315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783080"/>
            <a:ext cx="5120640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17830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猜测对象名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17830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query_records { objectName: "lead" }  →  ✕  Object 'lead' not found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005840" y="2167128"/>
            <a:ext cx="914" cy="7315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240280"/>
            <a:ext cx="5120640" cy="384048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" y="2240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发现对象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645920" y="22402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list_objects  →  32 个对象，找到 crm_lead（Lead，40 个字段）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005840" y="2624328"/>
            <a:ext cx="914" cy="7315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2697480"/>
            <a:ext cx="5120640" cy="384048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6928" y="2697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确认字段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645920" y="26974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describe_object crm_lead  →  created_at 为系统字段，可作过滤条件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005840" y="3081528"/>
            <a:ext cx="914" cy="7315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3154680"/>
            <a:ext cx="5120640" cy="384048"/>
          </a:xfrm>
          <a:prstGeom prst="roundRect">
            <a:avLst>
              <a:gd name="adj" fmla="val 11905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928" y="31546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查询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645920" y="31546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query_records crm_lead where created_at ≥ 2026-09-14 · orderBy created_at desc · limit 50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005840" y="3538728"/>
            <a:ext cx="914" cy="7315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3611880"/>
            <a:ext cx="5120640" cy="384048"/>
          </a:xfrm>
          <a:prstGeom prst="roundRect">
            <a:avLst>
              <a:gd name="adj" fmla="val 1190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66928" y="3611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645920" y="36118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条记录，hasMore=false；按状态：qualified 12 · new 9 · contacted 9 · unqualified 5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806440" y="1325880"/>
            <a:ext cx="2880360" cy="2240280"/>
          </a:xfrm>
          <a:prstGeom prst="roundRect">
            <a:avLst>
              <a:gd name="adj" fmla="val 244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916168" y="138074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query_records · arguments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5916168" y="1600200"/>
            <a:ext cx="26609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"objectName"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"crm_lead"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"where"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"created_at"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"$gte"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"2026-09-14T00:00:00+08:00"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"orderBy"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"field"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"created_at"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"order"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"limit"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806440" y="3657600"/>
            <a:ext cx="2880360" cy="82296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94360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0" y="39319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服务端的错误信息写给模型看，代理据此自我纠正；对象名与字段名一律先用元数据工具确认，不靠猜。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 2：聚合分析 aggregate_records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一次调用拿到分组统计，不必分页拉全量；日期可按日 / 周 / 月 / 季 / 年分桶并指定时区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325880"/>
          <a:ext cx="4206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4206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554480"/>
              </a:tblGrid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lead_count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total_estimated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qualified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15,750,000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contacted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unqualified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4937760" y="1325880"/>
            <a:ext cx="3749040" cy="1691640"/>
          </a:xfrm>
          <a:prstGeom prst="roundRect">
            <a:avLst>
              <a:gd name="adj" fmla="val 324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047488" y="1380744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第二个例子：商机按预计成交月份分桶</a:t>
            </a:r>
            <a:endParaRPr lang="en-US" sz="850" dirty="0"/>
          </a:p>
        </p:txBody>
      </p:sp>
      <p:sp>
        <p:nvSpPr>
          <p:cNvPr id="11" name="Text 6"/>
          <p:cNvSpPr txBox="1"/>
          <p:nvPr/>
        </p:nvSpPr>
        <p:spPr>
          <a:xfrm>
            <a:off x="5047488" y="1600200"/>
            <a:ext cx="3529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"objectName"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"crm_opportunity"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"aggregations"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"function"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"alias"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"opp_count"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"function"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"field"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"amount"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"alias"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"total_amount"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],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"groupBy"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{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"field"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"close_date"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"dateGranularity"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"month"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"alias"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"close_month"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],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"timezone"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"Asia/Shanghai"</a:t>
            </a:r>
            <a:endParaRPr lang="en-US" sz="8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3108960"/>
          <a:ext cx="3749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371600"/>
              </a:tblGrid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close_month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opp_count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total_amount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6,719,000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2026-09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8,665,000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3,460,000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2027-01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4937760" y="44988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响应节选（totalGroups: 11）· 聚合同样受行级与字段级安全约束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 3：业务动作 list_actions → run_action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写操作不直接改表，而是走应用声明的动作：校验、钩子、流程一个不少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convert_lead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7190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Lead · 转化线索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481328"/>
            <a:ext cx="1783080" cy="237744"/>
          </a:xfrm>
          <a:prstGeom prst="roundRect">
            <a:avLst>
              <a:gd name="adj" fmla="val 23077"/>
            </a:avLst>
          </a:prstGeom>
          <a:solidFill>
            <a:srgbClr val="FEE2E2"/>
          </a:solidFill>
          <a:ln w="9525">
            <a:solidFill>
              <a:srgbClr val="FEE2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46120" y="1481328"/>
            <a:ext cx="178308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requiresConfirmation: true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9842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把合格线索转成客户、联系人和商机。不可逆。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3154680" y="178308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opportunityName*  string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closeDate*  string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createOpportunity  boolean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opportunityAmount  number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" y="2898648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schedule_followup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Follow-up · 安排跟进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46120" y="3054096"/>
            <a:ext cx="1783080" cy="237744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 w="9525">
            <a:solidFill>
              <a:srgbClr val="DCFCE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46120" y="3054096"/>
            <a:ext cx="178308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requiresConfirmation: false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55701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在线索上创建下一次跟进任务，指派给线索负责人。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3154680" y="335584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subject*  string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dueDate*  string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activityType  call | email | meeting | demo | …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 low | normal | high | urgent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40680" y="1325880"/>
            <a:ext cx="3246120" cy="2011680"/>
          </a:xfrm>
          <a:prstGeom prst="roundRect">
            <a:avLst>
              <a:gd name="adj" fmla="val 272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50408" y="1380744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RUN_ACTION · 调用形态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5550408" y="160020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tools/call  run_action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"actionName"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"schedule_followup"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"recordId"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"zYv92wWicbPU0fkz"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"params"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"subject"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"跟进需求文档"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"dueDate"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"2026-09-18"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"activityType"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"call"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"priority"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"high"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440680" y="3447288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77840" y="3502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0" y="37216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requiresConfirmation 是“面向客户端的信号”，服务端不会暂停请求。客户端（或自研代理）必须在调用前实现人工确认；delete 类与 danger 变体的动作默认也带此标志。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 4：元数据工具与“写给模型看的”错误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validate_expression 让代理在写规则前先校验；结构化错误让代理自我纠正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69080" cy="1417320"/>
          </a:xfrm>
          <a:prstGeom prst="roundRect">
            <a:avLst>
              <a:gd name="adj" fmla="val 38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380744"/>
            <a:ext cx="3849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validate_expression · 请求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600200"/>
            <a:ext cx="3849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"objectName"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"crm_lead"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"site"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"validation"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"expression"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"record.estimated_amount &gt;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1000000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&amp;&amp; record.status == \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"qualified\""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4069080" cy="164592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2889504"/>
            <a:ext cx="3849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响应：可用的根对象、字段与函数一并返回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3108960"/>
            <a:ext cx="3849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"ok"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[],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"warnings"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[],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"inScope"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"dialect"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"cel"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"roots"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"record"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"previous"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"input"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"current_user"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"vars"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"fields"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"owner_id"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"rating"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…],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"functions"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"isBlank"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"daysBetween"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"coalesce"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"matches"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…] } }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54880" y="132588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64608" y="1380744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一次失败的查询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864608" y="1600200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query_records crm_opportunity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fields: [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"stage"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"amount"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"account_id"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2331720"/>
            <a:ext cx="3931920" cy="1188720"/>
          </a:xfrm>
          <a:prstGeom prst="roundRect">
            <a:avLst>
              <a:gd name="adj" fmla="val 4615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2395728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field 'account_id' on object 'crm_opportunity'. 'fields' chooses which fields to return; dropping an unknown one silently answered a NARROWER projection with a WIDER one …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54880" y="361188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64608" y="3666744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代理据此修正（describe_object 里的 lookup 名）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4864608" y="3886200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query_records crm_opportunity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fields: [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"stage"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"amount"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"crm_account"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✓ 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条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三个入口，一套规则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控制台、REST、MCP 共用同一条保存路径：AI 代理绕不过校验、钩子与授权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95044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控制台 UI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103120" y="1600200"/>
            <a:ext cx="411480" cy="960120"/>
          </a:xfrm>
          <a:prstGeom prst="line">
            <a:avLst/>
          </a:prstGeom>
          <a:noFill/>
          <a:ln w="19050">
            <a:solidFill>
              <a:srgbClr val="FCA31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222656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5840" y="2103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2103120" y="2331720"/>
            <a:ext cx="411480" cy="228600"/>
          </a:xfrm>
          <a:prstGeom prst="line">
            <a:avLst/>
          </a:prstGeom>
          <a:noFill/>
          <a:ln w="19050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2958084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5840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代理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 flipV="1">
            <a:off x="2103120" y="2560320"/>
            <a:ext cx="411480" cy="502920"/>
          </a:xfrm>
          <a:prstGeom prst="line">
            <a:avLst/>
          </a:prstGeom>
          <a:noFill/>
          <a:ln w="19050">
            <a:solidFill>
              <a:srgbClr val="FCA311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2606040" y="228600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2606040" y="228600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权限检查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474720" y="2560320"/>
            <a:ext cx="146304" cy="914"/>
          </a:xfrm>
          <a:prstGeom prst="line">
            <a:avLst/>
          </a:prstGeom>
          <a:noFill/>
          <a:ln w="1587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3621024" y="228600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3621024" y="228600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校验规则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(CEL)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489704" y="2560320"/>
            <a:ext cx="146304" cy="914"/>
          </a:xfrm>
          <a:prstGeom prst="line">
            <a:avLst/>
          </a:prstGeom>
          <a:noFill/>
          <a:ln w="1587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4636008" y="228600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636008" y="228600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钩子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5504688" y="2560320"/>
            <a:ext cx="146304" cy="914"/>
          </a:xfrm>
          <a:prstGeom prst="line">
            <a:avLst/>
          </a:prstGeom>
          <a:noFill/>
          <a:ln w="1587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5650992" y="228600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650992" y="228600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持久化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6519672" y="2560320"/>
            <a:ext cx="146304" cy="914"/>
          </a:xfrm>
          <a:prstGeom prst="line">
            <a:avLst/>
          </a:prstGeom>
          <a:noFill/>
          <a:ln w="1587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6665976" y="228600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665976" y="228600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钩子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7534656" y="2560320"/>
            <a:ext cx="146304" cy="914"/>
          </a:xfrm>
          <a:prstGeom prst="line">
            <a:avLst/>
          </a:prstGeom>
          <a:noFill/>
          <a:ln w="1587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7680960" y="228600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680960" y="228600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流程触发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7726680" y="30632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FCA311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726680" y="3063240"/>
            <a:ext cx="960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审计日志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8115300" y="2834640"/>
            <a:ext cx="45720" cy="228600"/>
          </a:xfrm>
          <a:prstGeom prst="line">
            <a:avLst/>
          </a:prstGeom>
          <a:noFill/>
          <a:ln w="15875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39" name="Text 33"/>
          <p:cNvSpPr txBox="1"/>
          <p:nvPr/>
        </p:nvSpPr>
        <p:spPr>
          <a:xfrm>
            <a:off x="2606040" y="17830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同一条保存路径（读操作同样经过权限集、行级共享、字段级安全）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457200" y="3749040"/>
            <a:ext cx="384048" cy="384048"/>
          </a:xfrm>
          <a:prstGeom prst="ellipse">
            <a:avLst/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93" y="3852733"/>
            <a:ext cx="176662" cy="176662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960120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没有旁路</a:t>
            </a:r>
            <a:endParaRPr lang="en-US" sz="1100" dirty="0"/>
          </a:p>
        </p:txBody>
      </p:sp>
      <p:sp>
        <p:nvSpPr>
          <p:cNvPr id="43" name="Text 36"/>
          <p:cNvSpPr txBox="1"/>
          <p:nvPr/>
        </p:nvSpPr>
        <p:spPr>
          <a:xfrm>
            <a:off x="960120" y="39593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REST 走同一条判定链；没有共享服务账号，也没有“AI 专用”放行规则。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3246120" y="3749040"/>
            <a:ext cx="384048" cy="384048"/>
          </a:xfrm>
          <a:prstGeom prst="ellipse">
            <a:avLst/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813" y="3852733"/>
            <a:ext cx="176662" cy="176662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3749040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读也受控</a:t>
            </a:r>
            <a:endParaRPr lang="en-US" sz="1100" dirty="0"/>
          </a:p>
        </p:txBody>
      </p:sp>
      <p:sp>
        <p:nvSpPr>
          <p:cNvPr id="47" name="Text 39"/>
          <p:cNvSpPr txBox="1"/>
          <p:nvPr/>
        </p:nvSpPr>
        <p:spPr>
          <a:xfrm>
            <a:off x="3749040" y="39593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与 aggregate 都按调用者的行级共享与字段级安全裁剪，看不到的字段聚合也算不到。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6035040" y="3749040"/>
            <a:ext cx="384048" cy="384048"/>
          </a:xfrm>
          <a:prstGeom prst="ellipse">
            <a:avLst/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8733" y="3852733"/>
            <a:ext cx="176662" cy="176662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6537960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留痕可查</a:t>
            </a:r>
            <a:endParaRPr lang="en-US" sz="1100" dirty="0"/>
          </a:p>
        </p:txBody>
      </p:sp>
      <p:sp>
        <p:nvSpPr>
          <p:cNvPr id="51" name="Text 42"/>
          <p:cNvSpPr txBox="1"/>
          <p:nvPr/>
        </p:nvSpPr>
        <p:spPr>
          <a:xfrm>
            <a:off x="6537960" y="39593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审计日志记录调用者身份、对象与动作；Setup 里的会话页可查看 MCP 会话。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安全风险与实践清单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六个最常见的风险点，每个对应一条可执行的做法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298448"/>
            <a:ext cx="2590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1435608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53" y="1539301"/>
            <a:ext cx="176662" cy="1766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78992" y="1453896"/>
            <a:ext cx="185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提示注入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1865376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工具返回的记录内容里可能藏有指令（如客户备注写着“忽略之前的规则”）。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230428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把工具结果当数据而非指令；对外部输入字段做标注与过滤。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276600" y="1298448"/>
            <a:ext cx="2590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13760" y="1435608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453" y="1539301"/>
            <a:ext cx="176662" cy="17666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98392" y="1453896"/>
            <a:ext cx="185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工具投毒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413760" y="1865376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恶意或被篡改的 Server 用工具描述诱导模型做额外操作。</a:t>
            </a:r>
            <a:endParaRPr lang="en-US" sz="850" dirty="0"/>
          </a:p>
        </p:txBody>
      </p:sp>
      <p:sp>
        <p:nvSpPr>
          <p:cNvPr id="18" name="Text 13"/>
          <p:cNvSpPr txBox="1"/>
          <p:nvPr/>
        </p:nvSpPr>
        <p:spPr>
          <a:xfrm>
            <a:off x="3413760" y="230428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只接入可信 Server；上线前审查 tools/list 里的描述与 schema。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096000" y="1298448"/>
            <a:ext cx="2590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33160" y="1435608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853" y="1539301"/>
            <a:ext cx="176662" cy="1766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717792" y="1453896"/>
            <a:ext cx="185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权限过大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233160" y="1865376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代理复用管理员身份，模型一次误判就是全库可写。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6233160" y="230428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为代理单独建权限集与 API Key，最小权限，按对象授予动词。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457200" y="2944368"/>
            <a:ext cx="2590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94360" y="3081528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53" y="3185221"/>
            <a:ext cx="176662" cy="17666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78992" y="3099816"/>
            <a:ext cx="185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破坏性操作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3511296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convert、delete 类动作不可逆，服务端不会替客户端暂停。</a:t>
            </a:r>
            <a:endParaRPr lang="en-US" sz="850" dirty="0"/>
          </a:p>
        </p:txBody>
      </p:sp>
      <p:sp>
        <p:nvSpPr>
          <p:cNvPr id="30" name="Text 23"/>
          <p:cNvSpPr txBox="1"/>
          <p:nvPr/>
        </p:nvSpPr>
        <p:spPr>
          <a:xfrm>
            <a:off x="594360" y="395020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客户端实现 requiresConfirmation 人工确认；危险动作不 ai.exposed。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3276600" y="2944368"/>
            <a:ext cx="2590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413760" y="3081528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7453" y="3185221"/>
            <a:ext cx="176662" cy="17666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898392" y="3099816"/>
            <a:ext cx="185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密钥泄漏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3413760" y="3511296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写进配置文件后随仓库、截图、日志扩散。</a:t>
            </a:r>
            <a:endParaRPr lang="en-US" sz="850" dirty="0"/>
          </a:p>
        </p:txBody>
      </p:sp>
      <p:sp>
        <p:nvSpPr>
          <p:cNvPr id="36" name="Text 28"/>
          <p:cNvSpPr txBox="1"/>
          <p:nvPr/>
        </p:nvSpPr>
        <p:spPr>
          <a:xfrm>
            <a:off x="3413760" y="395020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配置只引用环境变量（${HOTCRM_API_KEY}）；密钥可轮换、可吊销、设到期。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6096000" y="2944368"/>
            <a:ext cx="2590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233160" y="3081528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853" y="3185221"/>
            <a:ext cx="176662" cy="17666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717792" y="3099816"/>
            <a:ext cx="185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不可观测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6233160" y="3511296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出了问题不知道是谁、通过哪个客户端、调了什么。</a:t>
            </a:r>
            <a:endParaRPr lang="en-US" sz="850" dirty="0"/>
          </a:p>
        </p:txBody>
      </p:sp>
      <p:sp>
        <p:nvSpPr>
          <p:cNvPr id="42" name="Text 33"/>
          <p:cNvSpPr txBox="1"/>
          <p:nvPr/>
        </p:nvSpPr>
        <p:spPr>
          <a:xfrm>
            <a:off x="6233160" y="395020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开启审计；Setup 会话页查看 MCP 会话；限流与访问控制放在网关层。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接入实践中的三个坑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都是在本仓库接入 Claude Code 时真实遇到的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298448"/>
            <a:ext cx="2590800" cy="3200400"/>
          </a:xfrm>
          <a:prstGeom prst="roundRect">
            <a:avLst>
              <a:gd name="adj" fmla="val 2824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1463040"/>
            <a:ext cx="420624" cy="42062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60" y="1576608"/>
            <a:ext cx="193487" cy="1934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481328"/>
            <a:ext cx="176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动态注册失败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21792" y="2011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621792" y="2194560"/>
            <a:ext cx="2261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首次连接弹浏览器登录后报错，无法完成授权。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621792" y="2578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" y="2761488"/>
            <a:ext cx="2261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认证库（better-auth oauth-provider 1.7.2）把未声明 application_type 的注册当作 web 客户端，拒绝 Claude Code 注册的 loopback 回调 URI。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621792" y="35387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621792" y="37216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改用 x-api-key 请求头：.mcp.json 引用 ${HOTCRM_API_KEY}，密钥在 Setup → 集成 签发并放进 ~/.claude/settings.json 的 env。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276600" y="1298448"/>
            <a:ext cx="2590800" cy="3200400"/>
          </a:xfrm>
          <a:prstGeom prst="roundRect">
            <a:avLst>
              <a:gd name="adj" fmla="val 2824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441192" y="1463040"/>
            <a:ext cx="420624" cy="42062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60" y="1576608"/>
            <a:ext cx="193487" cy="19348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962400" y="1481328"/>
            <a:ext cx="176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重置数据库后 401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441192" y="2011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3441192" y="2194560"/>
            <a:ext cx="2261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开发环境重建 DB 后，MCP 调用先 401，随后客户端回退到 OAuth 又失败。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3441192" y="2578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3441192" y="2761488"/>
            <a:ext cx="2261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存于数据库，重置即失效；客户端在 401 后尝试 OAuth，撞上第一个坑。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3441192" y="35387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3441192" y="37216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重建演示数据后重新签发密钥并更新环境变量；把这一步写进 RUNBOOK。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6096000" y="1298448"/>
            <a:ext cx="2590800" cy="3200400"/>
          </a:xfrm>
          <a:prstGeom prst="roundRect">
            <a:avLst>
              <a:gd name="adj" fmla="val 2824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260592" y="1463040"/>
            <a:ext cx="420624" cy="42062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160" y="1576608"/>
            <a:ext cx="193487" cy="19348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781800" y="1481328"/>
            <a:ext cx="176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结果集与字段名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6260592" y="2011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6260592" y="2194560"/>
            <a:ext cx="2261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query_records 单次 ≤ 50 行；猜字段名（account_id）被拒绝。</a:t>
            </a:r>
            <a:endParaRPr lang="en-US" sz="850" dirty="0"/>
          </a:p>
        </p:txBody>
      </p:sp>
      <p:sp>
        <p:nvSpPr>
          <p:cNvPr id="33" name="Text 27"/>
          <p:cNvSpPr txBox="1"/>
          <p:nvPr/>
        </p:nvSpPr>
        <p:spPr>
          <a:xfrm>
            <a:off x="6260592" y="2578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6260592" y="2761488"/>
            <a:ext cx="2261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限制是刻意的：防止把整表塞进模型上下文；投影字段必须存在。</a:t>
            </a:r>
            <a:endParaRPr lang="en-US" sz="850" dirty="0"/>
          </a:p>
        </p:txBody>
      </p:sp>
      <p:sp>
        <p:nvSpPr>
          <p:cNvPr id="35" name="Text 29"/>
          <p:cNvSpPr txBox="1"/>
          <p:nvPr/>
        </p:nvSpPr>
        <p:spPr>
          <a:xfrm>
            <a:off x="6260592" y="35387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6260592" y="37216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要总数、分布用 aggregate_records；翻页用 offset；字段先 describe_object 再写。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写一个自己的 MCP Server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把内部系统包装成工具：TypeScript SDK 约 20 行；Python、Java、C#、Go 同构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技术介绍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892040" cy="2926080"/>
          </a:xfrm>
          <a:prstGeom prst="roundRect">
            <a:avLst>
              <a:gd name="adj" fmla="val 187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380744"/>
            <a:ext cx="4672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server.ts · @modelcontextprotocol/sdk（TypeScript）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600200"/>
            <a:ext cx="46725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McpServer }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"@modelcontextprotocol/sdk/server/mcp.js"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StdioServerTransport }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"@modelcontextprotocol/sdk/server/stdio.js"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z }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"zod"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server =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McpServer({ name: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"erp-bridge"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version: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"1.0.0"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server.registerTool(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"get_invoice"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description: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"按发票号查询 ERP 发票（只读）"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inputSchema: { invoiceNo: z.string().describe(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"发票号"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},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annotations: { readOnlyHint: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({ invoiceNo }) =&gt; {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inv =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erp.findInvoice(invoiceNo);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(!inv)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isError: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content: [{ type: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text: `未找到发票 ${invoiceNo}` }] };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content: [{ type: 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text: JSON.stringify(inv) }] };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server.connect(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StdioServerTransport());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检查清单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164592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工具名与 description 写给模型看：说清何时用、返回什么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inputSchema 尽量严格：枚举、格式、必填，减少模型猜测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错误走 isError 并说明如何修正，而不是抛异常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标注 readOnlyHint / destructiveHint，客户端据此确认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返回结构化文本，控制体积；大结果提供分页或聚合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MCP Inspector 本地调试 tools/list 与 tools/call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远程部署：Streamable HTTP + OAuth 2.1，令牌不透传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566928" cy="56692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711" y="1113191"/>
            <a:ext cx="260787" cy="26078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941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是标准接口，不是又一个 SDK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12893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一次实现，所有支持 MCP 的客户端可用；发现、传输、授权都由协议规定。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2011680"/>
            <a:ext cx="566928" cy="56692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11" y="2164751"/>
            <a:ext cx="260787" cy="26078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80160" y="1993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HotCRM 上没有 AI 旁路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280160" y="23408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调用与控制台、REST 走同一条判定链：权限集、行级共享、字段级安全、校验、钩子、审计。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48640" y="3063240"/>
            <a:ext cx="566928" cy="56692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1" y="3216311"/>
            <a:ext cx="260787" cy="26078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044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从只读开始，写操作走动作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1280160" y="339242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先接 query / aggregate / describe；写入通过 ai.exposed 的动作，不可逆操作由客户端人工确认。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035040" y="9601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E2F5C"/>
          </a:solidFill>
          <a:ln w="9525">
            <a:solidFill>
              <a:srgbClr val="1E2F5C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21792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资源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协议规范与文档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6217920" y="16367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modelcontextprotocol.io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6217920" y="19293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与参考 Server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github.com/modelcontextprotocol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0" y="2441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HotCRM 接入页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6217920" y="26609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 → 集成 → 连接智能体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6217920" y="2953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平台技术说明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6217920" y="3172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docs/demo/it-platform/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6217920" y="34655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本仓库客户端配置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6217920" y="3685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.mcp.json（x-api-key）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欢迎提问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技术介绍（面向 IT 技术人员）</dc:title>
  <dc:subject>PptxGenJS Presentation</dc:subject>
  <dc:creator>HotCRM</dc:creator>
  <cp:lastModifiedBy>HotCRM</cp:lastModifiedBy>
  <cp:revision>1</cp:revision>
  <dcterms:created xsi:type="dcterms:W3CDTF">2026-09-15T14:29:40Z</dcterms:created>
  <dcterms:modified xsi:type="dcterms:W3CDTF">2026-09-15T14:29:40Z</dcterms:modified>
</cp:coreProperties>
</file>