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各位好。上一次我们给业务同事演示了 40 步流程怎么在系统里跑通；今天这一场专门讲给 IT 团队：这个平台是什么结构、业务规则放在哪里、怎么和贵司的系统对接、安全和审计怎么做、上线以后怎么运维。全程讲的都是当前安装版本的实际能力，哪些是配置、哪些要写代码、哪些还没有，我会分开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先把今天的提纲交代清楚：五个问题。第一，架构是什么；第二，业务规则放在哪里、怎么改；第三，怎么和外部系统对接，包括 AI 代理通过 MCP 接入；第四，安全，谁能看什么、审计怎么留痕；第五，上线和升级怎么做。一个口径贯穿全场：我讲的是已安装版本的实际行为，能力分三类，开箱即用的、平台有但要贵司环境开启的、以及今天没有的，我会标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一句话：应用就是元数据。左边是源码仓库，里面的对象、钩子、流程、动作、技能、界面、权限、翻译，都是 TypeScript 声明；中间的 objectstack.config.ts 把它们登记成一个栈；编译成一份 JSON 产物；运行时加载这份产物，负责存储、权限、自动化、审批、分析、消息、文件这些通用能力。下面一行是三个入口：网页控制台、REST 数据 API、给 AI 代理用的 MCP 端点。三个入口共用同一套对象、校验和权限，这一点后面讲安全时会反复用到。存储层通过驱动适配，开发用 SQLite，生产用 PostgreSQL、MySQL 或 SQL Server。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这页是零件清单。上面一行是内核和数据层：core、runtime、spec、metadata、objectql 查询语言、formula 公式引擎、三个存储驱动、平台对象、账号、CLI。中间一行是插件和服务：认证、安全、共享、审批、自动化、分析、消息、文件存储、记录变更触发器；审计插件随 auth 一起装配；webhooks 插件平台有，本应用没启用。下面一行是应用向运行时声明的能力列表 requires，缺一项就拒绝启动。三个注意点：ai 不在列表里，因为 AI 运行时是企业版的，技能元数据本身没问题；hierarchy-security 是唯一声明的企业版能力，用于经理对下属合同的写权限，开源版上安全退化为仅本人；webhooks 想用就加一行声明。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这张表回答「业务规则到底放在哪」。每一行是一类元数据：目录、文件后缀、在栈里的注册键、以及本应用现在有多少。数据模型 32 个对象 574 个字段 37 条校验；51 个钩子；40 个动作；38 条流程；6 个 AI 技能；界面元数据；分析层；导入映射；安全三件套：权限集、共享规则、岗位；四个语言包；还有按环境回放的初始数据。所有这些都是文本文件，进 git、走评审、跑测试。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第一部分讲数据和业务规则。顺序是从静到动：先看对象怎么定义，再看校验和状态机，然后是钩子、流程、审批，最后是把这些串起来的动作按钮。每一层都是声明式元数据，我会用贵司 40 步里的例子来对应。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数据模型的骨架，不是全图。上面一行是销售主链：线索、客户、商机、报价、合同。第二行往下是贵司关心的项目交付域：售前项目挂在商机下，交付项目挂在合同下；预算调整、成本计划行、工时表、差旅成本是交付项目的主从子对象，随项目级联删除、共享也随父记录走。虚线是钩子维护的业务关系：费率卡给成本计划行带出单价，已审批的请假自动同步到工时表。右边三组是服务与市场、财务与预测、主数据和平台对象。两点给 IT 同事：一是命名空间，业务对象 crm_ 前缀、平台对象 sys_ 前缀，权限和 API 是同一套；二是关系类型只有 lookup 和 masterDetail 两种，语义明确。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这是工时表对象的真实定义，去掉了注释。看几个点：sharingModel 是 controlled_by_parent，工时表的可见性跟着交付项目走；masterDetail 到交付项目，级联删除；approval_status 是 readonly，界面上只显示不能手改，只有「发起审批」按钮和审批流程能写；cost 是存储字段，由钩子算 hours 乘以 rate 写进去；最后 enable 里逐对象声明 REST 开关和允许的动词。右边是常用字段类型。IT 同事关心的是：新加一个对象或字段，就是改这个文件，表单、列表、API、MCP 工具全部随之出现，不需要动前端。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校验分两种。上面是脚本校验：一条 CEL 谓词，比如「关闭日期不能早于今天，除非商机已关闭」。注意 has() 的用法，表达式对缺字段的记录也有定义，这是我们的硬性规范，因为记录页会在数据到达前先求值一次。下面是状态机：对每个状态声明允许迁移到哪些状态，右边是工单状态机的图，越界迁移按 severity 处理，可以是拒绝也可以是警告。关键在于，同一条规则在界面、REST、MCP 三处生效，AI 代理也绕不过去。跨对象的规则放钩子，下一页讲。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这页回答「复杂业务规则写在哪」。上面是一次保存的完整路径：权限检查、校验规则、before 钩子、持久化、after 钩子，然后触发记录变更流程。三个入口共用这条路径。中间是工时表的例子：费率卡带出单价、同步已审批的请假、算成本、最后一个是预算门禁，实际成本超预算就拒绝，REST 调用方拿到 400 和结构化错误码，界面弹出中文提示。左下是拒绝信封的代码，注意它是内联在每个钩子里的，因为钩子在 QuickJS 沙箱里跑，不能引用外部模块，这保证了钩子可以纯元数据打包。右边是事件类型和约束。所有 51 个钩子都有用真实引擎跑的测试。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流程是平台的自动化引擎。四种触发：屏幕流程从按钮发起带表单；记录变更流程在保存后按 CEL 条件触发，贵司的九条审批都是这一类；定时流程按 cron 跑，比如 SLA 监控和预测快照；子流程被别的流程调用。右边是 Studio 里的可视化视图。三个 IT 关心的点：一是运行身份，记录变更流程用 system，因为写入可能来自集成或种子回放，没有用户会话；二是触发条件写迁移而不是状态，否则每次编辑都会重复触发，账务交接会发重复单；三是运维口径，Setup 里可以逐条关掉安装包自带的流程，或者克隆后改写。底部是 13 种节点类型，http 和 approval 两个后面单独讲。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审批是贵司流程里出现最多的东西，这页把它拆成三块。发起是一个动作按钮，把只读的状态字段写成 submitted；流转是一条记录变更流程，图上就是它的节点：读取记录、审批节点、通过则标记并通知、驳回则标记并通知。审批节点的配置决定审批人怎么找：按岗位、按指定用户、按直属经理、或者组织所有者，找不到人时有兜底，不会卡死；决定前记录锁定。留痕在平台对象 sys_approval_request，右下是它的列表，谁发起、谁审、什么时候、什么决定，全部可查可导出。最后一点对 IT 很实用：九条审批流程是同一个模板函数生成的，新增一条审批就是一行声明。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动作就是按钮，也是元数据。左边是「发起审批」的真实定义：脚本类型，在沙箱里执行，声明了 api.write 能力和 5 秒超时；locations 决定出现在记录头和列表行；visible 是一个 CEL 谓词，草稿或被驳回时才显示；确认文案、成功提示、刷新都由运行时渲染。右边的重点是「三处同一入口」：这个按钮在界面能点，REST 可以 POST 调用，打开 ai.exposed 之后 AI 助手也能以工具形式调用，走的是同一段代码和同一套权限。不可逆的动作可以要求人工确认。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界面这页讲得快一些。左边是交付项目的列表，这个页面没有一行手写前端代码：导航来自 app 元数据，列表来自 view 元数据，记录详情来自 page 元数据，表单来自字段定义。多语言是四个语言包，CI 里有一道门槛要求翻译零缺失，所以不会出现半中半英的界面。控制台是平台统一的组件库，系统设置、Studio 和业务应用是同一套，Studio 可以浏览安装包的元数据。对 IT 的意义是：界面改动走的是和业务规则一样的评审、测试和发布流程。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分析层三件套：数据集定义查询，报表和仪表板消费数据集。左边是项目财务仪表板，全部由元数据声明。IT 关心的两点：一是权限，仪表板的数字受同一套行级权限约束，销售代表和总监看到的是同一份定义、不同的数；二是没有 ETL 和第二份口径，就是对象数据的实时视图，我们还有一个对账脚本在 CI 里把仪表板数字和源记录逐项核对。外部 BI 要取数，走 REST 查询或者外部数据源，第二部分讲。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第二部分讲接口。先讲数据 API，因为其他所有入口都建立在它之上；然后是 MCP，也就是 AI 代理怎么接进来；再讲平台自带的 AI 技能；最后是出站方向：怎么把数据可靠地送到贵司的财务、OA 系统，以及外部数据源和导入导出。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 API 是所有入口的地基，这页的请求和响应都是今天在演示环境上实测的。第一步登录拿 cookie，无头场景用 API 密钥。第二步查询，filters 支持对象形式和数组形式，可以裁剪字段和分页，响应带总数和是否还有更多。第三步最重要：通过 API 在超预算的试点项目上新建工时表，被钩子拦下，返回 400 和结构化的 code、userMessage，和界面上看到的拦截是同一条规则。第四步是通过 API 调用「发起审批」动作，已审批的工时表被拒绝，和按钮行为一致。右边是端点表和几个限制：批量写入的一万行上限、登录限流；业务接口本身默认不限流，建议放在贵司网关。没有 GraphQL。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是今天最想让 IT 同事记住的一页。上面的链路：左边是各种 AI 客户端，Claude、Cursor、VS Code、Codex，或者贵司自己写的代理；它们连到本部署的 MCP 端点，身份走 OAuth 2.1，部署本身就是授权服务器，用户在浏览器里登录一次，代理拿到的是这个用户自己的令牌；无头场景用 API 密钥。代理拿到的工具是平台的数据工具，加上打开了 ai.exposed 的动作。关键是最右边：每一次调用都经过和界面一样的判定，权限集、行级共享、字段级安全、审计，没有共享服务账号，没有旁路。左下是 Setup 里的「连接智能体」页面，每种客户端一键配置，还可以下载 SKILL.md 教代理怎么用本环境。两个部署提示：网页版 Claude 需要公网 HTTPS，本地客户端可以直连内网；MCP 不依赖企业版 AI 运行时。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技能这页要把口径讲清楚。应用带六个技能，表格列了每个技能什么时候激活、读什么、写什么：五个是只读的，只有线索评估有写入，而且写入是通过真实的动作，转化线索这种不可逆的还要人工确认。右边是「实时数据」技能的定义，本质是一段说明加一组工具名，工具来自平台，技能自己不带私有工具。版本口径：技能的运行时在企业版，我们的开源版安装里刻意不声明 ai 能力，技能照常校验和打包，但助手面板不出现。这不影响上一页的 MCP，贵司可以先用自己的代理通过 MCP 接进来。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出站方向。上面是账务交接的真实链路：商机赢单或合同生效这个「迁移」触发流程，http 节点声明 durable，不是内联调用，而是进出站队列，由平台的投递器重试、退避、死信，每次尝试带同一个投递 ID，贵司接收端按 ID 做幂等。下面三块：左边是这条可靠 HTTP 的要点；中间是外部数据源和导入导出，Setup 里可以直接连贵司的 PostgreSQL 或 MySQL 把表同步成对象，历史数据用导入映射；右边是 webhooks，平台有这个插件但本应用没启用，原因是它只能发固定信封，带条件、带明细的通知应该用流程 http 节点。底部是选型建议。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第三部分是安全。三页：认证与身份，重点是哪些开关默认是关的、上线前要打开；授权分层，回答「谁能看什么」；审计、加密和脱敏。全部按已安装版本的实际行为讲。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认证这页是一张「上线前检查表」。能力都在：scrypt 存密码、密码策略、账号锁定、登录限流、TOTP 多因素、SAML 和 OIDC 单点登录、SCIM 同步、会话控制。但默认值保守：密码策略默认关，账号锁定阈值默认 0 也就是不锁，多因素默认关，会话空闲和绝对超时默认不限。右边一列是我们的建议，最重要的一条是把锁定阈值设上。SCIM 有能力没界面，要当作部署项。右边是会话页面，管理员可以踢掉任何一个会话。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授权分四层，从上到下：权限集是对象级的门，不放行就直接拒绝，后面的都不看；组织默认决定行级基线，私有、公开只读或随父记录；共享规则用 CEL 条件把口子打开给某个岗位，比如大额在途商机让销售总监可读；手工共享是记录级的。字段级安全贯穿各层，某个字段对某个权限集不可读，加上读时脱敏。右边是 Setup 里的权限集列表。岗位在这个平台是扁平的能力分发组，不是汇报树；沿汇报线放权的能力在企业版，开源版上会安全退化为仅本人。最后一句是全场反复说的：三个入口同一判定。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审计日志是平台对象 sys_audit_log，只追加、所有字段只读，本应用因为声明了 auth 能力自动就有。记录八种动作，记录变更带新旧值；「谁看过这条记录」的读审计从 17.1.0 起可以按需打开。几个不记录的要说清楚：失败登录、导出、AI 调用，需要的话在 IdP 或网关补。保留策略是热数据 90 天、归档 7 年。加密方面：secret 类型字段经加密提供者落库，没有提供者会拒绝写入而不是存明文；脱敏是读时显示规则，不是加密，两者要组合用。备份是数据库级，由部署侧负责。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最后一部分讲交付和运维：代码怎么进来、怎么被检查、怎么变成产物、怎么部署到不同环境、怎么升级回滚，最后是我们对贵司系统接入顺序的建议。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交付的核心是：元数据就是源码，源码就在 git 里。一条 PR 要过两排门槛：源码卫生、token 只降不升、validate 跑 44 条作者时规则、lint、i18n 零缺失、typecheck；然后构建产物、跑三千六百多个用例并检查覆盖率、Playwright 真实浏览器端到端、文档站构建和链接检查、CodeQL 安全扫描；评审通过合并，再由发布工作流推到目标环境。本地一条 pnpm verify 等价于 CI。对贵司的意义：二次开发走同一条流水线，评审看到的就是全部变更，没有藏在数据库里的配置。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部署模型很简单：一份编译产物，装到哪个环境都一样，环境之间的差别只有数据库和种子。开发用内置 SQLite，测试和生产用 PostgreSQL、MySQL 或 SQL Server。种子按环境回放，主数据进生产，演示数据只进开发。构建组合在构建时决定，本次演示用的是中文组合。升级前用 os migrate plan 看元数据和物理库的差异，破坏性变更会被标出来；回滚就是重新部署上一个产物。产物声明协议主版本，运行时不符会拒绝加载。右下是 Setup 里的软件包列表。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这页把贵司 40 步的需求映射到平台原语上，业务同事看过演示，IT 同事看这张表就知道每一步在哪一层实现。九类审批是动作加流程加审批节点；招标代理不能发起商机是一条谓词；铁三角和项目角色是 lookup 字段加岗位；带出单价和成本计算是钩子；超预算禁填工时是跨对象门禁钩子，API 同样拦；查询和仪表板是分析层；附件和通知是平台服务；多语言是翻译包。没有一项需要写前端或改运行时。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最后是接入建议。中间是 HotCRM，六个方向：身份系统走 SAML 或 OIDC 单点登录加 SCIM 同步；历史数据用导入映射和 REST 批量写；财务 ERP 用可靠出站 HTTP 做赢单和合同生效的交接，开票收款回写走 REST；OA 和消息用 http 节点通知；BI 用 REST 查询或外部数据源；AI 助手用 MCP。分三个阶段：上线前把身份、数据库、主数据、权限落定；上线后一两个月做财务、OA、BI 和审计接入；第三阶段接 AI 和按需启用企业版能力。每一步都是现成能力，不需要定制运行时。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三句话收尾。第一，应用即元数据，所有东西进 git、走评审、过 CI，一份产物装到任何环境。第二，三个入口一套规则，控制台、REST、MCP 共用同一套对象、校验、钩子和授权，AI 代理也绕不过去。第三，能力完整但默认保守，上线前按检查表把认证相关的开关打开。材料都在仓库里：这份 PPT 和讲稿、平台文档、演示环境的运行手册。欢迎提问。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面向贵司 IT 团队：架构、元数据、流程与审批、接口与 MCP、安全与合规、交付与运维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平台版本 @objectstack/* 17.4.0 · HotCRM 3.0.0 · 2026 年 9 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120640"/>
            <a:ext cx="1664208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元数据驱动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5120640"/>
            <a:ext cx="1664208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5120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流程与审批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5120640"/>
            <a:ext cx="1664208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5120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5120640"/>
            <a:ext cx="166420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5120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5120640"/>
            <a:ext cx="166420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5120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权限与审计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46920" y="5120640"/>
            <a:ext cx="166420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46920" y="5120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交付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团队最关心的五个问题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66544" cy="2377440"/>
          </a:xfrm>
          <a:prstGeom prst="roundRect">
            <a:avLst>
              <a:gd name="adj" fmla="val 5310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一个由元数据定义的应用，跑在 ObjectStack 运行时上；源码即配置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8064" y="1463040"/>
            <a:ext cx="2066544" cy="2377440"/>
          </a:xfrm>
          <a:prstGeom prst="roundRect">
            <a:avLst>
              <a:gd name="adj" fmla="val 53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1600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798064" y="219456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业务规则放哪？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265176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对象、校验、钩子、流程、动作、技能，全部是声明式元数据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47488" y="1463040"/>
            <a:ext cx="2066544" cy="2377440"/>
          </a:xfrm>
          <a:prstGeom prst="roundRect">
            <a:avLst>
              <a:gd name="adj" fmla="val 5310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1600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19456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怎么对接？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265176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REST/ObjectQL 数据 API、MCP 端点、可靠出站 HTTP、导入映射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6912" y="1463040"/>
            <a:ext cx="2066544" cy="2377440"/>
          </a:xfrm>
          <a:prstGeom prst="roundRect">
            <a:avLst>
              <a:gd name="adj" fmla="val 53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6912" y="1600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219456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谁能看什么？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65176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认证、四层授权、行级共享、字段脱敏、不可篡改审计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46336" y="1463040"/>
            <a:ext cx="2066544" cy="2377440"/>
          </a:xfrm>
          <a:prstGeom prst="roundRect">
            <a:avLst>
              <a:gd name="adj" fmla="val 5310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46336" y="16002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546336" y="219456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怎么上线和升级？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83496" y="265176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即元数据仓库，CI 门槛，编译产物部署，环境与种子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251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本次讲的是已安装的开源版运行时 17.4.0 的实际行为。凡是标「需部署配置」的，是平台能力但要在贵司环境里开启；标「未提供」的，今天没有，不承诺。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一句话架构：应用 = 元数据，运行时负责其余一切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14630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源码仓库 src/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 · 钩子 · 流程 · 动作 · 技能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 · 页面 · 仪表板 · 权限 · 翻译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2194560" cy="685800"/>
          </a:xfrm>
          <a:prstGeom prst="roundRect">
            <a:avLst>
              <a:gd name="adj" fmla="val 16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30752" y="164592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objectstack.config.ts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defineStack({ … })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82512" y="146304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编译产物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dist/objectstack.json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（一份 JSON，可校验、可打包）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52560" y="14630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25712" y="1463040"/>
            <a:ext cx="2414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@objectstack/runtime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 · 权限 · 自动化 · 审批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 · 消息 · 文件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988820"/>
            <a:ext cx="457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52160" y="1988820"/>
            <a:ext cx="457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1988820"/>
            <a:ext cx="457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" y="3246120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控制台（Web）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· Studio · 系统设置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0420" y="32461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33572" y="3246120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/ ObjectQL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2461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45352" y="3246120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端点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/api/v1/mcp（AI 代理）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83980" y="32461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057132" y="3246120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SQLite（开发）/ PostgreSQL · MySQL · SQL Server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1874520" y="2514600"/>
            <a:ext cx="8458200" cy="73152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4686300" y="2514600"/>
            <a:ext cx="5628132" cy="73152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7498080" y="2514600"/>
            <a:ext cx="2798064" cy="73152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32720" y="2514600"/>
            <a:ext cx="9144" cy="73152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4114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运行时向三种客户端提供同一套对象、同一套校验、同一套权限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6177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没有「代码里的业务逻辑」和「配置」两套东西：对象、校验、流程、权限都是 TypeScript 里的声明，编译成一份 JSON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build 产出编译产物；objectstack validate 校验协议一致性；运行时按产物装配，不解释源码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控制台、REST API、MCP 三个入口走的是同一条路径：同一份元数据、同一套校验规则、同一套权限检查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存储层通过驱动适配：开发用 SQLite，生产可选 PostgreSQL / MySQL / SQL Server（knex 方言）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平台组成：安装的包与声明的能力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@objectstack/* 17.4.0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内核与数据层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50876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5087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150876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15087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50876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15087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78040" y="150876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15087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41080" y="150876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41080" y="15087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objectql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04120" y="150876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4120" y="15087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formula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88920" y="198424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88920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driver-sql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51960" y="198424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driver-sqlite-wasm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15000" y="198424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15000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driver-memory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78040" y="198424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0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platform-objects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41080" y="198424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41080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account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104120" y="198424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04120" y="198424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26974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27889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插件与服务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88920" y="283464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88920" y="28346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plugin-auth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51960" y="283464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51960" y="28346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plugin-security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15000" y="283464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15000" y="28346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plugin-sharing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78040" y="283464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78040" y="28346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plugin-approvals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641080" y="283464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41080" y="28346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service-automation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04120" y="283464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104120" y="28346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service-analytics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88920" y="331012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88920" y="33101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service-messaging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51960" y="331012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51960" y="33101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service-storage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15000" y="331012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715000" y="33101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trigger-record-change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78040" y="331012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78040" y="33101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plugin-audit（随 auth 装配）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641080" y="331012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641080" y="33101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plugin-webhooks（未启用）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48640" y="40233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7240" y="4114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本应用声明的能力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requires: [ … ]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788920" y="41605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788920" y="41605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51960" y="41605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251960" y="41605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triggers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715000" y="41605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715000" y="41605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178040" y="41605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178040" y="41605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641080" y="41605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641080" y="41605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104120" y="41605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104120" y="41605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88920" y="463600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788920" y="46360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sharing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251960" y="4636008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251960" y="46360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hierarchy-security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requires 是应用对运行时的契约：缺任何一项，objectstack start 拒绝启动，而不是运行到一半才失败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刻意不在列表里：AI 运行时属于企业版；技能元数据照常校验、打包，落到提供 ai 层的运行时上即可用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hierarchy-security 是唯一声明的企业版能力：销售经理对合同的「本人及下属」写权限依赖它；开源版上安全退化为仅本人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webhooks 平台有、本应用未启用：加进 requires 并声明订阅，投递就是平台的事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元数据种类一览：目录 → 注册键 → 本应用数量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文件后缀即类型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377440"/>
                <a:gridCol w="3749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本应用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src/objects/*.object.ts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objects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个对象 · 574 个字段 · 37 条校验（含 5 个状态机）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生命周期钩子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src/objects/*.hook.ts → src/hooks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hooks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 个钩子（保存前后校验、派生、汇总、门禁）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界面动作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src/actions/*.actions.ts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actions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个注册（33 个沙箱脚本 + 7 个流程型）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src/flows/*.flow.ts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flows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 条：屏幕 7 · 记录变更 19 · 定时 9 · 子流程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技能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src/skills/*.skill.ts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个（只读为主，写入经真实动作）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 / 视图 / 页面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src/apps · src/views · src/pages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apps · views · pages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个应用 · 28 个视图 · 8 个页面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src/datasets · src/dashboards · src/reports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datasets · dashboards · reports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个数据集 · 7 个仪表板 · 10 份报表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导入映射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src/mappings/*.mapping.ts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mappings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个（客户 / 联系人 / 线索的表格列映射）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src/profiles · src/sharing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permissions · sharingRules · positions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个权限集 · 10 条共享规则 · 12 个岗位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多语言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src/translations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translations · i18n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 · zh-CN · ja-JP · es-ES 四个语言包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 / 初始数据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src/data/*.seed.ts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个数据族，按环境（prod / dev / test）与组合回放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数据与业务规则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 → 校验 → 钩子 → 流程 → 审批 → 动作：业务规则全部是声明，不散落在代码里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数据模型：32 个对象，四个业务域，两种关系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 命名空间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14173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 crm_lead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141732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404872" y="14173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crm_account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0" y="141732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187952" y="14173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 crm_opportunity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97880" y="141732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71032" y="14173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 crm_quote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0" y="141732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54112" y="14173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 crm_contract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48840" y="166878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31920" y="166878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15000" y="166878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166878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237744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1792" y="23774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市场活动 crm_campaign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flipV="1">
            <a:off x="1348740" y="1920240"/>
            <a:ext cx="9144" cy="45720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31720" y="237744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404872" y="23774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 crm_contact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 flipV="1">
            <a:off x="3131820" y="1920240"/>
            <a:ext cx="9144" cy="45720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0" y="237744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187952" y="23774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售前项目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crm_presales_project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 flipV="1">
            <a:off x="4914900" y="1920240"/>
            <a:ext cx="9144" cy="45720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80960" y="237744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754112" y="23774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crm_delivery_project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15000" y="2628900"/>
            <a:ext cx="19659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875020" y="2354580"/>
            <a:ext cx="16459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 → 交付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81060" y="1920240"/>
            <a:ext cx="9144" cy="45720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481060" y="2880360"/>
            <a:ext cx="9144" cy="20116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3131820" y="3081528"/>
            <a:ext cx="534924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331720" y="33375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2404872" y="33375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预算调整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crm_budget_adjustment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31820" y="3081528"/>
            <a:ext cx="9144" cy="25603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114800" y="33375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4187952" y="33375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成本计划行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crm_cost_plan_line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14900" y="3081528"/>
            <a:ext cx="9144" cy="25603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897880" y="33375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5971032" y="33375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工时表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crm_timesheet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97980" y="3081528"/>
            <a:ext cx="9144" cy="25603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680960" y="33375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7754112" y="33375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差旅成本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crm_travel_cost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481060" y="3081528"/>
            <a:ext cx="9144" cy="25603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114800" y="429768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4187952" y="42976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费率卡 crm_rate_card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 flipV="1">
            <a:off x="4914900" y="3840480"/>
            <a:ext cx="9144" cy="457200"/>
          </a:xfrm>
          <a:prstGeom prst="line">
            <a:avLst/>
          </a:prstGeom>
          <a:noFill/>
          <a:ln w="19050">
            <a:solidFill>
              <a:srgbClr val="5B6572"/>
            </a:solidFill>
            <a:prstDash val="dash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4091940" y="3794760"/>
            <a:ext cx="16459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钩子带出单价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97880" y="429768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5971032" y="42976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请假申请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crm_leave_request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 flipV="1">
            <a:off x="6697980" y="3840480"/>
            <a:ext cx="9144" cy="457200"/>
          </a:xfrm>
          <a:prstGeom prst="line">
            <a:avLst/>
          </a:prstGeom>
          <a:noFill/>
          <a:ln w="19050">
            <a:solidFill>
              <a:srgbClr val="5B6572"/>
            </a:solidFill>
            <a:prstDash val="dash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5875020" y="3794760"/>
            <a:ext cx="16459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钩子同步请假工时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80960" y="429768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7754112" y="42976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出差申请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crm_business_trip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 flipV="1">
            <a:off x="8481060" y="3840480"/>
            <a:ext cx="9144" cy="45720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7658100" y="3794760"/>
            <a:ext cx="16459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须先审批通过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555480" y="14173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665208" y="147218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服务与市场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9665208" y="1783080"/>
            <a:ext cx="1837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 crm_case · 知识文章 · 文章反馈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活动成员 · 任务 · 事件 · 参会人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555480" y="242316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665208" y="247802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财务与预测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665208" y="2788920"/>
            <a:ext cx="1837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 · 采购合同 · 开票 · 收款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预测（按合同 / 交付项目关联）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555480" y="34290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665208" y="348386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主数据与平台对象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9665208" y="3794760"/>
            <a:ext cx="1837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· 签约主体 · 费率卡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sys_user · sys_position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sys_organization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sys_approval_request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sys_audit_log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48640" y="5029200"/>
            <a:ext cx="457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1078992" y="4901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lookup 关联（可为空，独立生命周期）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023360" y="5029200"/>
            <a:ext cx="45720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4553712" y="4901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masterDetail 主从（级联删除、随父记录共享）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863840" y="5029200"/>
            <a:ext cx="457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dash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8394192" y="4901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非外键：钩子按业务规则同步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对象名统一 crm_ 前缀，平台自带对象 sys_ 前缀（用户、岗位、组织、审批请求、审计日志），同一套 API 与权限模型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关系只有两种：lookup（可空引用）与 masterDetail（子记录随父级联删除、共享随父，如工时表 → 交付项目）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574 个字段、30 余种字段类型；每个对象可单独开关 REST（enable.apiEnabled / apiMethods），新增对象 = 新增一个文件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一个对象的定义：字段、关系、索引与 API 开关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timesheet.object.ts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12648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ObjectSchema, Field } from '@objectstack/spec/data';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Timesheet = ObjectSchema.create({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'crm_timesheet',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'工时表',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sharingModel: 'controlled_by_parent',        // 共享随父记录（交付项目）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nameField: 'timesheet_number',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fieldGroups: [{ key: 'basic', label: 'Timesheet'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 key: 'approval', label: 'Approval' 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timesheet_number: Field.autonumber({ format: 'TS-{0000}'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owner_id: Field.lookup('sys_user', { label: 'Submitted By'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crm_delivery_project: Field.masterDetail('crm_delivery_project',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required: true, deleteBehavior: 'cascade'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crm_rate_card: Field.lookup('crm_rate_card'),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period_month: Field.date({ label: 'Period (Month)'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standard_hours: Field.number({ defaultValue: 160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hours: Field.number(),  overtime_hours: Field.number(),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hourly_rate: Field.currency({ scale: 2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cost: Field.currency({ scale: 2 }),          // 钩子写入：hours ×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approval_status: Field.select({ defaultValue: 'draft', readonly: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trackHistory: true, options: APPROVAL_STATUS_OPTIONS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approved_date: Field.datetime({ readonly: true }),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indexes: [{ fields: ['crm_delivery_project'] }, { fields: ['period_month'] 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enable: { apiEnabled: true, apiMethods: ['get', 'list', 'create', 'update', 'delete']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371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常用字段类型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73736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textarea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26880" y="173736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number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15600" y="173736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0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0" y="2157984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2157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percent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38160" y="2157984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2157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boolean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26880" y="2157984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2157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0" y="2157984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0" y="2157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datetime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9440" y="2578608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0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38160" y="2578608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0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lookup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26880" y="2578608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masterDetail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515600" y="2578608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0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autonumber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49440" y="2999232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2999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formula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38160" y="2999232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38160" y="2999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326880" y="2999232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0" y="2999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515600" y="2999232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15600" y="2999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49440" y="3419856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49440" y="34198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38160" y="3419856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38160" y="34198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949440" y="39776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sharingModel 决定行级默认：private / public_read / controlled_by_parent（由父记录决定可见性）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nameField · highlightFields · fieldGroups → 表单、列表、记录头自动生成，不写前端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readonly / required / defaultValue / trackHistory 是字段语义：界面、API、MCP 三处同样生效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formula 按公式实时计算；summary 汇总子记录；secret 经加密提供者落库（无提供者则拒绝写入）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indexes 生成物理索引；enable.apiMethods 逐对象限定 REST 动词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校验与状态机：CEL 谓词声明规则，三处同样拦截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条校验 · 5 状态机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0080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26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validations: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'close_date_future', type: 'script', severity: 'warning',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'Close date should not be in the past unless closed',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P`has(record.close_date) &amp;&amp; record.close_date &lt; today()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(!has(record.stage)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|| (record.stage != "closed_won" &amp;&amp; record.stage != "closed_lost"))` },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'case_status_progression', type: 'state_machine', severity: 'warning',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field: 'status', message: 'Invalid status transition',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transitions: { new: ['in_progress', 'waiting_customer', 'escalated', 'closed'],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in_progress: ['waiting_customer', 'escalated', 'resolved', 'closed'],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resolved: ['closed', 'in_progress'],   closed: ['in_progress'] /* 可重开 */ }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412480" y="1417320"/>
            <a:ext cx="100584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85632" y="141732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等待客户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0" y="2240280"/>
            <a:ext cx="1005840" cy="420624"/>
          </a:xfrm>
          <a:prstGeom prst="roundRect">
            <a:avLst>
              <a:gd name="adj" fmla="val 2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296912" y="224028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0" y="2240280"/>
            <a:ext cx="1005840" cy="420624"/>
          </a:xfrm>
          <a:prstGeom prst="roundRect">
            <a:avLst>
              <a:gd name="adj" fmla="val 2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85632" y="224028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01200" y="2240280"/>
            <a:ext cx="1005840" cy="420624"/>
          </a:xfrm>
          <a:prstGeom prst="roundRect">
            <a:avLst>
              <a:gd name="adj" fmla="val 2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674352" y="224028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已解决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789920" y="2240280"/>
            <a:ext cx="1005840" cy="42062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863072" y="224028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已关闭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12480" y="3063240"/>
            <a:ext cx="1005840" cy="420624"/>
          </a:xfrm>
          <a:prstGeom prst="roundRect">
            <a:avLst>
              <a:gd name="adj" fmla="val 25000"/>
            </a:avLst>
          </a:prstGeom>
          <a:solidFill>
            <a:srgbClr val="FBE9EA"/>
          </a:solidFill>
          <a:ln w="15875">
            <a:solidFill>
              <a:srgbClr val="B4232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41080" y="30632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已升级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0" y="2450592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18320" y="2450592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607040" y="2450592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8805672" y="1837944"/>
            <a:ext cx="9144" cy="402336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25128" y="1837944"/>
            <a:ext cx="9144" cy="402336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915400" y="2660904"/>
            <a:ext cx="9144" cy="402336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9418320" y="2660904"/>
            <a:ext cx="685800" cy="612648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1292840" y="2011680"/>
            <a:ext cx="9144" cy="228600"/>
          </a:xfrm>
          <a:prstGeom prst="line">
            <a:avLst/>
          </a:prstGeom>
          <a:noFill/>
          <a:ln w="19050">
            <a:solidFill>
              <a:srgbClr val="5B6572"/>
            </a:solidFill>
            <a:prstDash val="dash"/>
            <a:tailEnd type="none"/>
          </a:ln>
        </p:spPr>
      </p:sp>
      <p:sp>
        <p:nvSpPr>
          <p:cNvPr id="29" name="Shape 27"/>
          <p:cNvSpPr/>
          <p:nvPr/>
        </p:nvSpPr>
        <p:spPr>
          <a:xfrm flipH="1">
            <a:off x="9235440" y="2011680"/>
            <a:ext cx="20574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dash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9441180" y="1737360"/>
            <a:ext cx="16459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235440" y="2011680"/>
            <a:ext cx="9144" cy="228600"/>
          </a:xfrm>
          <a:prstGeom prst="line">
            <a:avLst/>
          </a:prstGeom>
          <a:noFill/>
          <a:ln w="19050">
            <a:solidFill>
              <a:srgbClr val="5B6572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7223760" y="35661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工单状态机 case_status_progression（节选）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9776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谓词语言是 CEL：has() 让表达式对缺字段的记录也有定义（总函数），today() / 字符串 / 数值比较；同一条表达式在表单、REST、MCP 三处求值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severity 决定后果：error 拒绝保存并返回结构化错误；warning 保存但提示。5 个状态机（线索 / 商机 / 报价 / 合同 / 工单）声明允许的迁移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跨对象、跨记录的规则（如「实际成本超预算则禁填工时」）不写在 CEL 里，写在钩子里 —— 下一页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每条校验都有测试；文档里写到的业务规则被 docs-drift 测试钉到编译后的条件上，改规则不改文档会红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同一条规则、三种反馈：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表单里是红字提示，REST 调用拿到 400 结构化信封，MCP 工具返回同一错误码 —— 没有哪个入口能绕过校验。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 Hooks：一次保存的完整路径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个钩子 · QuickJS 沙箱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13716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写入请求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REST / MCP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21992" y="13716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权限检查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 · 字段 · 行级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22192" y="13716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校验规则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 谓词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13716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22392" y="13716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钩子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priority 依次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22592" y="13716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事务提交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49640" y="13716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22792" y="13716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钩子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 · 汇总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49840" y="137160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222992" y="13716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记录变更流程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65960" y="169164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66160" y="169164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66360" y="169164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66560" y="169164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66760" y="169164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66960" y="169164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48640" y="2240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示例：保存一张工时表，四个钩子依次执行（priority 越小越先）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260604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21792" y="26060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timesheet_rate_fill (90)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费率卡带出单价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4640" y="260604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907792" y="26060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timesheet_attendance_sync (95)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已审批请假 → 请假工时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260604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193792" y="26060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timesheet_cost_fill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 = hours ×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260604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FBE9EA"/>
          </a:solidFill>
          <a:ln w="15875">
            <a:solidFill>
              <a:srgbClr val="B4232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63524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timesheet_budget_gate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实际成本 &gt; 预算 → 拒绝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0" y="2926080"/>
            <a:ext cx="27432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846320" y="2926080"/>
            <a:ext cx="27432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132320" y="2926080"/>
            <a:ext cx="27432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418320" y="2926080"/>
            <a:ext cx="228600" cy="9144"/>
          </a:xfrm>
          <a:prstGeom prst="line">
            <a:avLst/>
          </a:prstGeom>
          <a:noFill/>
          <a:ln w="19050">
            <a:solidFill>
              <a:srgbClr val="B4232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46920" y="260604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BE9EA"/>
          </a:solidFill>
          <a:ln w="12700">
            <a:solidFill>
              <a:srgbClr val="FBE9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46920" y="2606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400 · VALIDATION_FAILED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· userMessage · fields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3520440"/>
            <a:ext cx="6309360" cy="25146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3611880"/>
            <a:ext cx="6035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每个钩子内联同一份拒绝信封（沙箱只放行 code / status / fields / userMessage）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refuse(message, code, status, userMessage = message)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err = new Error(message);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err.code = code; err.status = status; err.userMessage = userMessage;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err;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timesheet_budget_gate —— 汇总子记录，不依赖父级汇总字段何时物化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actual = sumOf(costPlanLines) + sumOf(timesheets) + sumOf(travelCosts);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(actual + input.hours * rate &gt; project.budget_total)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refuse('项目实际成本已超预算，暂停工时填报。', 'invalid_value', 400);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132320" y="35204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钩子是元数据：处理函数被降级为 body.source，在 QuickJS 沙箱里执行，不能引用模块作用域 —— 每个处理函数自包含、可打包、可审计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事件：beforeInsert / beforeUpdate / beforeDelete / afterInsert / afterUpdate / afterDelete；priority 决定同一事件内的顺序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跨对象读写走 ctx.api.object(name).find / findOne / update，受同一套权限约束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 = 抛出带 code / status 的错误 → REST 调用方拿到结构化信封，界面弹出 userMessage；日志里不出现记录 ID 等敏感串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个钩子全部有运行时测试（真实引擎驱动，不是 mock）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 Flows：38 条自动化，四种触发，逐条可关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src/flows/*.flow.ts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本应用示例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 屏幕流程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用户从按钮发起，带表单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线索转化、报价生成、安排跟进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record_change 记录变更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记录创建 / 更新后，条件为 CEL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条审批、赢单通知、账务交接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schedule 定时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cron 表达式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SLA 监控、合同到期、预测快照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autolaunched 子流程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被其他流程调用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工单升级盖章、演示引导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38328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runAs: system / user —— 记录变更流程没有会话（可能来自集成写入或种子回放），用 system；屏幕流程以当前用户身份运行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触发条件写「迁移」而不是「状态」：record.stage == "closed_won" &amp;&amp; previous.stage != "closed_won"；批量更新拿不到 previous 时不触发（fail-closed），账务交接绝不重复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→ 打包自动化：逐条开关安装包自带的流程，或克隆后改写；Studio 可视化查看节点与边（安装包只读）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循环节点上限 100,000 次；流程写入再次触发自身时由重入保护打断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1325880"/>
            <a:ext cx="5577840" cy="35204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/home/user/hotcrm/docs/demo/it-platform/IT-studio-flow-approv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371600"/>
            <a:ext cx="5486400" cy="34290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26480" y="4873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Studio → 自动化 → 工时审批：触发、运行身份、节点与边一目了然（安装包只读）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779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节点类型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417320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417320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350008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50008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get_record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82696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282696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215384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215384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assignment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148072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148072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080760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080760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create_record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013448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013448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update_record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946136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946136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8878824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878824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notify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811512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811512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10744200" y="577900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0744200" y="57790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subflow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审批：发起是动作，流转是流程，留痕在平台对象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条审批共用一个模板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141732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 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record-after-update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== "submitted"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33472" y="141732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读取记录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get_record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0" y="137160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4F3EA"/>
          </a:solidFill>
          <a:ln w="15875">
            <a:solidFill>
              <a:srgbClr val="2F7D4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187952" y="13716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 approval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 / 组织所有者 · first_response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lockRecord · 回写状态字段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48272" y="14173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标记已审批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update_record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0" y="141732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577072" y="14173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通知负责人 notify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 + 邮件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424160" y="141732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497312" y="1417320"/>
            <a:ext cx="676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242316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FBE9EA"/>
          </a:solidFill>
          <a:ln w="15875">
            <a:solidFill>
              <a:srgbClr val="B4232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03720" y="24231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标记已驳回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update_record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03920" y="242316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577072" y="242316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通知负责人 notify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请修改后重新提交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0" y="1760220"/>
            <a:ext cx="27432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749040" y="1760220"/>
            <a:ext cx="27432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26480" y="1760220"/>
            <a:ext cx="54864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053328" y="148132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138160" y="176022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66960" y="1760220"/>
            <a:ext cx="457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74920" y="2148840"/>
            <a:ext cx="9144" cy="61722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074920" y="2766060"/>
            <a:ext cx="1600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486400" y="2487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reject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38160" y="276606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66960" y="2766060"/>
            <a:ext cx="8686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 flipV="1">
            <a:off x="10835640" y="2103120"/>
            <a:ext cx="9144" cy="66294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48640" y="329184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 = 记录头上的「发起审批」动作把状态字段写成 submitted；流程监听这一迁移。状态字段 readonly，用户不能手改绕过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审批人来源：岗位（sales_director / executive / finance_lead …）、指定用户、直属经理、组织所有者；无人可审时 admin_rescue 兜底，不会卡死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behavior first_response（一人通过即通过）或会签；lockRecord 在决定前锁定记录；结果回写 approvalStatusField 与审批日期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审批中心：待我审批、批量通过 / 驳回、审批请求（sys_approval_request）逐条留痕；通知走站内信 + 邮件，可加 http 节点通知外部系统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模板化：9 条审批（客户、线索、商机立项、售前 / 交付立项、工时、预算调整、出差、请假）由一个函数生成，新增一条审批 = 一行声明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86600" y="3200400"/>
            <a:ext cx="4572000" cy="289179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37" name="Image 0" descr="/home/user/hotcrm/docs/demo/psa-presales/S05-07-11-审批中心-待我审批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3246120"/>
            <a:ext cx="4480560" cy="280035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7132320" y="611962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 → 待我审批：发起人、对象、时间；处理后进入审批请求记录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 Actions：按钮即元数据，三处同一入口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个动作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21792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9436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TimesheetSubmitApprovalAction: Action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'submit_approval', label: '发起审批', icon: 'send',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objectName: 'crm_timesheet',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'script',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language: 'js',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cur = ctx.record ? ctx.record.approval_status : undefined;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(cur === 'submitted' || cur === 'pending')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Error('已在审批中，不能重复发起。');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ctx.api.object('crm_timesheet')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.update({ id: ctx.recordId, approval_status: 'submitted'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 where: { id: ctx.recordId }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 id: ctx.recordId, approval_status: 'submitted' };`,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capabilities: ['api.write'],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timeoutMs: 5000,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locations: ['record_header', 'list_item'],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visible: P`has(record.approval_status)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(record.approval_status == "draft" || record.approval_status == "rejected")`,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confirmText: '确认发起审批？提交后记录将锁定，直到审批完成。',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successMessage: '已发起审批，等待审批人处理。',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refreshAfter: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37160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两种类型：script（QuickJS 沙箱，声明 capabilities 如 api.write，强制超时）和 flow（打开一条屏幕流程）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locations 决定出现位置：record_header / list_item / list_toolbar / modal；visible 是 CEL 谓词，按当前记录求值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confirmText / successMessage / refreshAfter 由运行时渲染 —— 没有前端代码要写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同一动作三处可调：界面按钮、REST POST /api/v1/actions/:object/:action、AI 工具 action_&lt;name&gt;（ai.exposed 打开时）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不可逆的动作（如线索转化）可在 ai 配置里要求人工确认；AI 触发的转化会等待审批而不是直接执行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统一沙箱：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动作与钩子的 body 都在 QuickJS 里执行，能力（capabilities）是白名单，超时强制退出；打包后是纯元数据，评审时看得见每一行。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界面与多语言：视图、页面、翻译都是元数据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@objectstack/console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126480" cy="38633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home/user/hotcrm/docs/demo/it-platform/IT-app-delivery-proj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035040" cy="377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2166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应用 → 交付项目：列表视图由 view 元数据渲染，导航由 app 元数据决定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37160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app：导航分组与菜单；视图 view（28 个）：列表 / 看板，列、筛选、排序、行内动作；页面 page（8 个）：记录详情的区域、相关列表、条件横幅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表单由字段类型 + fieldGroups 生成；只读 / 必填 / 默认值 / 选项来自对象声明，一处改动处处生效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个语言包（en · zh-CN · ja-JP · es-ES）：对象、字段、选项、页面、仪表板标签全部可翻译；CI 的 i18n 门槛要求零缺失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控制台是平台统一的 @objectstack/console：系统设置、Studio、业务应用用同一套组件；Studio 可浏览安装包元数据（只读）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定制路径：新视图 / 新页面 = 新文件；企业版可在 Studio 里编辑并发布变更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IT 的意义：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界面变化 = 元数据变化，走同一套代码评审、测试与发布流程，没有「前端项目」需要单独维护。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分析：数据集 → 报表 → 仪表板，同一套行级权限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分析层三件套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126480" cy="38633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home/user/hotcrm/docs/demo/it-platform/IT-app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035040" cy="377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2166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→ 项目财务仪表板：指标、图表、明细表全部由 dashboard 元数据声明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37160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 dataset：基于对象的查询定义 —— 维度、度量、过滤、聚合，是报表与仪表板的唯一数据来源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 report：表格 / 汇总视图，可导出（受权限集 allowExport 约束）；仪表板 dashboard：指标、图表、表格组件，放入应用导航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权限：用户只看到自己可见记录的汇总 —— 销售代表的仪表板和总监的仪表板是同一份定义、不同的数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对账：reconcile:analytics 脚本把仪表板数字与源记录逐项核对，纳入 CI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本应用：销售 / 服务 / 高管 / 项目成本 / 项目财务等 7 个仪表板；外部 BI 可经 REST 查询或外部数据源取数（第二部分）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分析层不是另一套数据库，就是对象数据的声明式视图；没有 ETL、没有第二份口径。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接口与集成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/ ObjectQL 数据 API · MCP 端点 · AI 技能 · 可靠出站 HTTP · 导入映射与外部数据源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技能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出站 HTTP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导入映射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外部数据源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API：对象一开 API 就有，规则一个不少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 · 实测响应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217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登录（cookie 会话）；无头场景改用 API 密钥（Setup → API 密钥）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/api/v1/auth/sign-in/email      { "email": "…", "password": "…"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查询：过滤 / 字段裁剪 / 分页（filters 接受对象形式或数组形式）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/api/v1/data/crm_timesheet/query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"filters": { "approval_status": "approved", "period_month": { "$gte": "2026-08-01" }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"fields": ["timesheet_number", "hours", "cost"], "top": 200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{ "object": "crm_timesheet", "records": [ … ], "total": 19, "hasMore": false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写入：在超预算项目上新建工时表 —— 钩子照样拦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/api/v1/data/crm_timesheet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"crm_delivery_project": "JAnr…", "period_month": "2026-09-01", "hours": 8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400 { "code": "VALIDATION_FAILED", "object": "crm_timesheet", "fields":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"userMessage": "项目「华信数据中台 — 试点交付」成本已超预算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（实际 264000 ≥ 基线 200000），工时填报已限制"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调用动作（与界面按钮同一段代码）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/api/v1/actions/crm_timesheet/submit_approval      { "recordId": "…"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400 { "success": false, "error": { "code": "VALIDATION_ERROR",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"message": "该工时表已审批通过，无需再次发起。", "httpStatus": 400 } }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371600"/>
          <a:ext cx="4343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 /auth/sign-in/email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登录，建立 cookie 会话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 /data/{object}/query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查询：filters / fields / top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 · POST · PATCH · DELETE /data/{object}[/{id}]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单条 CRUD，按对象 apiMethods 开关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 /actions/{object}/{action}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调用动作（脚本或流程）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 /mcp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代理端点（下一页）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 /health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健康检查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269480" y="3794760"/>
            <a:ext cx="4343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认证：cookie 会话，或 API 密钥（等同持有人身份，可撤销、可查最近使用）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错误是结构化信封：按 code 分支，userMessage 直接给人看，不解析文案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限制：批量谓词写入命中逐行钩子时上限 10,000 行，超限整体拒绝不写一半；登录每 IP 10 次 / 60 秒；业务接口限流放贵司网关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GraphQL；ObjectQL 是查询语言（过滤 / 聚合 / 关系），REST 是它的 HTTP 载体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不是「另一套后门」—— 它就是界面在用的那条路径，对象声明了 apiEnabled 就有，规则一个不少。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MCP：AI 代理以调用者自己的身份接入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/api/v1/mcp · 默认开启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/ Claude Code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682496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993392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 / Copilot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CLI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15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脚本（API 密钥）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63240" y="146304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136392" y="146304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 2.1 授权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本部署即授权服务器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浏览器登录 → 令牌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49240" y="14630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22392" y="146304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/api/v1/mcp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服务器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（Streamable HTTP）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43800" y="1371600"/>
            <a:ext cx="2194560" cy="1051560"/>
          </a:xfrm>
          <a:prstGeom prst="roundRect">
            <a:avLst>
              <a:gd name="adj" fmla="val 10435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16952" y="137160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工具集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describe_object · list_objects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query_records · get_record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aggregate_data · action_&lt;name&gt;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104120" y="1463040"/>
            <a:ext cx="1508760" cy="868680"/>
          </a:xfrm>
          <a:prstGeom prst="roundRect">
            <a:avLst>
              <a:gd name="adj" fmla="val 12632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177272" y="1463040"/>
            <a:ext cx="1362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运行时判定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权限集 → 行级共享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字段级 → 审计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1897380"/>
            <a:ext cx="4114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83480" y="189738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78040" y="189738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38360" y="189738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063240" y="2487168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 = 调用者身份 + 调用者权限 —— 没有共享的服务账号，没有绕过校验的旁路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017520"/>
            <a:ext cx="4846320" cy="30632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0" descr="/home/user/hotcrm/docs/demo/it-platform/IT-connect-ag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063240"/>
            <a:ext cx="4754880" cy="29718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48640" y="6108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→ 集成 → 连接智能体：端点、各客户端配置、SKILL.md、API 密钥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577840" y="306324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接入：Claude / Claude Code / Cursor / VS Code / Codex 一键或粘贴配置；命令行一句：claude mcp add --transport http objectstack https://&lt;host&gt;/api/v1/mcp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身份：交互式客户端走 OAuth 2.1 浏览器登录；CI / 无头代理用 API 密钥（等同持有人身份，可撤销）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工具面 = 平台数据工具 + 打开 ai.exposed 的动作（如 action_convert_lead）；SKILL.md 可下载，教任何支持技能的代理怎么用本环境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安全边界：代理看不到用户看不到的记录、改不了用户改不了的字段，写入照样过校验和钩子；调用产生审计行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部署提示：claude.ai 网页版由 Anthropic 服务器发起连接，需公网 HTTPS；Claude Desktop / Cursor 等本地客户端可直连内网部署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不依赖企业版 AI 运行时：MCP 是开源版即有的能力，贵司自己的代理或大模型网关都能接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技能：六个技能只读为主，写入只走真实动作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 AI 运行时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21031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实时数据 Live Data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任何数据问题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实时元数据 + 记录：每轮先 describe_object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线索评估 Lead Qualification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打开线索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 + 活动历史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经动作：转化线索（需确认）/ 安排跟进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邮件起草 Email Drafting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起草请求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联系人、客户 / 商机、往来历史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无（人工审阅后发送）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收入预测 Revenue Forecasting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管道 / 预测问题、仪表板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商机按阶段聚合、风险单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 360 Customer 360°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 / 联系人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客户、联系人、开放工单、商机、知识文章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工单分诊 Case Triage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打开工单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工单 + 客户层级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无（指向升级 / 关闭按钮）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37160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14630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LiveDataSkill = defineSkill({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'live_data',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'Live Data Access',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instructions: `先调用 describe_object 读取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当前结构，再 query_records …；引用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记录时带上 ID 以便界面深链接`,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['describe_object', 'list_objects',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'query_records', 'get_record',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'aggregate_data'],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只有技能、没有应用自带的智能体：技能挂到平台助手上，按 surface（记录页 / 仪表板）自动激活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技能不声明私有工具：数据工具来自平台，写入工具来自打开 ai.exposed 的动作 —— 与按钮同一段代码、同一套权限；不可逆动作要求人工确认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每个技能读什么、写什么在元数据里声明，调用记入审计；共享规则与字段级安全对技能同样生效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版本口径：AI 运行时在企业版（requires 里刻意不声明 ai）；开源版上技能照常校验、打包，助手面板不出现 —— 标「需部署配置」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定制：新增技能 = 一个 defineSkill 文件；上一页的 MCP 接入不依赖此运行时，贵司可先用自己的代理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出站集成与数据交换：可靠投递、数据源、导入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需按贵司系统配置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137160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记录迁移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 → 赢单 · 合同 → 生效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（previous.* 守卫，只触发一次）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64992" y="137160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 http 节点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durable: true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HMAC-SHA256 签名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33872" y="137160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出站队列 sys_http_delivery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 · 退避 · 死信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X-Objectstack-Delivery 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869680" y="1371600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42832" y="137160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贵司系统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 / ERP / OA 接收端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（幂等处理）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0" y="178308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94960" y="178308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03920" y="1783080"/>
            <a:ext cx="36576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25146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56946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可靠出站 HTTP（已用于账务交接流程）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880360"/>
            <a:ext cx="3346704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http 节点 durable: true → 入队而非内联调用，接收端宕机时不丢，恢复后送达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至少一次投递；每次重试携带同一投递 ID → 接收端按 ID 幂等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端点与签名密钥在流程元数据里：改地址 = 改配置重新构建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Setup → HTTP 投递：逐条查看状态、次数、下次重试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25146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07408" y="256946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外部数据源与导入 / 导出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07408" y="2880360"/>
            <a:ext cx="3346704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Setup → 数据源：连接外部 PostgreSQL / MySQL / SQL Server，把表同步为对象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导入映射（客户 / 联系人 / 线索）：贵司表格列 → 字段，附导入模板；REST 批量写同样经过钩子与校验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导出：报表导出受权限集 allowExport 约束；平台不记导出审计，如需请在网关记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25146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56448" y="256946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Webhooks（平台有，本应用未启用）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56448" y="2880360"/>
            <a:ext cx="3346704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plugin-webhooks 提供声明式订阅：对象 + create / update / delete，固定 DataEvent 信封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本应用未声明 webhooks / realtime 能力；需要时在 requires 加一行并声明订阅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带条件、带业务负载的通知（如「只在赢单时、带上明细」）用左侧的流程 http 节点，不用 webhook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选型建议：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事件通知贵司系统 → 流程 http 节点；贵司系统读 CRM → REST 查询或外部数据源；贵司系统写 CRM → REST（自动过钩子）；历史数据 → 导入映射。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认证与身份 · 四层授权与字段级安全 · 不可篡改审计 · 加密与脱敏 · 会话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行级共享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认证与身份：能力完整，默认保守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→ 认证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2651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现状（17.4.0 实测口径）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密码存储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scrypt 哈希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 / 历史 / 过期默认关闭；可拒绝已泄露密码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上线前开启，至少开「拒绝已泄露密码」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账号锁定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lockout_threshold 默认 0（不锁定）；锁定时长 15 分钟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设为 5–10 次 —— 最重要的一个默认值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登录限流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IP 10 次 / 60 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保留；业务接口限流放贵司网关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多因素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TOTP（Google Authenticator 等）；默认关闭，可 mfa_required 强制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至少对管理员强制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单点登录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SAML 2.0（Okta / Azure AD / Google / OneLogin / Ping）· OIDC（Auth0 / Cognito）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超过 10 个用户即接贵司 IdP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用户同步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SCIM 能力存在（OS_SCIM_ENABLED），Setup 无界面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作为部署项，不是管理员操作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有效期默认 7 天；空闲 / 绝对超时 / 并发数默认不限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 30 分钟、绝对 12 小时、并发按策略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01000" y="1325880"/>
            <a:ext cx="3657600" cy="232029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/home/user/hotcrm/docs/demo/it-platform/IT-sess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371600"/>
            <a:ext cx="3566160" cy="2228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0" y="367360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→ 会话：查看并终止任一用户会话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41605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密钥 = 持有人身份：Setup → API 密钥 创建、撤销、查最近使用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登出写审计（含 IP 与 UA）；失败登录不记录 —— 由 IdP 或网关记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贵司域账号：SAML / OIDC 直连；钉钉 / 企业微信经 OIDC 网关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授权分层：四层判定，外加字段级安全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权限集 · 12 岗位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1371600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权限集 · 对象级门禁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allowCreate / Read / Edit / Delete · viewAll / modifyAll · readScope own / own_and_reports · allowExport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2029968"/>
            <a:ext cx="9144" cy="18288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212848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" y="2212848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组织默认 OWD · 行级基线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sharingModel: private / public_read / controlled_by_parent（随父记录）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2871216"/>
            <a:ext cx="9144" cy="18288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054096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" y="3054096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共享规则 · 打开口子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criteria（CEL 条件）或 owner → 共享给岗位；如「大额在途商机 → 销售总监可读」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3712464"/>
            <a:ext cx="9144" cy="182880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895344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" y="3895344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手工共享 · sys_record_share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记录级「这一单和我一起做」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201168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FBE9EA"/>
          </a:solidFill>
          <a:ln w="15875">
            <a:solidFill>
              <a:srgbClr val="B4232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16636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字段级安全 · 贯穿各层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权限集 fields: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crm_case.internal_notes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readable: false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4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maskingRule 读时脱敏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32320" y="1325880"/>
            <a:ext cx="4526280" cy="2863215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0" descr="/home/user/hotcrm/docs/demo/it-platform/IT-permission-se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371600"/>
            <a:ext cx="4434840" cy="277177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178040" y="4216527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→ 访问控制 → 权限集：对象级与字段级授权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判定顺序：权限集不放行则直接拒绝（门，不是过滤）；放行后按 本人 / viewAll / OWD / 父记录 / 共享规则 / 手工共享 任一命中即可见，否则记录在列表、搜索、报表里直接消失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 position 是扁平的能力分发组（高管、销售总监 / 经理 / 代表、服务、市场、区域团队…），共享规则以岗位为目标；组织树与业务单元另有对象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hierarchy-security（企业版）：readScope / writeScope own_and_reports 沿汇报线放权；开源版上安全退化为仅本人，不会放宽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三个入口同一判定：界面看不到的，REST 查不到，MCP 也拿不到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审计、加密与脱敏：不可篡改，读时脱敏，落库加密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sys_audit_log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实际行为（17.4.0）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审计对象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sys_audit_log：append-only、所有字段只读；随 auth 能力自动装配，本应用即有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记录的动作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 / read / update / delete / login / logout / config_change / import；记录变更带 old_value + new_value（计算字段除外）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记录查看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「谁看过这条客户记录」：17.1.0 起可开启 read 审计（默认关闭，按需打开）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未记录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失败登录、导出、AI 调用；批量操作按逐条 update / delete 行记录，不作为独立类别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热数据 90 天 → 归档保留 7 年（对象 lifecycle 声明）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字段加密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type: 'secret' 字段经加密提供者落库（AES-256-GCM；开发本地密钥，生产接 KMS / Vault）；无提供者则拒绝写入，不存明文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脱敏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maskingRule 预设 phone / id_card / bank_account / email / name，或 keepHead / keepTail —— 读时显示规则，非加密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数据库级，由部署侧负责；平台 schema 可描述备份策略但不执行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01000" y="1325880"/>
            <a:ext cx="3657600" cy="232029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/home/user/hotcrm/docs/demo/it-platform/IT-audit-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371600"/>
            <a:ext cx="3566160" cy="2228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0" y="367360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→ 审计日志：按对象、动作、用户、时间筛选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41605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合规清单：每月复核 config_change 与登录；导出走网关日志；敏感字段用 secret + maskingRule 组合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 / 会话 / 密钥本身也是对象：可用 REST 查询、可接 SIEM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本应用目前未声明 secret 字段；贵司的证件号、银行账号类字段按此声明即可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交付与运维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即元数据仓库 · CI 门槛 · 一份编译产物 · 环境与种子 · 升级与回滚 · 与贵司系统的接入建议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即元数据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门槛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编译产物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4754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接入建议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源码即元数据：一条 PR 走完的 CI 门槛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.github/workflows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137160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提交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元数据变更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21992" y="137160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源码卫生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hygiene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22192" y="137160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只降不升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ratchet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49240" y="137160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22392" y="137160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/ schema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 条作者时规则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22592" y="137160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元数据约定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49640" y="137160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22792" y="137160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i18n 门槛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翻译零缺失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149840" y="137160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222992" y="137160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1792" y="26060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dist/objectstack.json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48840" y="260604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221992" y="26060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3,600+ 用例 · 覆盖率阈值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260604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822192" y="26060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e2e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真实浏览器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260604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422392" y="26060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 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页 + 链接检查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260604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022592" y="26060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安全扫描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49640" y="260604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E4F3EA"/>
          </a:solidFill>
          <a:ln w="15875">
            <a:solidFill>
              <a:srgbClr val="2F7D4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714232" y="2606040"/>
            <a:ext cx="1088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main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评审通过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149840" y="2606040"/>
            <a:ext cx="1417320" cy="731520"/>
          </a:xfrm>
          <a:prstGeom prst="roundRect">
            <a:avLst>
              <a:gd name="adj" fmla="val 15000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222992" y="26060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staging / production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65960" y="173736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965960" y="297180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566160" y="173736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566160" y="297180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166360" y="173736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166360" y="297180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66560" y="173736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66560" y="297180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366760" y="173736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66760" y="297180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966960" y="173736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966960" y="2971800"/>
            <a:ext cx="18288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858500" y="2103120"/>
            <a:ext cx="9144" cy="256032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 flipH="1">
            <a:off x="1257300" y="2359152"/>
            <a:ext cx="9601200" cy="9144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257300" y="2359152"/>
            <a:ext cx="9144" cy="246888"/>
          </a:xfrm>
          <a:prstGeom prst="line">
            <a:avLst/>
          </a:prstGeom>
          <a:noFill/>
          <a:ln w="1905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548640" y="3611880"/>
            <a:ext cx="11064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每条业务规则都有测试：钩子用真实引擎跑、校验条件与文档互钉（docs-drift）、翻译引用逐条核对；仓库现有 166 个测试文件、3,600+ 用例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 在构建时执行 44 条作者时规则（字段无消费者、谓词非总函数、能力提供者缺失…），问题在 PR 阶段暴露而不是上线后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发布：changesets 管理版本与变更日志；publish-staging / publish-production 工作流把编译产物推到应用市场或贵司环境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本地一条命令等价 CI：pnpm verify（validate + typecheck + lint + i18n 门槛 + hygiene + ratchet + test）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贵司二次开发同样走这条流水线：fork 仓库、改元数据、提 PR；评审看到的就是全部变更，没有藏在数据库里的配置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部署与环境：一份产物，三种数据库，按环境种子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dist/objectstack.json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371600"/>
            <a:ext cx="7406640" cy="502920"/>
          </a:xfrm>
          <a:prstGeom prst="roundRect">
            <a:avLst>
              <a:gd name="adj" fmla="val 21818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450592" y="1371600"/>
            <a:ext cx="726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同一份编译产物 dist/objectstack.json（42 个顶层键：objects · flows · permissions · data …）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" y="228600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 dev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内置 · pnpm dev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 env: dev（演示数据）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H="1">
            <a:off x="2331720" y="1874520"/>
            <a:ext cx="3749040" cy="4114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22860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70832" y="228600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· CI / e2e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 env: 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6080760" y="1874520"/>
            <a:ext cx="9144" cy="4114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46720" y="22860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19872" y="228600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prod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/ MySQL / SQL Server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 env: prod（主数据）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3749040" cy="41148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3429000"/>
            <a:ext cx="6766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构建：pnpm build → 一份 JSON 产物（对象、流程、权限、翻译、种子…）；未知键会被剥离而非报错，所以 validate 先行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数据库：knex 方言驱动，SQLite 开发、PostgreSQL / MySQL / SQL Server 生产；os migrate plan 输出元数据与物理库的差异并标出破坏性变更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种子按环境回放：每个 data[] 条目声明 env: ['prod' | 'dev' | 'test']；主数据（费率卡、签约主体、产品）进 prod，演示数据只进 dev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 HOTCRM_COMPOSITION：default / saas（多租户运营）/ zh-demo（本次演示）在构建时决定，产物在同一运行时上运行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版本与回滚：manifest.version + git tag 即版本；回滚 = 重新部署上一个产物；schema 破坏性变更由 migrate plan 提前标出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协议握手：产物声明 engines.protocol 主版本，运行时主版本不符则拒绝加载，不会半装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3383280"/>
            <a:ext cx="4114800" cy="26060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0" descr="/home/user/hotcrm/docs/demo/it-platform/IT-packa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3429000"/>
            <a:ext cx="4023360" cy="25146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89520" y="6016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→ 软件包：HotCRM 3.0.0，只读代码包，已启用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 40 步 → 平台原语：每一步落在哪一层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演示已跑通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贵司需求（节选）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平台原语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实现要点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 / 线索 / 商机立项 / 售前 / 交付 / 工时 / 预算 / 出差 / 请假 九类审批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 + 记录变更流程 + 审批节点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「发起审批」写 submitted；一个模板函数生成 9 条流程；审批人按岗位路由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招标代理类客户不可发起商机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 / 动作 visible 谓词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 读客户类型：按钮不显示，直接保存也被拒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铁三角、项目角色、成本中心与部门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lookup 字段 + 岗位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角色是对 sys_user 的 lookup；岗位承接共享与审批路由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成本计划行带出费率卡单价；工时成本自动计算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钩子 before*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跨对象读费率卡；cost = hours × rate 存储列，父级汇总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已审批请假同步工时；出差未审批不能报差旅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钩子 + 状态字段门禁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汇总子记录；按 approval_status 拦截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实际成本超预算禁填工时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跨对象门禁钩子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汇总子对象实际成本，refuse → 400 结构化错误（API 同样）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项目综合查询、项目成本 / 财务仪表板、预算消耗表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视图 + 数据集 + 仪表板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受行级权限约束；对账脚本核对数字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开工确认单等附件、审批通知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文件服务 + notify 节点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附件随记录权限；站内信 + 邮件，可加 http 节点通知 OA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多语言界面、中文演示数据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翻译包 + 种子组合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zh-demo 组合；i18n 零缺失门槛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接入建议：三个阶段，每一步都用现成能力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ObjectStack 平台技术说明 · 面向 IT 团队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2331720"/>
            <a:ext cx="2286000" cy="822960"/>
          </a:xfrm>
          <a:prstGeom prst="roundRect">
            <a:avLst>
              <a:gd name="adj" fmla="val 13333"/>
            </a:avLst>
          </a:prstGeom>
          <a:solidFill>
            <a:srgbClr val="2E4468"/>
          </a:solidFill>
          <a:ln w="9525">
            <a:solidFill>
              <a:srgbClr val="2E446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10912" y="233172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ObjectStack 运行时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" y="13716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IdP（AD / 钉钉 / 企业微信）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SAML · OIDC 单点登录 · SCIM 同步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1737360"/>
            <a:ext cx="1280160" cy="777240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503920" y="13716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C8842E"/>
          </a:solidFill>
          <a:ln w="9525">
            <a:solidFill>
              <a:srgbClr val="C884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77072" y="13716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 / 代理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端点 · OAuth 2.1 · SKILL.md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H="1">
            <a:off x="7223760" y="1737360"/>
            <a:ext cx="1280160" cy="777240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48640" y="237744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1792" y="237744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历史数据迁移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导入映射 + REST 批量写（自动过钩子）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743200"/>
            <a:ext cx="1280160" cy="9144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503920" y="237744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577072" y="237744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 / 数据仓库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查询 · 外部数据源 · 报表导出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7223760" y="2743200"/>
            <a:ext cx="1280160" cy="9144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48640" y="33832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1792" y="338328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 / ERP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赢单、合同生效 → 可靠出站 HTTP；开票 / 收款回写 REST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3657600" y="2971800"/>
            <a:ext cx="1280160" cy="777240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503920" y="33832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E8EEF6"/>
          </a:solidFill>
          <a:ln w="15875">
            <a:solidFill>
              <a:srgbClr val="D9DFE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577072" y="338328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 / 消息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审批通知 http 节点 → 企业微信 / 钉钉；邮件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H="1" flipV="1">
            <a:off x="7223760" y="2971800"/>
            <a:ext cx="1280160" cy="777240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48640" y="44348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48970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上线前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800600"/>
            <a:ext cx="33467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SSO 接贵司 IdP，开启密码策略 / 账号锁定 / 会话超时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PostgreSQL 与数据库级备份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导入主数据（费率卡、签约主体、产品）与历史客户 / 联系人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权限集与岗位按贵司组织落定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0" y="44348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07408" y="448970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上线后 1–2 个月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407408" y="4800600"/>
            <a:ext cx="33467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财务 / ERP：赢单与合同生效的可靠出站交接，开票收款回写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OA / 企业微信：审批与关键节点通知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BI 取数：REST 查询或外部数据源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审计日志接入 SIEM，月度复核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44348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E8EEF6"/>
          </a:solidFill>
          <a:ln w="9525">
            <a:solidFill>
              <a:srgbClr val="D9DF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56448" y="448970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AI 与深化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56448" y="4800600"/>
            <a:ext cx="33467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MCP 接入贵司 AI 助手或大模型网关，按岗位放开 ai.exposed 动作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按需启用企业版：AI 技能面板、沿汇报线权限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二次开发走同一条 CI 流水线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三句话总结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应用即元数据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对象、校验、钩子、流程、审批、动作、界面、权限、翻译全部是声明，进 git、走评审、过 CI，一份产物装到任何环境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三个入口一套规则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29260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控制台、REST / ObjectQL、MCP 共用同一套对象、校验、钩子与四层授权 —— AI 代理也绕不过去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23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能力完整，默认保守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40690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认证、审计、加密、脱敏都在；密码策略、锁定、多因素、会话超时默认关闭，上线前按检查表打开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材料：docs/demo/it-platform/（本 PPT · 讲稿 · 截图）· content/docs（集成、安全与合规、发布指南）· docs/demo/psa-presales/RUNBOOK.md（演示环境）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HotCRM · ObjectStack 平台技术说明（面向 IT 团队）</dc:title>
  <dc:subject>PptxGenJS Presentation</dc:subject>
  <dc:creator>PptxGenJS</dc:creator>
  <cp:lastModifiedBy>PptxGenJS</cp:lastModifiedBy>
  <cp:revision>1</cp:revision>
  <dcterms:created xsi:type="dcterms:W3CDTF">2026-09-15T10:08:27Z</dcterms:created>
  <dcterms:modified xsi:type="dcterms:W3CDTF">2026-09-15T10:08:27Z</dcterms:modified>
</cp:coreProperties>
</file>